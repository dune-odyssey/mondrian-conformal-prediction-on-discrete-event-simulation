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365760"/>
            <a:ext cx="8229600" cy="2377440"/>
          </a:xfrm>
        </p:spPr>
        <p:txBody>
          <a:bodyPr/>
          <a:lstStyle/>
          <a:p>
            <a:r>
              <a:rPr sz="2600" b="1">
                <a:solidFill>
                  <a:srgbClr val="FFFFFF"/>
                </a:solidFill>
              </a:rPr>
              <a:t>Mondrian Conformal Prediction for Uncertainty Quantification</a:t>
            </a:r>
          </a:p>
          <a:p>
            <a:r>
              <a:rPr sz="2600" b="1">
                <a:solidFill>
                  <a:srgbClr val="FFFFFF"/>
                </a:solidFill>
              </a:rPr>
              <a:t>in ER Discrete-Event Simulation Surrogates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2971800"/>
            <a:ext cx="8229600" cy="3474720"/>
          </a:xfrm>
        </p:spPr>
        <p:txBody>
          <a:bodyPr/>
          <a:lstStyle/>
          <a:p>
            <a:r>
              <a:rPr sz="1600">
                <a:solidFill>
                  <a:srgbClr val="93C5FD"/>
                </a:solidFill>
              </a:rPr>
              <a:t>Mid-Semester Review</a:t>
            </a:r>
          </a:p>
          <a:p/>
          <a:p>
            <a:r>
              <a:rPr sz="1600">
                <a:solidFill>
                  <a:srgbClr val="93C5FD"/>
                </a:solidFill>
              </a:rPr>
              <a:t>G Venugopalan (CB.AI.U4AID25115)</a:t>
            </a:r>
          </a:p>
          <a:p>
            <a:r>
              <a:rPr sz="1600">
                <a:solidFill>
                  <a:srgbClr val="93C5FD"/>
                </a:solidFill>
              </a:rPr>
              <a:t>Vipin Sudhakar (CB.AI.U4AID25166)</a:t>
            </a:r>
          </a:p>
          <a:p>
            <a:r>
              <a:rPr sz="1600">
                <a:solidFill>
                  <a:srgbClr val="93C5FD"/>
                </a:solidFill>
              </a:rPr>
              <a:t>Rithvik Arulprakash (CB.AI.U4AID25148)</a:t>
            </a:r>
          </a:p>
          <a:p>
            <a:r>
              <a:rPr sz="1600">
                <a:solidFill>
                  <a:srgbClr val="93C5FD"/>
                </a:solidFill>
              </a:rPr>
              <a:t>Harshith Kv (CB.AI.U4AID25119)</a:t>
            </a:r>
          </a:p>
          <a:p/>
          <a:p>
            <a:r>
              <a:rPr sz="1600">
                <a:solidFill>
                  <a:srgbClr val="93C5FD"/>
                </a:solidFill>
              </a:rPr>
              <a:t>Course: 23AID201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788920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40AF"/>
                </a:solidFill>
              </a:rPr>
              <a:t>Contents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1. Problem Statement</a:t>
            </a:r>
          </a:p>
          <a:p>
            <a:pPr/>
            <a:r>
              <a:rPr sz="1800"/>
              <a:t>2. Research Gap</a:t>
            </a:r>
          </a:p>
          <a:p>
            <a:pPr/>
            <a:r>
              <a:rPr sz="1800"/>
              <a:t>3. Why Marginal Coverage Isn't Enough (concept)</a:t>
            </a:r>
          </a:p>
          <a:p>
            <a:pPr/>
            <a:r>
              <a:rPr sz="1800"/>
              <a:t>4. Our Bridging Approach</a:t>
            </a:r>
          </a:p>
          <a:p>
            <a:pPr/>
            <a:r>
              <a:rPr sz="1800"/>
              <a:t>5. The Mondrian Partition (concept)</a:t>
            </a:r>
          </a:p>
          <a:p>
            <a:pPr/>
            <a:r>
              <a:rPr sz="1800"/>
              <a:t>6. Methodology Overview</a:t>
            </a:r>
          </a:p>
          <a:p>
            <a:pPr/>
            <a:r>
              <a:rPr sz="1800"/>
              <a:t>7. Real-World Data Used</a:t>
            </a:r>
          </a:p>
          <a:p>
            <a:pPr/>
            <a:r>
              <a:rPr sz="1800"/>
              <a:t>8. Work Completed So Far (~80%)</a:t>
            </a:r>
          </a:p>
          <a:p>
            <a:pPr/>
            <a:r>
              <a:rPr sz="1800"/>
              <a:t>9. Core Finding: Mondrian CP Closes the Coverage Gap</a:t>
            </a:r>
          </a:p>
          <a:p>
            <a:pPr/>
            <a:r>
              <a:rPr sz="1800"/>
              <a:t>10. The Discrete-Event Simulation</a:t>
            </a:r>
          </a:p>
          <a:p>
            <a:pPr/>
            <a:r>
              <a:rPr sz="1800"/>
              <a:t>11. Literature Review Snapshot</a:t>
            </a:r>
          </a:p>
          <a:p>
            <a:pPr/>
            <a:r>
              <a:rPr sz="1800"/>
              <a:t>12. Future Scope - End-Sem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70432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79" y="64465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</a:rPr>
              <a:t>23AID201  ·  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40AF"/>
                </a:solidFill>
              </a:rP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700"/>
              <a:t>Surrogate models are fast, learned approximations of expensive simulations. They're used more and more to guide decisions in stochastic service systems - ER staffing, queueing networks, etc.</a:t>
            </a:r>
          </a:p>
          <a:p>
            <a:pPr/>
            <a:r>
              <a:rPr sz="1700"/>
              <a:t>A point prediction from a surrogate isn't enough on its own for a decision like "will adding 2 more doctors actually bring the wait time down?" You need a calibrated interval, not just a number.</a:t>
            </a:r>
          </a:p>
          <a:p>
            <a:pPr/>
            <a:r>
              <a:rPr sz="1700"/>
              <a:t>Two common ways to get that interval, and where they fall short:</a:t>
            </a:r>
          </a:p>
          <a:p>
            <a:pPr lvl="1"/>
            <a:r>
              <a:rPr sz="1700"/>
              <a:t>Gaussian Processes - solid theoretically, but expensive to train (cubic cost) and the coverage guarantee depends on distributional assumptions, not a hard finite-sample bound.</a:t>
            </a:r>
          </a:p>
          <a:p>
            <a:pPr lvl="1"/>
            <a:r>
              <a:rPr sz="1700"/>
              <a:t>Conformal Prediction - distribution-free, comes with a finite-sample coverage guarantee, cheap to calibrate. But it's only been validated for surrogate models in a narrow set of domains so far.</a:t>
            </a:r>
          </a:p>
          <a:p>
            <a:pPr/>
            <a:r>
              <a:rPr sz="1700"/>
              <a:t>That's the question this project is built around: does CP still hold up when the surrogate is trained on a discrete-event / queueing simulation instead of the domains it's been tested on?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70432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79" y="64465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</a:rPr>
              <a:t>23AID201  ·  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40AF"/>
                </a:solidFill>
              </a:rPr>
              <a:t>Research Gap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900"/>
              <a:t>Gopakumar et al. (2026) validate conformal prediction for surrogate-model UQ, but only in physics domains - PDEs, magnetohydrodynamics, weather, fusion.</a:t>
            </a:r>
          </a:p>
          <a:p>
            <a:pPr/>
            <a:r>
              <a:rPr sz="1900"/>
              <a:t>They call out two limitations explicitly:</a:t>
            </a:r>
          </a:p>
          <a:p>
            <a:pPr lvl="1"/>
            <a:r>
              <a:rPr sz="1900"/>
              <a:t>Marginal coverage only - no guarantee that coverage holds within a specific subgroup or condition, only on average across everything.</a:t>
            </a:r>
          </a:p>
          <a:p>
            <a:pPr lvl="1"/>
            <a:r>
              <a:rPr sz="1900"/>
              <a:t>An exchangeability assumption between calibration and test data, which they don't test under distribution shift.</a:t>
            </a:r>
          </a:p>
          <a:p>
            <a:pPr/>
            <a:r>
              <a:rPr sz="1900"/>
              <a:t>Neither of those has been checked outside physics simulation. Discrete-event / queueing systems are a genuinely different kind of domain - discrete stochastic arrivals and departures, resource contention, priority queues - not a continuous PDE field. That's the gap this project sits 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70432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79" y="64465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</a:rPr>
              <a:t>23AID201  ·  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000">
                <a:solidFill>
                  <a:srgbClr val="1E40AF"/>
                </a:solidFill>
              </a:rPr>
              <a:t>Why Marginal Coverage Isn't Enough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70432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64465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</a:rPr>
              <a:t>23AID201  ·  5/14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2377440"/>
            <a:ext cx="7132320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635240" y="224028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392B"/>
                </a:solidFill>
              </a:rPr>
              <a:t>90% target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22576"/>
            <a:ext cx="1371600" cy="1700784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06908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/>
              <a:t>Category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/>
              <a:t>93%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31720" y="2359152"/>
            <a:ext cx="1371600" cy="1664208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1720" y="406908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/>
              <a:t>Category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2048256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/>
              <a:t>91%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2377440"/>
            <a:ext cx="1371600" cy="164592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0" y="406908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/>
              <a:t>Category 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2066544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/>
              <a:t>90%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80760" y="2779776"/>
            <a:ext cx="1371600" cy="124358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0760" y="406908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/>
              <a:t>Category 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4688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/>
              <a:t>68%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343400"/>
            <a:ext cx="82296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i="1">
                <a:solidFill>
                  <a:srgbClr val="6B7280"/>
                </a:solidFill>
              </a:rPr>
              <a:t>Illustrative concept, not this project's own results (those come in Phase 2) - a generic 4-category example of why a single marginal (pooled) coverage number can mislead.</a:t>
            </a:r>
          </a:p>
          <a:p>
            <a:r>
              <a:rPr sz="1500"/>
              <a:t>Marginal average across all 4 categories here = 90.5% - looks like the target is comfortably met.</a:t>
            </a:r>
          </a:p>
          <a:p>
            <a:r>
              <a:rPr sz="1500"/>
              <a:t>But Category D alone sits at 68%, well under target - a decision-maker relying only on the marginal number would never see this specific failure.</a:t>
            </a:r>
          </a:p>
          <a:p>
            <a:r>
              <a:rPr sz="1500"/>
              <a:t>This is exactly the gap Mondrian CP (per-category calibration) is designed to close - see the next two slides for how, and Slide 11 for our own project's real version of this result.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40AF"/>
                </a:solidFill>
              </a:rPr>
              <a:t>Our Bridging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457200" y="2240280"/>
            <a:ext cx="4037716" cy="4206240"/>
          </a:xfrm>
        </p:spPr>
        <p:txBody>
          <a:bodyPr wrap="square"/>
          <a:lstStyle/>
          <a:p>
            <a:pPr/>
            <a:r>
              <a:rPr sz="1900"/>
              <a:t>Addresses marginal coverage</a:t>
            </a:r>
          </a:p>
          <a:p>
            <a:pPr lvl="1"/>
            <a:r>
              <a:rPr sz="1700"/>
              <a:t>Mondrian CP partitions calibration by category - staffing tercile x arrival-rate tercile - instead of lumping everything into one marginal guarantee.</a:t>
            </a:r>
          </a:p>
          <a:p>
            <a:pPr lvl="1"/>
            <a:r>
              <a:rPr sz="1700"/>
              <a:t>Goal: coverage that holds up close to nominal within each category, not just on average.</a:t>
            </a:r>
          </a:p>
          <a:p>
            <a:pPr lvl="1"/>
            <a:r>
              <a:rPr sz="1700"/>
              <a:t>Result (Slide 11, done): confirmed - the worst category's coverage recovers from 68.2% to 90.9%, statistically significant across 30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4647895" y="2240280"/>
            <a:ext cx="4037716" cy="4206240"/>
          </a:xfrm>
        </p:spPr>
        <p:txBody>
          <a:bodyPr wrap="square"/>
          <a:lstStyle/>
          <a:p>
            <a:pPr/>
            <a:r>
              <a:rPr sz="1900"/>
              <a:t>Addresses exchangeability</a:t>
            </a:r>
          </a:p>
          <a:p>
            <a:pPr lvl="1"/>
            <a:r>
              <a:rPr sz="1700"/>
              <a:t>A stress test: an out-of-distribution "surge day" scenario outside the normal training range.</a:t>
            </a:r>
          </a:p>
          <a:p>
            <a:pPr lvl="1"/>
            <a:r>
              <a:rPr sz="1700"/>
              <a:t>That's where we actually get to see whether standard CP and Mondrian CP hold up or break when exchangeability is violated.</a:t>
            </a:r>
          </a:p>
          <a:p>
            <a:pPr lvl="1"/>
            <a:r>
              <a:rPr sz="1700"/>
              <a:t>Status: this is the main piece of the remaining ~20% of the project (Slide 14).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70432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64465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</a:rPr>
              <a:t>23AID201  ·  6/14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i="1">
                <a:solidFill>
                  <a:srgbClr val="404040"/>
                </a:solidFill>
              </a:rPr>
              <a:t>Core idea: apply CP, specifically Mondrian CP, to an ER queueing surrogate, and test directly whether Gopakumar et al.'s two limitations hold here.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40AF"/>
                </a:solidFill>
              </a:rPr>
              <a:t>The Mondrian Partition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70432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64465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</a:rPr>
              <a:t>23AID201  ·  7/14</a:t>
            </a:r>
          </a:p>
        </p:txBody>
      </p:sp>
      <p:sp>
        <p:nvSpPr>
          <p:cNvPr id="5" name="Rectangle 4"/>
          <p:cNvSpPr/>
          <p:nvPr/>
        </p:nvSpPr>
        <p:spPr>
          <a:xfrm>
            <a:off x="3063240" y="1691640"/>
            <a:ext cx="1005840" cy="1005840"/>
          </a:xfrm>
          <a:prstGeom prst="rect">
            <a:avLst/>
          </a:prstGeom>
          <a:solidFill>
            <a:srgbClr val="DBEAFE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40AF"/>
                </a:solidFill>
              </a:rPr>
              <a:t>Category 1</a:t>
            </a:r>
          </a:p>
          <a:p>
            <a:pPr algn="ctr"/>
            <a:r>
              <a:rPr sz="1000">
                <a:solidFill>
                  <a:srgbClr val="404040"/>
                </a:solidFill>
              </a:rPr>
              <a:t>staff=High
arrival=Low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9080" y="1691640"/>
            <a:ext cx="1005840" cy="1005840"/>
          </a:xfrm>
          <a:prstGeom prst="rect">
            <a:avLst/>
          </a:prstGeom>
          <a:solidFill>
            <a:srgbClr val="DBEAFE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40AF"/>
                </a:solidFill>
              </a:rPr>
              <a:t>Category 2</a:t>
            </a:r>
          </a:p>
          <a:p>
            <a:pPr algn="ctr"/>
            <a:r>
              <a:rPr sz="1000">
                <a:solidFill>
                  <a:srgbClr val="404040"/>
                </a:solidFill>
              </a:rPr>
              <a:t>staff=High
arrival=Med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4920" y="1691640"/>
            <a:ext cx="1005840" cy="1005840"/>
          </a:xfrm>
          <a:prstGeom prst="rect">
            <a:avLst/>
          </a:prstGeom>
          <a:solidFill>
            <a:srgbClr val="DBEAFE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40AF"/>
                </a:solidFill>
              </a:rPr>
              <a:t>Category 3</a:t>
            </a:r>
          </a:p>
          <a:p>
            <a:pPr algn="ctr"/>
            <a:r>
              <a:rPr sz="1000">
                <a:solidFill>
                  <a:srgbClr val="404040"/>
                </a:solidFill>
              </a:rPr>
              <a:t>staff=High
arrival=High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2697480"/>
            <a:ext cx="1005840" cy="1005840"/>
          </a:xfrm>
          <a:prstGeom prst="rect">
            <a:avLst/>
          </a:prstGeom>
          <a:solidFill>
            <a:srgbClr val="FDEEE6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40AF"/>
                </a:solidFill>
              </a:rPr>
              <a:t>Category 4</a:t>
            </a:r>
          </a:p>
          <a:p>
            <a:pPr algn="ctr"/>
            <a:r>
              <a:rPr sz="1000">
                <a:solidFill>
                  <a:srgbClr val="404040"/>
                </a:solidFill>
              </a:rPr>
              <a:t>staff=Med
arrival=Low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9080" y="2697480"/>
            <a:ext cx="1005840" cy="1005840"/>
          </a:xfrm>
          <a:prstGeom prst="rect">
            <a:avLst/>
          </a:prstGeom>
          <a:solidFill>
            <a:srgbClr val="DBEAFE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40AF"/>
                </a:solidFill>
              </a:rPr>
              <a:t>Category 5</a:t>
            </a:r>
          </a:p>
          <a:p>
            <a:pPr algn="ctr"/>
            <a:r>
              <a:rPr sz="1000">
                <a:solidFill>
                  <a:srgbClr val="404040"/>
                </a:solidFill>
              </a:rPr>
              <a:t>staff=Med
arrival=Med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74920" y="2697480"/>
            <a:ext cx="1005840" cy="1005840"/>
          </a:xfrm>
          <a:prstGeom prst="rect">
            <a:avLst/>
          </a:prstGeom>
          <a:solidFill>
            <a:srgbClr val="DBEAFE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40AF"/>
                </a:solidFill>
              </a:rPr>
              <a:t>Category 6</a:t>
            </a:r>
          </a:p>
          <a:p>
            <a:pPr algn="ctr"/>
            <a:r>
              <a:rPr sz="1000">
                <a:solidFill>
                  <a:srgbClr val="404040"/>
                </a:solidFill>
              </a:rPr>
              <a:t>staff=Med
arrival=High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63240" y="3703320"/>
            <a:ext cx="1005840" cy="1005840"/>
          </a:xfrm>
          <a:prstGeom prst="rect">
            <a:avLst/>
          </a:prstGeom>
          <a:solidFill>
            <a:srgbClr val="DBEAFE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40AF"/>
                </a:solidFill>
              </a:rPr>
              <a:t>Category 7</a:t>
            </a:r>
          </a:p>
          <a:p>
            <a:pPr algn="ctr"/>
            <a:r>
              <a:rPr sz="1000">
                <a:solidFill>
                  <a:srgbClr val="404040"/>
                </a:solidFill>
              </a:rPr>
              <a:t>staff=Low
arrival=Low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9080" y="3703320"/>
            <a:ext cx="1005840" cy="1005840"/>
          </a:xfrm>
          <a:prstGeom prst="rect">
            <a:avLst/>
          </a:prstGeom>
          <a:solidFill>
            <a:srgbClr val="DBEAFE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40AF"/>
                </a:solidFill>
              </a:rPr>
              <a:t>Category 8</a:t>
            </a:r>
          </a:p>
          <a:p>
            <a:pPr algn="ctr"/>
            <a:r>
              <a:rPr sz="1000">
                <a:solidFill>
                  <a:srgbClr val="404040"/>
                </a:solidFill>
              </a:rPr>
              <a:t>staff=Low
arrival=Med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74920" y="3703320"/>
            <a:ext cx="1005840" cy="1005840"/>
          </a:xfrm>
          <a:prstGeom prst="rect">
            <a:avLst/>
          </a:prstGeom>
          <a:solidFill>
            <a:srgbClr val="DBEAFE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40AF"/>
                </a:solidFill>
              </a:rPr>
              <a:t>Category 9</a:t>
            </a:r>
          </a:p>
          <a:p>
            <a:pPr algn="ctr"/>
            <a:r>
              <a:rPr sz="1000">
                <a:solidFill>
                  <a:srgbClr val="404040"/>
                </a:solidFill>
              </a:rPr>
              <a:t>staff=Low
arrival=High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74320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/>
              <a:t>Staffing</a:t>
            </a:r>
          </a:p>
          <a:p>
            <a:pPr algn="ctr"/>
            <a:r>
              <a:rPr sz="1300" b="1"/>
              <a:t>tercile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118872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/>
              <a:t>Arrival-rate tercile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983480"/>
            <a:ext cx="8229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/>
              <a:t>9 categories total - every scenario falls into exactly one, based on its own staffing level and arrival-rate multiplier. Mondrian CP calibrates a separate quantile within each one, instead of one pooled quantile across all 9.</a:t>
            </a:r>
          </a:p>
          <a:p>
            <a:r>
              <a:rPr sz="1500"/>
              <a:t>Category 4 (staff=Med, arrival=Low - highlighted) is comparatively low-stress; the opposite corner (staff=Low, arrival=High) is the one Slide 5's concept diagram flags as highest-risk - and the real category, in our own data, where Slide 11's 68.2% -&gt; 90.9% recovery actually happens.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40AF"/>
                </a:solidFill>
              </a:rPr>
              <a:t>Methodology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70432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64465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</a:rPr>
              <a:t>23AID201  ·  8/14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03120"/>
            <a:ext cx="2377440" cy="1188720"/>
          </a:xfrm>
          <a:prstGeom prst="rect">
            <a:avLst/>
          </a:prstGeom>
          <a:noFill/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Discrete-Event
Simulation</a:t>
            </a:r>
          </a:p>
          <a:p>
            <a:pPr algn="ctr"/>
            <a:r>
              <a:rPr sz="1050">
                <a:solidFill>
                  <a:srgbClr val="404040"/>
                </a:solidFill>
              </a:rPr>
              <a:t>SimPy, calibrated on
real ED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0" y="2103120"/>
            <a:ext cx="2377440" cy="1188720"/>
          </a:xfrm>
          <a:prstGeom prst="rect">
            <a:avLst/>
          </a:prstGeom>
          <a:noFill/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Surrogate Model</a:t>
            </a:r>
          </a:p>
          <a:p>
            <a:pPr algn="ctr"/>
            <a:r>
              <a:rPr sz="1050">
                <a:solidFill>
                  <a:srgbClr val="404040"/>
                </a:solidFill>
              </a:rPr>
              <a:t>Gradient boosting on the
DES scenario sweep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2103120"/>
            <a:ext cx="2377440" cy="1188720"/>
          </a:xfrm>
          <a:prstGeom prst="rect">
            <a:avLst/>
          </a:prstGeom>
          <a:noFill/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Uncertainty
Quantification</a:t>
            </a:r>
          </a:p>
          <a:p>
            <a:pPr algn="ctr"/>
            <a:r>
              <a:rPr sz="1050">
                <a:solidFill>
                  <a:srgbClr val="404040"/>
                </a:solidFill>
              </a:rPr>
              <a:t>GP baseline vs.
standard CP vs. Mondrian CP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34640" y="2697480"/>
            <a:ext cx="548640" cy="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697480"/>
            <a:ext cx="548640" cy="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36576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i="1" sz="1700"/>
              <a:t>Each stage is checked against the previous one before moving on:</a:t>
            </a:r>
          </a:p>
          <a:p>
            <a:pPr/>
            <a:r>
              <a:rPr sz="1800"/>
              <a:t>- DES output checked against real aggregated ED stats (91.0% match on daily volume)</a:t>
            </a:r>
          </a:p>
          <a:p>
            <a:pPr/>
            <a:r>
              <a:rPr sz="1800"/>
              <a:t>- Surrogate accuracy checked against DES outputs held out from training (MAE / RMSE / R²)</a:t>
            </a:r>
          </a:p>
          <a:p>
            <a:pPr/>
            <a:r>
              <a:rPr sz="1800"/>
              <a:t>- All UQ methods use the same fixed test split and the same target coverage (alpha = 0.1), so GP, standard CP and Mondrian CP end up directly comparable</a:t>
            </a:r>
          </a:p>
          <a:p>
            <a:pPr/>
            <a:r>
              <a:rPr sz="1800"/>
              <a:t>- All three stages are complete and cross-checked - the Uncertainty Quantification stage's headline result is on Slide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40AF"/>
                </a:solidFill>
              </a:rPr>
              <a:t>Real-World Data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900"/>
              <a:t>Hospital Triage and Patient History Data, Kaggle (maalona) - Yale New Haven Health System, retrospective, March 2014 to July 2017.</a:t>
            </a:r>
          </a:p>
          <a:p>
            <a:pPr/>
            <a:r>
              <a:rPr sz="1900"/>
              <a:t>560,486 ED visits total, 972 variables per visit, across 3 EDs (1 academic + 2 community). We calibrate on Department A only, the largest / academic site: 322,283 visits, ~258.2/day.</a:t>
            </a:r>
          </a:p>
          <a:p>
            <a:pPr/>
            <a:r>
              <a:rPr sz="1900"/>
              <a:t>Real vs. literature - kept separate on purpose, not blended silently:</a:t>
            </a:r>
          </a:p>
          <a:p>
            <a:pPr lvl="1"/>
            <a:r>
              <a:rPr sz="1900"/>
              <a:t>From the real data: arrival pattern by 4-hour bin, day of week, and month; ESI acuity mix; department-level daily visit rate.</a:t>
            </a:r>
          </a:p>
          <a:p>
            <a:pPr lvl="1"/>
            <a:r>
              <a:rPr sz="1900"/>
              <a:t>From literature: service/treatment time per ESI level (log-normal). The dataset has no discharge timestamp - checked across all 972 columns to be sure before falling back to literature values.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70432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79" y="64465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</a:rPr>
              <a:t>23AID201  ·  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E40AF"/>
                </a:solidFill>
              </a:rPr>
              <a:t>Work Completed So Far (~80%)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70432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64465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</a:rPr>
              <a:t>23AID201  ·  10/14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39319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371600"/>
              </a:tblGrid>
              <a:tr h="25146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DES validation (200 sim. days)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1E40A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Real visits/day (Dept. 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258.2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Simulated mean visits/day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235.1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Match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91.0%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280160"/>
          <a:ext cx="393192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822960"/>
                <a:gridCol w="822960"/>
                <a:gridCol w="822960"/>
              </a:tblGrid>
              <a:tr h="283464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Surrogate target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MAE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RMSE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/>
                        <a:t>n_patients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9.90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12.59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0.929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/>
                        <a:t>mean_wait_min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8.86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13.23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0.787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/>
                        <a:t>mean_total_min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9.88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13.61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0.762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/>
                        <a:t>p95_wait_min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66.94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102.47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0.647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017520"/>
          <a:ext cx="82296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920240"/>
                <a:gridCol w="1920240"/>
                <a:gridCol w="2011680"/>
              </a:tblGrid>
              <a:tr h="310896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GP baseline (alpha = 0.1)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Target coverage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Empirical coverage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Mean interval width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n_patients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88.5%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39.3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mean_wait_minutes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87.7%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43.6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mean_total_minutes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88.8%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43.4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p95_wait_minutes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350.3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84632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/>
              <a:t>GP undercovers on 3 of 4 targets (87.7-88.8% vs. a 90% target) - not surprising, since it relies on distributional assumptions rather than a finite-sample guarantee. Standard CP and Mondrian CP both close most of that gap on average - next slide shows the real, more important result underneath the average.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600">
                <a:solidFill>
                  <a:srgbClr val="1E40AF"/>
                </a:solidFill>
              </a:rPr>
              <a:t>Core Finding: Mondrian CP Closes the Coverage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70432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64465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</a:rPr>
              <a:t>23AID201  ·  11/14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34440"/>
          <a:ext cx="82296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463040"/>
                <a:gridCol w="1554480"/>
                <a:gridCol w="1554480"/>
                <a:gridCol w="1280160"/>
              </a:tblGrid>
              <a:tr h="38862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Method (30-repeat mean)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n_patients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mean_wait_min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mean_total_min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p95_wait_min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GP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89.6%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88.3%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89.1%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89.0%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Standard CP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89.8%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90.1%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Mondrian CP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91.4%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8803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/>
              <a:t>On average (marginal coverage), all three methods land close to the 90% target - this alone would look like a minor, unremarkable improvement.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520440"/>
          <a:ext cx="8229600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286000"/>
                <a:gridCol w="1828800"/>
              </a:tblGrid>
              <a:tr h="52578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Worst operating category (mean_wait_minutes)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Pooled (standard) CP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Mondrian CP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400"/>
                        <a:t>Understaffed + high arrival-rate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90.9%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09160"/>
            <a:ext cx="8229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This is our actual central finding, the real version of Slide 5's illustrative concept: standard CP's marginal guarantee hides a severe undercoverage failure in exactly the highest-stakes operating regime - understaffed with high arrival rate.</a:t>
            </a:r>
          </a:p>
          <a:p>
            <a:r>
              <a:rPr sz="1400"/>
              <a:t>Mondrian CP - calibrating separately per staffing x arrival-rate category - closes that gap without sacrificing the marginal guarantee above.</a:t>
            </a:r>
          </a:p>
          <a:p>
            <a:r>
              <a:rPr sz="1400"/>
              <a:t>Confirmed statistically significant across 30 independent repeats (paired t-test, p &lt; 0.001) - not a one-off lucky split.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E40AF"/>
                </a:solidFill>
              </a:rPr>
              <a:t>The Discrete-Event Simulation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70432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64465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</a:rPr>
              <a:t>23AID201  ·  12/14</a:t>
            </a:r>
          </a:p>
        </p:txBody>
      </p:sp>
      <p:pic>
        <p:nvPicPr>
          <p:cNvPr id="5" name="Picture 4" descr="real_arrivals_by_h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687335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617720"/>
            <a:ext cx="8229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SimPy discrete-event simulation of a single ED, calibrated directly on this real arrival pattern plus the real ESI acuity mix - not a generic queueing textbook example.</a:t>
            </a:r>
          </a:p>
          <a:p>
            <a:r>
              <a:rPr sz="1400"/>
              <a:t>Priority-resource pool: higher-acuity (lower ESI) patients get priority, matching real triage behavior.</a:t>
            </a:r>
          </a:p>
          <a:p>
            <a:r>
              <a:rPr sz="1400"/>
              <a:t>Validated against real aggregated daily volume: 91.0% match across 200 simulated days (Slide 10) - the DES is the foundation everything downstream (surrogate, UQ) builds 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40AF"/>
                </a:solidFill>
              </a:rPr>
              <a:t>Literature Review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Focused core review: 20 papers across 5 categories, 3 reviewed in depth (including Gopakumar et al. 2026), plus 10 real-dataset papers below.</a:t>
            </a:r>
          </a:p>
          <a:p>
            <a:pPr lvl="1"/>
            <a:r>
              <a:rPr sz="1800"/>
              <a:t>Conformal prediction foundations: 5 papers</a:t>
            </a:r>
          </a:p>
          <a:p>
            <a:pPr lvl="1"/>
            <a:r>
              <a:rPr sz="1800"/>
              <a:t>Mondrian / conditional-coverage CP: 4 papers</a:t>
            </a:r>
          </a:p>
          <a:p>
            <a:pPr lvl="1"/>
            <a:r>
              <a:rPr sz="1800"/>
              <a:t>Surrogate modeling &amp; uncertainty quantification: 4 papers</a:t>
            </a:r>
          </a:p>
          <a:p>
            <a:pPr lvl="1"/>
            <a:r>
              <a:rPr sz="1800"/>
              <a:t>Queueing theory &amp; ED operations research: 3 papers</a:t>
            </a:r>
          </a:p>
          <a:p>
            <a:pPr lvl="1"/>
            <a:r>
              <a:rPr sz="1800"/>
              <a:t>Discrete-event simulation &amp; ED-specific ML: 4 papers</a:t>
            </a:r>
          </a:p>
          <a:p>
            <a:pPr/>
            <a:r>
              <a:rPr sz="1800"/>
              <a:t>Plus 10 papers each reporting real ED service-time / length-of-stay data from their own hospital datasets, used to cross-check this project's own DES calibration numerically, not just cite them.</a:t>
            </a:r>
          </a:p>
          <a:p>
            <a:pPr/>
            <a:r>
              <a:rPr sz="1800"/>
              <a:t>Includes a critical assessment: where the reviewed literature's own assumptions do or don't transfer to a discrete-event queueing domain.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70432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79" y="64465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</a:rPr>
              <a:t>23AID201  ·  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40AF"/>
                </a:solidFill>
              </a:rPr>
              <a:t>Future Scope - End-Sem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400"/>
              <a:t>Standard CP, Mondrian CP, and the core coverage-gap finding (Slide 11) are done - what's left is the remaining ~20%:</a:t>
            </a:r>
          </a:p>
          <a:p>
            <a:pPr lvl="1"/>
            <a:r>
              <a:rPr sz="2400"/>
              <a:t>Stress-test exchangeability with an out-of-distribution demand-surge scenario; see where standard CP and Mondrian CP hold up or break down.</a:t>
            </a:r>
          </a:p>
          <a:p>
            <a:pPr lvl="1"/>
            <a:r>
              <a:rPr sz="2400"/>
              <a:t>Finalize the full comparison - GP baseline vs. standard CP vs. Mondrian CP - on both coverage and interval width, across every target.</a:t>
            </a:r>
          </a:p>
          <a:p>
            <a:pPr lvl="1"/>
            <a:r>
              <a:rPr sz="2400"/>
              <a:t>Write up the end-sem report and presentation: a fully quantified, written-up answer on whether Mondrian CP closes the marginal-vs-conditional coverage gap in this domain.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70432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79" y="64465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</a:rPr>
              <a:t>23AID201  ·  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