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/>
              <a:t>Mondrian Conformal Prediction for Uncertainty Quantification</a:t>
            </a:r>
          </a:p>
          <a:p>
            <a:r>
              <a:rPr sz="2600"/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/>
              <a:t>Mid-Semester Review</a:t>
            </a:r>
          </a:p>
          <a:p/>
          <a:p>
            <a:r>
              <a:rPr sz="1600"/>
              <a:t>G Venugopalan (CB.AI.U4AID25115)</a:t>
            </a:r>
          </a:p>
          <a:p>
            <a:r>
              <a:rPr sz="1600"/>
              <a:t>Vipin Sudhakar (CB.AI.U4AID25166)</a:t>
            </a:r>
          </a:p>
          <a:p>
            <a:r>
              <a:rPr sz="1600"/>
              <a:t>Rithvik Arulprakash (CB.AI.U4AID25148)</a:t>
            </a:r>
          </a:p>
          <a:p>
            <a:r>
              <a:rPr sz="1600"/>
              <a:t>Harshith Kv (CB.AI.U4AID25119)</a:t>
            </a:r>
          </a:p>
          <a:p/>
          <a:p>
            <a:r>
              <a:rPr sz="1600"/>
              <a:t>Course: 23AID201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700"/>
              <a:t>They call out two limitations explicitly:</a:t>
            </a:r>
          </a:p>
          <a:p>
            <a:pPr lvl="1"/>
            <a:r>
              <a:rPr sz="17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700"/>
              <a:t>An exchangeability assumption between calibration and test data, which they don't test under distribution shift.</a:t>
            </a:r>
          </a:p>
          <a:p>
            <a:pPr/>
            <a:r>
              <a:rPr sz="17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marginal coverage</a:t>
            </a:r>
          </a:p>
          <a:p>
            <a:pPr lvl="1"/>
            <a:r>
              <a:rPr sz="1300"/>
              <a:t>Mondrian CP partitions calibration by category - staffing level, shift, arrival-rate regime - instead of lumping everything into one marginal guarantee.</a:t>
            </a:r>
          </a:p>
          <a:p>
            <a:pPr lvl="1"/>
            <a:r>
              <a:rPr sz="1300"/>
              <a:t>Goal: coverage that holds up close to nominal within each category, not just on average.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exchangeability</a:t>
            </a:r>
          </a:p>
          <a:p>
            <a:pPr lvl="1"/>
            <a:r>
              <a:rPr sz="1300"/>
              <a:t>Phase 2 includes a stress test: an out-of-distribution "surge day" scenario outside the normal training range.</a:t>
            </a:r>
          </a:p>
          <a:p>
            <a:pPr lvl="1"/>
            <a:r>
              <a:rPr sz="1300"/>
              <a:t>That's where we actually get to see whether standard CP and Mondrian CP hold up or break when exchangeability is violated.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3657600"/>
            <a:ext cx="8229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400"/>
              <a:t>Each stage is checked against the previous one before moving on:</a:t>
            </a:r>
          </a:p>
          <a:p>
            <a:pPr/>
            <a:r>
              <a:rPr sz="1500"/>
              <a:t>- DES output checked against real aggregated ED stats (91.0% match on daily volume)</a:t>
            </a:r>
          </a:p>
          <a:p>
            <a:pPr/>
            <a:r>
              <a:rPr sz="1500"/>
              <a:t>- Surrogate accuracy checked against DES outputs held out from training (MAE / RMSE / R²)</a:t>
            </a:r>
          </a:p>
          <a:p>
            <a:pPr/>
            <a:r>
              <a:rPr sz="1500"/>
              <a:t>- All UQ methods use the same fixed test split and the same target coverage (alpha = 0.1), so GP, standard CP and Mondrian CP end up directly comparable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Hospital Triage and Patient History Data, Kaggle (maalona) - Yale New Haven Health System, retrospective, March 2014 to July 2017.</a:t>
            </a:r>
          </a:p>
          <a:p>
            <a:pPr/>
            <a:r>
              <a:rPr sz="16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600"/>
              <a:t>Real vs. literature - kept separate on purpose, not blended silently:</a:t>
            </a:r>
          </a:p>
          <a:p>
            <a:pPr lvl="1"/>
            <a:r>
              <a:rPr sz="16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6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Phase 1 Results: DES, Surrogate, GP Baseline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/>
                        <a:t>DES validation (200 sim.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/>
                        <a:t>Surrogate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R²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/>
                        <a:t>GP baseline (alpha = 0.1)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Target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Empirical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Mean interval width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Whether CP / Mondrian CP close that gap is what Phase 2 is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500"/>
              <a:t>Completed: 30 papers across 5 categories, 3 reviewed in depth (including Gopakumar et al. 2026).</a:t>
            </a:r>
          </a:p>
          <a:p>
            <a:pPr lvl="1"/>
            <a:r>
              <a:rPr sz="1500"/>
              <a:t>Conformal prediction foundations: 8 papers</a:t>
            </a:r>
          </a:p>
          <a:p>
            <a:pPr lvl="1"/>
            <a:r>
              <a:rPr sz="1500"/>
              <a:t>Mondrian / conditional-coverage CP: 4 papers</a:t>
            </a:r>
          </a:p>
          <a:p>
            <a:pPr lvl="1"/>
            <a:r>
              <a:rPr sz="1500"/>
              <a:t>Surrogate modeling &amp; uncertainty quantification: 6 papers</a:t>
            </a:r>
          </a:p>
          <a:p>
            <a:pPr lvl="1"/>
            <a:r>
              <a:rPr sz="1500"/>
              <a:t>Queueing theory &amp; ED operations research: 5 papers</a:t>
            </a:r>
          </a:p>
          <a:p>
            <a:pPr lvl="1"/>
            <a:r>
              <a:rPr sz="1500"/>
              <a:t>Discrete-event simulation &amp; ED-specific ML: 7 papers</a:t>
            </a:r>
          </a:p>
          <a:p>
            <a:pPr/>
            <a:r>
              <a:rPr sz="1500"/>
              <a:t>Plus 10 additional papers cross-checking the DES's real vs. literature-calibrated service-time parameters against published ED length-of-stay datasets, added after the initial 30-paper review.</a:t>
            </a:r>
          </a:p>
          <a:p>
            <a:pPr/>
            <a:r>
              <a:rPr sz="1500"/>
              <a:t>Includes a critical assessment section (not just a summary): where the reviewed literature's own assumptions do or don't transfer to a discrete-event queueing domain.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Final Results: Closing the Coverage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554480"/>
                <a:gridCol w="1554480"/>
                <a:gridCol w="1280160"/>
              </a:tblGrid>
              <a:tr h="457200">
                <a:tc>
                  <a:txBody>
                    <a:bodyPr/>
                    <a:lstStyle/>
                    <a:p>
                      <a:r>
                        <a:rPr b="1" sz="1200"/>
                        <a:t>Method (30-repeat mean)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p95_wait_min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GP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89.0%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Standard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Mondrian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Marginal coverage: all three methods land close to the 90% target on average - the real gap only shows up when coverage is checked within each operating category.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886200"/>
          <a:ext cx="822960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1828800"/>
              </a:tblGrid>
              <a:tr h="525780">
                <a:tc>
                  <a:txBody>
                    <a:bodyPr/>
                    <a:lstStyle/>
                    <a:p>
                      <a:r>
                        <a:rPr b="1" sz="1300"/>
                        <a:t>Worst operating category (mean_wait_minutes)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Pooled (standard) CP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Mondrian CP coverage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Understaffed + high arrival-rate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90.9%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749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This is the project's central finding: standard CP's marginal guarantee hides a severe undercoverage failure in exactly the highest-stakes operating regime. Mondrian CP - calibrating separately per staffing x arrival-rate category - closes that gap without sacrificing the marginal guarantee. Confirmed significant (30 repeats, paired t-test, p &lt; 0.001) and replicated at an independent second hospital department (Dept. B).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Beyond the Original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/>
              <a:t>The end-sem plan (standard CP, Mondrian CP, exchangeability stress test, full comparison) is done - the project then went substantially further:</a:t>
            </a:r>
          </a:p>
          <a:p>
            <a:pPr lvl="1"/>
            <a:r>
              <a:rPr sz="1400"/>
              <a:t>Conformalized Quantile Regression (CQR) and Mondrian-CQR, a stronger width-adaptive baseline</a:t>
            </a:r>
          </a:p>
          <a:p>
            <a:pPr lvl="1"/>
            <a:r>
              <a:rPr sz="1400"/>
              <a:t>Conformal Risk Control (CRC) and Adaptive Conformal Inference (ACI) - ACI recovers out-of-range coverage from ~58% (static CP) to 84-89% under a real, time-ordered demand-surge stream</a:t>
            </a:r>
          </a:p>
          <a:p>
            <a:pPr lvl="1"/>
            <a:r>
              <a:rPr sz="1400"/>
              <a:t>Likelihood-ratio weighted CP under covariate shift, with an honest infinite-width caveat outside calibration support</a:t>
            </a:r>
          </a:p>
          <a:p>
            <a:pPr lvl="1"/>
            <a:r>
              <a:rPr sz="1400"/>
              <a:t>5-architecture surrogate benchmark: gradient boosting, MLP, Random Forest, XGBoost, LightGBM</a:t>
            </a:r>
          </a:p>
          <a:p>
            <a:pPr lvl="1"/>
            <a:r>
              <a:rPr sz="1400"/>
              <a:t>Independent replication at a second real hospital department (Dept. B) - same coverage-gap finding, different volume and acuity mix</a:t>
            </a:r>
          </a:p>
          <a:p>
            <a:pPr lvl="1"/>
            <a:r>
              <a:rPr sz="1400"/>
              <a:t>An interactive ops dashboard and a CP-constrained capacity-planning optimization, plus an FDA AI/ML SaMD regulatory framing</a:t>
            </a:r>
          </a:p>
          <a:p>
            <a:pPr/>
            <a:r>
              <a:rPr sz="1400"/>
              <a:t>All of it written up in a single 200+ page book-format report, not just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