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89320"/>
            <a:ext cx="12191695" cy="109728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327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Mondrian Conformal Prediction for Uncertainty</a:t>
            </a:r>
          </a:p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Quantification in ER Discrete-Event Simulation Surrogates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4612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 i="1">
                <a:solidFill>
                  <a:srgbClr val="93C5FD"/>
                </a:solidFill>
                <a:latin typeface="Calibri"/>
              </a:rPr>
              <a:t>Mid-Semester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89204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G Venugopalan (CB.AI.U4AID25115)   |   Vipin Sudhakar (CB.AI.U4AID25166)   |   Rithvik Arulprakash (CB.AI.U4AID25148)   |   Harshith Kv (CB.AI.U4AID25119)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349240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93C5FD"/>
                </a:solidFill>
                <a:latin typeface="Calibri"/>
              </a:rPr>
              <a:t>Course: 23AID201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B82F6"/>
                </a:solidFill>
                <a:latin typeface="Calibri"/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B2238"/>
                </a:solidFill>
                <a:latin typeface="Calibri"/>
              </a:rPr>
              <a:t>Problem Statement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005840" cy="3810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2 /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>
                <a:solidFill>
                  <a:srgbClr val="1F2937"/>
                </a:solidFill>
                <a:latin typeface="Calibri"/>
              </a:rPr>
              <a:t>•  Surrogate models — fast learned approximations of expensive simulations — are increasingly used to guide decisions in stochastic service systems (e.g. ER staffing, queueing networks).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1F2937"/>
                </a:solidFill>
                <a:latin typeface="Calibri"/>
              </a:rPr>
              <a:t>•  A surrogate's point prediction alone is not enough for high-stakes operational decisions: “will adding 2 more doctors cut wait time enough?” needs a calibrated interval, not just a number.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1F2937"/>
                </a:solidFill>
                <a:latin typeface="Calibri"/>
              </a:rPr>
              <a:t>•  Existing UQ approaches have real gaps here:</a:t>
            </a:r>
          </a:p>
          <a:p>
            <a:pPr lvl="1">
              <a:spcAft>
                <a:spcPts val="1400"/>
              </a:spcAft>
            </a:pPr>
            <a:r>
              <a:rPr sz="1500">
                <a:solidFill>
                  <a:srgbClr val="1F2937"/>
                </a:solidFill>
                <a:latin typeface="Calibri"/>
              </a:rPr>
              <a:t>‒  Gaussian Processes: well-established, but computationally expensive (cubic training cost) and rely on distributional assumptions rather than a finite-sample guarantee.</a:t>
            </a:r>
          </a:p>
          <a:p>
            <a:pPr lvl="1">
              <a:spcAft>
                <a:spcPts val="1400"/>
              </a:spcAft>
            </a:pPr>
            <a:r>
              <a:rPr sz="1500">
                <a:solidFill>
                  <a:srgbClr val="1F2937"/>
                </a:solidFill>
                <a:latin typeface="Calibri"/>
              </a:rPr>
              <a:t>‒  Conformal Prediction (CP): distribution-free, finite-sample coverage guarantees, and cheap to calibrate — but its reliability for surrogate models has only been validated in specific domains.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1F2937"/>
                </a:solidFill>
                <a:latin typeface="Calibri"/>
              </a:rPr>
              <a:t>•  This project asks: does CP's reliability hold when the surrogate is trained on a discrete-event, queueing-based simulation instead of the domains it's been validated on?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B82F6"/>
                </a:solidFill>
                <a:latin typeface="Calibri"/>
              </a:rPr>
              <a:t>LITERATURE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B2238"/>
                </a:solidFill>
                <a:latin typeface="Calibri"/>
              </a:rPr>
              <a:t>Research Gap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005840" cy="3810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3 /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F2937"/>
                </a:solidFill>
                <a:latin typeface="Calibri"/>
              </a:rPr>
              <a:t>Gopakumar et al. (2026) validate Conformal Prediction for surrogate-model UQ 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E40AF"/>
                </a:solidFill>
                <a:latin typeface="Calibri"/>
              </a:rPr>
              <a:t>but only in physics domains: PDEs, magnetohydrodynamics (MHD), weather, fusion.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697480"/>
            <a:ext cx="10881360" cy="210312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880360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2937"/>
                </a:solidFill>
                <a:latin typeface="Calibri"/>
              </a:rPr>
              <a:t>The paper states two explicit limitations: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37560"/>
            <a:ext cx="102412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F2937"/>
                </a:solidFill>
                <a:latin typeface="Calibri"/>
              </a:rPr>
              <a:t>•  Marginal coverage only — no guarantee of coverage within specific subgroups/conditions.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F2937"/>
                </a:solidFill>
                <a:latin typeface="Calibri"/>
              </a:rPr>
              <a:t>•  Relies on an exchangeability assumption between calibration and test data — untested under distribution shift.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07492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F2937"/>
                </a:solidFill>
                <a:latin typeface="Calibri"/>
              </a:rPr>
              <a:t>Neither limitation has been tested outside physics simulation. Discrete-event / queueing systems are a fundamentally different domain — stochastic discrete arrivals and departures, resource contention, priority scheduling — not continuous PDE fields. This is an open gap.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B82F6"/>
                </a:solidFill>
                <a:latin typeface="Calibri"/>
              </a:rPr>
              <a:t>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B2238"/>
                </a:solidFill>
                <a:latin typeface="Calibri"/>
              </a:rPr>
              <a:t>Our Bridging Approach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005840" cy="3810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4 /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B2238"/>
                </a:solidFill>
                <a:latin typeface="Calibri"/>
              </a:rPr>
              <a:t>Apply Conformal Prediction — specifically Mondrian CP — to an ER queueing surrogate model, and directly test whether Gopakumar et al.'s two stated limitations hold or break here.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377440"/>
            <a:ext cx="5212080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377440"/>
            <a:ext cx="5212080" cy="50292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48716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Addressing: Marginal coverage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063240"/>
            <a:ext cx="47548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>
                <a:solidFill>
                  <a:srgbClr val="1F2937"/>
                </a:solidFill>
                <a:latin typeface="Calibri"/>
              </a:rPr>
              <a:t>•  Mondrian CP partitions calibration by category (staffing level, shift, arrival-rate regime) instead of pooling everything into one marginal guarantee.</a:t>
            </a:r>
          </a:p>
          <a:p>
            <a:pPr>
              <a:spcAft>
                <a:spcPts val="1200"/>
              </a:spcAft>
            </a:pPr>
            <a:r>
              <a:rPr sz="1400">
                <a:solidFill>
                  <a:srgbClr val="1F2937"/>
                </a:solidFill>
                <a:latin typeface="Calibri"/>
              </a:rPr>
              <a:t>•  Target: near-conditional coverage — each category individually close to the nominal rate, not just the average across all of them.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2377440"/>
            <a:ext cx="5212080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2377440"/>
            <a:ext cx="5212080" cy="50292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248716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Addressing: Exchangeability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3063240"/>
            <a:ext cx="47548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>
                <a:solidFill>
                  <a:srgbClr val="1F2937"/>
                </a:solidFill>
                <a:latin typeface="Calibri"/>
              </a:rPr>
              <a:t>•  Phase 2 stress-test: simulate an out-of-distribution “surge day” scenario outside the training regime.</a:t>
            </a:r>
          </a:p>
          <a:p>
            <a:pPr>
              <a:spcAft>
                <a:spcPts val="1200"/>
              </a:spcAft>
            </a:pPr>
            <a:r>
              <a:rPr sz="1400">
                <a:solidFill>
                  <a:srgbClr val="1F2937"/>
                </a:solidFill>
                <a:latin typeface="Calibri"/>
              </a:rPr>
              <a:t>•  Directly probes where standard CP and Mondrian CP hold or break when the exchangeability assumption is violated.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B82F6"/>
                </a:solidFill>
                <a:latin typeface="Calibri"/>
              </a:rPr>
              <a:t>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B2238"/>
                </a:solidFill>
                <a:latin typeface="Calibri"/>
              </a:rPr>
              <a:t>Methodology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005840" cy="3810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5 / 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743200"/>
            <a:ext cx="2880360" cy="1463040"/>
          </a:xfrm>
          <a:prstGeom prst="roundRect">
            <a:avLst>
              <a:gd name="adj" fmla="val 8000"/>
            </a:avLst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500" b="1">
                <a:solidFill>
                  <a:srgbClr val="FFFFFF"/>
                </a:solidFill>
              </a:rPr>
              <a:t>Discrete-Event
Simulation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SimPy, calibrated on real ED data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383280" y="3291840"/>
            <a:ext cx="502920" cy="365760"/>
          </a:xfrm>
          <a:prstGeom prst="rightArrow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886200" y="2743200"/>
            <a:ext cx="2880360" cy="1463040"/>
          </a:xfrm>
          <a:prstGeom prst="roundRect">
            <a:avLst>
              <a:gd name="adj" fmla="val 8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500" b="1">
                <a:solidFill>
                  <a:srgbClr val="FFFFFF"/>
                </a:solidFill>
              </a:rPr>
              <a:t>Surrogate Model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Gradient boosting, trained on
DES scenario sweep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766560" y="3291840"/>
            <a:ext cx="502920" cy="365760"/>
          </a:xfrm>
          <a:prstGeom prst="rightArrow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269480" y="2743200"/>
            <a:ext cx="2880360" cy="1463040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500" b="1">
                <a:solidFill>
                  <a:srgbClr val="FFFFFF"/>
                </a:solidFill>
              </a:rPr>
              <a:t>Uncertainty
Quantification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GP baseline vs. Standard CP
vs. Mondrian 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52628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6B7280"/>
                </a:solidFill>
                <a:latin typeface="Calibri"/>
              </a:rPr>
              <a:t>Each stage validated against the previous before moving on: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93776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1F2937"/>
                </a:solidFill>
                <a:latin typeface="Calibri"/>
              </a:rPr>
              <a:t>•  DES output validated against real aggregated ED statistics (91.0% match to real daily volume).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F2937"/>
                </a:solidFill>
                <a:latin typeface="Calibri"/>
              </a:rPr>
              <a:t>•  Surrogate accuracy validated against DES outputs held out from training (MAE / RMSE / R²).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F2937"/>
                </a:solidFill>
                <a:latin typeface="Calibri"/>
              </a:rPr>
              <a:t>•  UQ methods validated against a shared, fixed test split and shared target coverage (α = 0.1) so GP, standard CP, and Mondrian CP are directly comparable.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B82F6"/>
                </a:solidFill>
                <a:latin typeface="Calibri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B2238"/>
                </a:solidFill>
                <a:latin typeface="Calibri"/>
              </a:rPr>
              <a:t>Real-World Data Used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005840" cy="3810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6 /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B2238"/>
                </a:solidFill>
                <a:latin typeface="Calibri"/>
              </a:rPr>
              <a:t>Hospital Triage and Patient History Data (Kaggle, maalona)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4519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6B7280"/>
                </a:solidFill>
                <a:latin typeface="Calibri"/>
              </a:rPr>
              <a:t>Yale New Haven Health System, retrospective study, March 2014 – July 2017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514600"/>
            <a:ext cx="2606040" cy="105156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606040"/>
            <a:ext cx="2606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1E40AF"/>
                </a:solidFill>
                <a:latin typeface="Calibri"/>
              </a:rPr>
              <a:t>560,486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108960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6B7280"/>
                </a:solidFill>
                <a:latin typeface="Calibri"/>
              </a:rPr>
              <a:t>total ED visits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37560" y="2514600"/>
            <a:ext cx="2606040" cy="105156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37560" y="2606040"/>
            <a:ext cx="2606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1E40AF"/>
                </a:solidFill>
                <a:latin typeface="Calibri"/>
              </a:rPr>
              <a:t>972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7560" y="3108960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6B7280"/>
                </a:solidFill>
                <a:latin typeface="Calibri"/>
              </a:rPr>
              <a:t>variables per visit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2514600"/>
            <a:ext cx="2606040" cy="105156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0" y="2606040"/>
            <a:ext cx="2606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1E40A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3108960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6B7280"/>
                </a:solidFill>
                <a:latin typeface="Calibri"/>
              </a:rPr>
              <a:t>EDs (1 academic + 2 community)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732520" y="2514600"/>
            <a:ext cx="2606040" cy="105156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32520" y="2606040"/>
            <a:ext cx="2606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1E40AF"/>
                </a:solidFill>
                <a:latin typeface="Calibri"/>
              </a:rPr>
              <a:t>258.2 / day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2520" y="3108960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6B7280"/>
                </a:solidFill>
                <a:latin typeface="Calibri"/>
              </a:rPr>
              <a:t>calibrated rate, Dept. 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886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2937"/>
                </a:solidFill>
                <a:latin typeface="Calibri"/>
              </a:rPr>
              <a:t>What we extracted — real vs. literature-calibrated (disclosed explicitly, not blended silently):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4343400"/>
            <a:ext cx="530352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43484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6A34A"/>
                </a:solidFill>
                <a:latin typeface="Calibri"/>
              </a:rPr>
              <a:t>From real 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754880"/>
            <a:ext cx="4937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1F2937"/>
                </a:solidFill>
                <a:latin typeface="Calibri"/>
              </a:rPr>
              <a:t>•  Arrival pattern by 4-hour bin, day of week, month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F2937"/>
                </a:solidFill>
                <a:latin typeface="Calibri"/>
              </a:rPr>
              <a:t>•  ESI acuity mix (triage severity distribution)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F2937"/>
                </a:solidFill>
                <a:latin typeface="Calibri"/>
              </a:rPr>
              <a:t>•  Department-level daily visit rate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80760" y="4343400"/>
            <a:ext cx="544068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63640" y="443484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D97706"/>
                </a:solidFill>
                <a:latin typeface="Calibri"/>
              </a:rPr>
              <a:t>From literature (not in dataset)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3640" y="4754880"/>
            <a:ext cx="4937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1F2937"/>
                </a:solidFill>
                <a:latin typeface="Calibri"/>
              </a:rPr>
              <a:t>•  Service/treatment time per ESI level (log-normal)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F2937"/>
                </a:solidFill>
                <a:latin typeface="Calibri"/>
              </a:rPr>
              <a:t>•  Dataset has no discharge timestamp — confirmed by</a:t>
            </a:r>
          </a:p>
          <a:p>
            <a:pPr lvl="1">
              <a:spcAft>
                <a:spcPts val="600"/>
              </a:spcAft>
            </a:pPr>
            <a:r>
              <a:rPr sz="1100">
                <a:solidFill>
                  <a:srgbClr val="1F2937"/>
                </a:solidFill>
                <a:latin typeface="Calibri"/>
              </a:rPr>
              <a:t>‒  exhaustive search across all 972 columns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B82F6"/>
                </a:solidFill>
                <a:latin typeface="Calibri"/>
              </a:rPr>
              <a:t>PROGRESS — 50%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B2238"/>
                </a:solidFill>
                <a:latin typeface="Calibri"/>
              </a:rPr>
              <a:t>Work Completed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005840" cy="3810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7 /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B2238"/>
                </a:solidFill>
                <a:latin typeface="Calibri"/>
              </a:rPr>
              <a:t>DES validated against real data (200 simulated days)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783080"/>
          <a:ext cx="5120640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011680"/>
              </a:tblGrid>
              <a:tr h="2514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 anchor="ctr" marT="50800" marB="50800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Value</a:t>
                      </a:r>
                    </a:p>
                  </a:txBody>
                  <a:tcPr anchor="ctr" marT="50800" marB="50800">
                    <a:solidFill>
                      <a:srgbClr val="1E40A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F2937"/>
                          </a:solidFill>
                        </a:rPr>
                        <a:t>Real visits/day (Dept. A)</a:t>
                      </a:r>
                    </a:p>
                  </a:txBody>
                  <a:tcPr anchor="ctr" marT="50800" marB="508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258.2</a:t>
                      </a:r>
                    </a:p>
                  </a:txBody>
                  <a:tcPr anchor="ctr" marT="50800" marB="50800">
                    <a:solidFill>
                      <a:srgbClr val="F8FAFC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F2937"/>
                          </a:solidFill>
                        </a:rPr>
                        <a:t>Simulated mean visits/day</a:t>
                      </a:r>
                    </a:p>
                  </a:txBody>
                  <a:tcPr anchor="ctr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235.1</a:t>
                      </a:r>
                    </a:p>
                  </a:txBody>
                  <a:tcPr anchor="ctr" marT="50800" marB="50800"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F2937"/>
                          </a:solidFill>
                        </a:rPr>
                        <a:t>Match</a:t>
                      </a:r>
                    </a:p>
                  </a:txBody>
                  <a:tcPr anchor="ctr" marT="50800" marB="508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91.0%</a:t>
                      </a:r>
                    </a:p>
                  </a:txBody>
                  <a:tcPr anchor="ctr" marT="50800" marB="50800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09360" y="141732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B2238"/>
                </a:solidFill>
                <a:latin typeface="Calibri"/>
              </a:rPr>
              <a:t>Surrogate model accuracy (gradient boosting)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09360" y="1783080"/>
          <a:ext cx="521208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097280"/>
                <a:gridCol w="1097280"/>
                <a:gridCol w="1188720"/>
              </a:tblGrid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Target</a:t>
                      </a:r>
                    </a:p>
                  </a:txBody>
                  <a:tcPr anchor="ctr" marT="50800" marB="50800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MAE</a:t>
                      </a:r>
                    </a:p>
                  </a:txBody>
                  <a:tcPr anchor="ctr" marT="50800" marB="50800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RMSE</a:t>
                      </a:r>
                    </a:p>
                  </a:txBody>
                  <a:tcPr anchor="ctr" marT="50800" marB="50800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R²</a:t>
                      </a:r>
                    </a:p>
                  </a:txBody>
                  <a:tcPr anchor="ctr" marT="50800" marB="50800">
                    <a:solidFill>
                      <a:srgbClr val="1E40A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937"/>
                          </a:solidFill>
                        </a:rPr>
                        <a:t>n_patients</a:t>
                      </a:r>
                    </a:p>
                  </a:txBody>
                  <a:tcPr anchor="ctr" marT="50800" marB="508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937"/>
                          </a:solidFill>
                        </a:rPr>
                        <a:t>9.90</a:t>
                      </a:r>
                    </a:p>
                  </a:txBody>
                  <a:tcPr anchor="ctr" marT="50800" marB="508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937"/>
                          </a:solidFill>
                        </a:rPr>
                        <a:t>12.59</a:t>
                      </a:r>
                    </a:p>
                  </a:txBody>
                  <a:tcPr anchor="ctr" marT="50800" marB="508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937"/>
                          </a:solidFill>
                        </a:rPr>
                        <a:t>0.929</a:t>
                      </a:r>
                    </a:p>
                  </a:txBody>
                  <a:tcPr anchor="ctr" marT="50800" marB="50800">
                    <a:solidFill>
                      <a:srgbClr val="F8FA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937"/>
                          </a:solidFill>
                        </a:rPr>
                        <a:t>mean_wait_min</a:t>
                      </a:r>
                    </a:p>
                  </a:txBody>
                  <a:tcPr anchor="ctr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937"/>
                          </a:solidFill>
                        </a:rPr>
                        <a:t>8.86</a:t>
                      </a:r>
                    </a:p>
                  </a:txBody>
                  <a:tcPr anchor="ctr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937"/>
                          </a:solidFill>
                        </a:rPr>
                        <a:t>13.23</a:t>
                      </a:r>
                    </a:p>
                  </a:txBody>
                  <a:tcPr anchor="ctr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937"/>
                          </a:solidFill>
                        </a:rPr>
                        <a:t>0.787</a:t>
                      </a:r>
                    </a:p>
                  </a:txBody>
                  <a:tcPr anchor="ctr" marT="50800" marB="50800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937"/>
                          </a:solidFill>
                        </a:rPr>
                        <a:t>mean_total_min</a:t>
                      </a:r>
                    </a:p>
                  </a:txBody>
                  <a:tcPr anchor="ctr" marT="50800" marB="508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937"/>
                          </a:solidFill>
                        </a:rPr>
                        <a:t>9.88</a:t>
                      </a:r>
                    </a:p>
                  </a:txBody>
                  <a:tcPr anchor="ctr" marT="50800" marB="508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937"/>
                          </a:solidFill>
                        </a:rPr>
                        <a:t>13.61</a:t>
                      </a:r>
                    </a:p>
                  </a:txBody>
                  <a:tcPr anchor="ctr" marT="50800" marB="508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937"/>
                          </a:solidFill>
                        </a:rPr>
                        <a:t>0.762</a:t>
                      </a:r>
                    </a:p>
                  </a:txBody>
                  <a:tcPr anchor="ctr" marT="50800" marB="50800">
                    <a:solidFill>
                      <a:srgbClr val="F8FA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937"/>
                          </a:solidFill>
                        </a:rPr>
                        <a:t>p95_wait_min</a:t>
                      </a:r>
                    </a:p>
                  </a:txBody>
                  <a:tcPr anchor="ctr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937"/>
                          </a:solidFill>
                        </a:rPr>
                        <a:t>66.94</a:t>
                      </a:r>
                    </a:p>
                  </a:txBody>
                  <a:tcPr anchor="ctr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937"/>
                          </a:solidFill>
                        </a:rPr>
                        <a:t>102.47</a:t>
                      </a:r>
                    </a:p>
                  </a:txBody>
                  <a:tcPr anchor="ctr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937"/>
                          </a:solidFill>
                        </a:rPr>
                        <a:t>0.647</a:t>
                      </a:r>
                    </a:p>
                  </a:txBody>
                  <a:tcPr anchor="ctr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333756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B2238"/>
                </a:solidFill>
                <a:latin typeface="Calibri"/>
              </a:rPr>
              <a:t>GP baseline UQ (α = 0.1, i.e. 90% target coverage)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" y="3703320"/>
          <a:ext cx="1088136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560320"/>
                <a:gridCol w="2560320"/>
                <a:gridCol w="256032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Target</a:t>
                      </a:r>
                    </a:p>
                  </a:txBody>
                  <a:tcPr anchor="ctr" marT="50800" marB="50800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Target coverage</a:t>
                      </a:r>
                    </a:p>
                  </a:txBody>
                  <a:tcPr anchor="ctr" marT="50800" marB="50800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Empirical coverage</a:t>
                      </a:r>
                    </a:p>
                  </a:txBody>
                  <a:tcPr anchor="ctr" marT="50800" marB="50800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Mean interval width</a:t>
                      </a:r>
                    </a:p>
                  </a:txBody>
                  <a:tcPr anchor="ctr" marT="50800" marB="50800">
                    <a:solidFill>
                      <a:srgbClr val="1E40A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F2937"/>
                          </a:solidFill>
                        </a:rPr>
                        <a:t>n_patients</a:t>
                      </a:r>
                    </a:p>
                  </a:txBody>
                  <a:tcPr anchor="ctr" marT="50800" marB="508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90%</a:t>
                      </a:r>
                    </a:p>
                  </a:txBody>
                  <a:tcPr anchor="ctr" marT="50800" marB="508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88.5%</a:t>
                      </a:r>
                    </a:p>
                  </a:txBody>
                  <a:tcPr anchor="ctr" marT="50800" marB="508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39.3</a:t>
                      </a:r>
                    </a:p>
                  </a:txBody>
                  <a:tcPr anchor="ctr" marT="50800" marB="50800"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F2937"/>
                          </a:solidFill>
                        </a:rPr>
                        <a:t>mean_wait_minutes</a:t>
                      </a:r>
                    </a:p>
                  </a:txBody>
                  <a:tcPr anchor="ctr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90%</a:t>
                      </a:r>
                    </a:p>
                  </a:txBody>
                  <a:tcPr anchor="ctr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87.7%</a:t>
                      </a:r>
                    </a:p>
                  </a:txBody>
                  <a:tcPr anchor="ctr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43.6</a:t>
                      </a:r>
                    </a:p>
                  </a:txBody>
                  <a:tcPr anchor="ctr" marT="50800" marB="50800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F2937"/>
                          </a:solidFill>
                        </a:rPr>
                        <a:t>mean_total_minutes</a:t>
                      </a:r>
                    </a:p>
                  </a:txBody>
                  <a:tcPr anchor="ctr" marT="50800" marB="508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90%</a:t>
                      </a:r>
                    </a:p>
                  </a:txBody>
                  <a:tcPr anchor="ctr" marT="50800" marB="508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88.8%</a:t>
                      </a:r>
                    </a:p>
                  </a:txBody>
                  <a:tcPr anchor="ctr" marT="50800" marB="508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43.4</a:t>
                      </a:r>
                    </a:p>
                  </a:txBody>
                  <a:tcPr anchor="ctr" marT="50800" marB="50800"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F2937"/>
                          </a:solidFill>
                        </a:rPr>
                        <a:t>p95_wait_minutes</a:t>
                      </a:r>
                    </a:p>
                  </a:txBody>
                  <a:tcPr anchor="ctr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90%</a:t>
                      </a:r>
                    </a:p>
                  </a:txBody>
                  <a:tcPr anchor="ctr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90.1%</a:t>
                      </a:r>
                    </a:p>
                  </a:txBody>
                  <a:tcPr anchor="ctr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350.3</a:t>
                      </a:r>
                    </a:p>
                  </a:txBody>
                  <a:tcPr anchor="ctr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40080" y="548640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6B7280"/>
                </a:solidFill>
                <a:latin typeface="Calibri"/>
              </a:rPr>
              <a:t>GP undercovers on 3/4 targets (87.7–88.8% vs. 90% target) — expected, since GP relies on distributional assumptions rather than a finite-sample guarantee. This is precisely the gap we test whether CP / Mondrian CP close in Phase 2.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B82F6"/>
                </a:solidFill>
                <a:latin typeface="Calibri"/>
              </a:rP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B2238"/>
                </a:solidFill>
                <a:latin typeface="Calibri"/>
              </a:rPr>
              <a:t>Literature Review Snapshot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005840" cy="3810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8 / 9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554480"/>
            <a:ext cx="10881360" cy="548640"/>
          </a:xfrm>
          <a:prstGeom prst="rect">
            <a:avLst/>
          </a:prstGeom>
          <a:solidFill>
            <a:srgbClr val="FEF3C7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673352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D97706"/>
                </a:solidFill>
                <a:latin typeface="Calibri"/>
              </a:rPr>
              <a:t>PLACEHOLDER — literature review in progress, update before presenting.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68880"/>
            <a:ext cx="3429000" cy="219456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651760"/>
            <a:ext cx="3429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1B2238"/>
                </a:solidFill>
                <a:latin typeface="Calibri"/>
              </a:rPr>
              <a:t>Conformal Prediction</a:t>
            </a:r>
          </a:p>
          <a:p>
            <a:pPr algn="ctr"/>
            <a:r>
              <a:rPr sz="1600" b="1" i="0">
                <a:solidFill>
                  <a:srgbClr val="1B2238"/>
                </a:solidFill>
                <a:latin typeface="Calibri"/>
              </a:rPr>
              <a:t>foundations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566160"/>
            <a:ext cx="3429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6B7280"/>
                </a:solidFill>
                <a:latin typeface="Calibri"/>
              </a:rPr>
              <a:t>[ __ ] papers reviewed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06240" y="2468880"/>
            <a:ext cx="3429000" cy="219456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06240" y="2651760"/>
            <a:ext cx="3429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1B2238"/>
                </a:solidFill>
                <a:latin typeface="Calibri"/>
              </a:rPr>
              <a:t>Surrogate modeling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0" y="3566160"/>
            <a:ext cx="3429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6B7280"/>
                </a:solidFill>
                <a:latin typeface="Calibri"/>
              </a:rPr>
              <a:t>[ __ ] papers reviewed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0" y="2468880"/>
            <a:ext cx="3429000" cy="219456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0" y="2651760"/>
            <a:ext cx="3429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1B2238"/>
                </a:solidFill>
                <a:latin typeface="Calibri"/>
              </a:rPr>
              <a:t>Queueing theory /</a:t>
            </a:r>
          </a:p>
          <a:p>
            <a:pPr algn="ctr"/>
            <a:r>
              <a:rPr sz="1600" b="1" i="0">
                <a:solidFill>
                  <a:srgbClr val="1B2238"/>
                </a:solidFill>
                <a:latin typeface="Calibri"/>
              </a:rPr>
              <a:t>ED simulation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3566160"/>
            <a:ext cx="3429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6B7280"/>
                </a:solidFill>
                <a:latin typeface="Calibri"/>
              </a:rPr>
              <a:t>[ __ ] papers reviewed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02920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Target: 30 papers total, 3 core papers reviewed in depth (incl. Gopakumar et al. 2026).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B82F6"/>
                </a:solidFill>
                <a:latin typeface="Calibri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B2238"/>
                </a:solidFill>
                <a:latin typeface="Calibri"/>
              </a:rPr>
              <a:t>Future Scope — End-Sem Preview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005840" cy="3810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9 / 9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554480"/>
            <a:ext cx="1554480" cy="77724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15544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Week 9–10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31720" y="1554480"/>
            <a:ext cx="91440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F2937"/>
                </a:solidFill>
                <a:latin typeface="Calibri"/>
              </a:rPr>
              <a:t>Implement standard conformal prediction on surrogate residuals; test multiple nonconformity measures.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468880"/>
            <a:ext cx="1554480" cy="77724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468880"/>
            <a:ext cx="15544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Week 11–12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31720" y="2468880"/>
            <a:ext cx="91440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F2937"/>
                </a:solidFill>
                <a:latin typeface="Calibri"/>
              </a:rPr>
              <a:t>Implement Mondrian CP — partition by staffing level / shift / arrival-rate category; measure per-category coverage.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383280"/>
            <a:ext cx="1554480" cy="77724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383280"/>
            <a:ext cx="15544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Week 13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31720" y="3383280"/>
            <a:ext cx="91440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F2937"/>
                </a:solidFill>
                <a:latin typeface="Calibri"/>
              </a:rPr>
              <a:t>Stress-test exchangeability with an out-of-distribution “surge day” scenario; check where standard CP and Mondrian CP hold or break.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297680"/>
            <a:ext cx="1554480" cy="77724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297680"/>
            <a:ext cx="15544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Week 14–15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4297680"/>
            <a:ext cx="91440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F2937"/>
                </a:solidFill>
                <a:latin typeface="Calibri"/>
              </a:rPr>
              <a:t>Full comparison — GP vs. standard CP vs. Mondrian CP: coverage, interval width, computation time.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5212080"/>
            <a:ext cx="1554480" cy="77724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212080"/>
            <a:ext cx="15544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Week 16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31720" y="5212080"/>
            <a:ext cx="91440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F2937"/>
                </a:solidFill>
                <a:latin typeface="Calibri"/>
              </a:rPr>
              <a:t>End-sem PPT: quantified answer on whether Mondrian CP closes the marginal-vs-conditional coverage gap in this domain; final report.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