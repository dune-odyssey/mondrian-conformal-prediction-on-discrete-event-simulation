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365760"/>
            <a:ext cx="8229600" cy="2377440"/>
          </a:xfrm>
        </p:spPr>
        <p:txBody>
          <a:bodyPr/>
          <a:lstStyle/>
          <a:p>
            <a:r>
              <a:rPr sz="2600"/>
              <a:t>Mondrian Conformal Prediction for Uncertainty Quantification</a:t>
            </a:r>
          </a:p>
          <a:p>
            <a:r>
              <a:rPr sz="2600"/>
              <a:t>in ER Discrete-Event Simulation Surrogates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971800"/>
            <a:ext cx="8229600" cy="3474720"/>
          </a:xfrm>
        </p:spPr>
        <p:txBody>
          <a:bodyPr/>
          <a:lstStyle/>
          <a:p>
            <a:r>
              <a:rPr sz="1600"/>
              <a:t>Mid-Semester Review</a:t>
            </a:r>
          </a:p>
          <a:p/>
          <a:p>
            <a:r>
              <a:rPr sz="1600"/>
              <a:t>G Venugopalan (CB.AI.U4AID25115)</a:t>
            </a:r>
          </a:p>
          <a:p>
            <a:r>
              <a:rPr sz="1600"/>
              <a:t>Vipin Sudhakar (CB.AI.U4AID25166)</a:t>
            </a:r>
          </a:p>
          <a:p>
            <a:r>
              <a:rPr sz="1600"/>
              <a:t>Rithvik Arulprakash (CB.AI.U4AID25148)</a:t>
            </a:r>
          </a:p>
          <a:p>
            <a:r>
              <a:rPr sz="1600"/>
              <a:t>Harshith Kv (CB.AI.U4AID25119)</a:t>
            </a:r>
          </a:p>
          <a:p/>
          <a:p>
            <a:r>
              <a:rPr sz="1600"/>
              <a:t>Course: 23AID201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/>
              <a:t>Surrogate models are fast, learned approximations of expensive simulations. They're used more and more to guide decisions in stochastic service systems - ER staffing, queueing networks, etc.</a:t>
            </a:r>
          </a:p>
          <a:p>
            <a:pPr/>
            <a:r>
              <a:rPr sz="1700"/>
              <a:t>A point prediction from a surrogate isn't enough on its own for a decision like "will adding 2 more doctors actually bring the wait time down?" You need a calibrated interval, not just a number.</a:t>
            </a:r>
          </a:p>
          <a:p>
            <a:pPr/>
            <a:r>
              <a:rPr sz="1700"/>
              <a:t>Two common ways to get that interval, and where they fall short:</a:t>
            </a:r>
          </a:p>
          <a:p>
            <a:pPr lvl="1"/>
            <a:r>
              <a:rPr sz="1700"/>
              <a:t>Gaussian Processes - solid theoretically, but expensive to train (cubic cost) and the coverage guarantee depends on distributional assumptions, not a hard finite-sample bound.</a:t>
            </a:r>
          </a:p>
          <a:p>
            <a:pPr lvl="1"/>
            <a:r>
              <a:rPr sz="1700"/>
              <a:t>Conformal Prediction - distribution-free, comes with a finite-sample coverage guarantee, cheap to calibrate. But it's only been validated for surrogate models in a narrow set of domains so far.</a:t>
            </a:r>
          </a:p>
          <a:p>
            <a:pPr/>
            <a:r>
              <a:rPr sz="1700"/>
              <a:t>That's the question this project is built around: does CP still hold up when the surrogate is trained on a discrete-event / queueing simulation instead of the domains it's been tested 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/>
              <a:t>Gopakumar et al. (2026) validate conformal prediction for surrogate-model UQ, but only in physics domains - PDEs, magnetohydrodynamics, weather, fusion.</a:t>
            </a:r>
          </a:p>
          <a:p>
            <a:pPr/>
            <a:r>
              <a:rPr sz="1700"/>
              <a:t>They call out two limitations explicitly:</a:t>
            </a:r>
          </a:p>
          <a:p>
            <a:pPr lvl="1"/>
            <a:r>
              <a:rPr sz="1700"/>
              <a:t>Marginal coverage only - no guarantee that coverage holds within a specific subgroup or condition, only on average across everything.</a:t>
            </a:r>
          </a:p>
          <a:p>
            <a:pPr lvl="1"/>
            <a:r>
              <a:rPr sz="1700"/>
              <a:t>An exchangeability assumption between calibration and test data, which they don't test under distribution shift.</a:t>
            </a:r>
          </a:p>
          <a:p>
            <a:pPr/>
            <a:r>
              <a:rPr sz="1700"/>
              <a:t>Neither of those has been checked outside physics simulation. Discrete-event / queueing systems are a genuinely different kind of domain - discrete stochastic arrivals and departures, resource contention, priority queues - not a continuous PDE field. That's the gap this project sits 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Bridging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2240280"/>
            <a:ext cx="4037716" cy="4206240"/>
          </a:xfrm>
        </p:spPr>
        <p:txBody>
          <a:bodyPr wrap="square"/>
          <a:lstStyle/>
          <a:p>
            <a:pPr/>
            <a:r>
              <a:rPr sz="1500"/>
              <a:t>Addresses marginal coverage</a:t>
            </a:r>
          </a:p>
          <a:p>
            <a:pPr lvl="1"/>
            <a:r>
              <a:rPr sz="1300"/>
              <a:t>Mondrian CP partitions calibration by category - staffing level, shift, arrival-rate regime - instead of lumping everything into one marginal guarantee.</a:t>
            </a:r>
          </a:p>
          <a:p>
            <a:pPr lvl="1"/>
            <a:r>
              <a:rPr sz="1300"/>
              <a:t>Goal: coverage that holds up close to nominal within each category, not just on average.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4647895" y="2240280"/>
            <a:ext cx="4037716" cy="4206240"/>
          </a:xfrm>
        </p:spPr>
        <p:txBody>
          <a:bodyPr wrap="square"/>
          <a:lstStyle/>
          <a:p>
            <a:pPr/>
            <a:r>
              <a:rPr sz="1500"/>
              <a:t>Addresses exchangeability</a:t>
            </a:r>
          </a:p>
          <a:p>
            <a:pPr lvl="1"/>
            <a:r>
              <a:rPr sz="1300"/>
              <a:t>Phase 2 includes a stress test: an out-of-distribution "surge day" scenario outside the normal training range.</a:t>
            </a:r>
          </a:p>
          <a:p>
            <a:pPr lvl="1"/>
            <a:r>
              <a:rPr sz="1300"/>
              <a:t>That's where we actually get to see whether standard CP and Mondrian CP hold up or break when exchangeability is violated.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404040"/>
                </a:solidFill>
              </a:rPr>
              <a:t>Core idea: apply CP, specifically Mondrian CP, to an ER queueing surrogate, and test directly whether Gopakumar et al.'s two limitations hold 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Discrete-Event
Simulation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SimPy, calibrated on
real 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338328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Surrogate Model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Gradient boosting on the
DES scenario sweep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Uncertainty
Quantification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GP baseline vs.
standard CP vs. Mondrian CP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697480"/>
            <a:ext cx="548640" cy="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760720" y="2697480"/>
            <a:ext cx="548640" cy="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3657600"/>
            <a:ext cx="8229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i="1" sz="1400"/>
              <a:t>Each stage is checked against the previous one before moving on:</a:t>
            </a:r>
          </a:p>
          <a:p>
            <a:pPr/>
            <a:r>
              <a:rPr sz="1500"/>
              <a:t>- DES output checked against real aggregated ED stats (91.0% match on daily volume)</a:t>
            </a:r>
          </a:p>
          <a:p>
            <a:pPr/>
            <a:r>
              <a:rPr sz="1500"/>
              <a:t>- Surrogate accuracy checked against DES outputs held out from training (MAE / RMSE / R²)</a:t>
            </a:r>
          </a:p>
          <a:p>
            <a:pPr/>
            <a:r>
              <a:rPr sz="1500"/>
              <a:t>- All UQ methods use the same fixed test split and the same target coverage (alpha = 0.1), so GP, standard CP and Mondrian CP end up directly comparable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Real-World Data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/>
              <a:t>Hospital Triage and Patient History Data, Kaggle (maalona) - Yale New Haven Health System, retrospective, March 2014 to July 2017.</a:t>
            </a:r>
          </a:p>
          <a:p>
            <a:pPr/>
            <a:r>
              <a:rPr sz="1600"/>
              <a:t>560,486 ED visits total, 972 variables per visit, across 3 EDs (1 academic + 2 community). We calibrate on Department A only, the largest / academic site: 322,283 visits, ~258.2/day.</a:t>
            </a:r>
          </a:p>
          <a:p>
            <a:pPr/>
            <a:r>
              <a:rPr sz="1600"/>
              <a:t>Real vs. literature - kept separate on purpose, not blended silently:</a:t>
            </a:r>
          </a:p>
          <a:p>
            <a:pPr lvl="1"/>
            <a:r>
              <a:rPr sz="1600"/>
              <a:t>From the real data: arrival pattern by 4-hour bin, day of week, and month; ESI acuity mix; department-level daily visit rate.</a:t>
            </a:r>
          </a:p>
          <a:p>
            <a:pPr lvl="1"/>
            <a:r>
              <a:rPr sz="1600"/>
              <a:t>From literature: service/treatment time per ESI level (log-normal). The dataset has no discharge timestamp - checked across all 972 columns to be sure before falling back to literature values.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Work Completed So Far (~50%)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39319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</a:tblGrid>
              <a:tr h="251460">
                <a:tc>
                  <a:txBody>
                    <a:bodyPr/>
                    <a:lstStyle/>
                    <a:p>
                      <a:r>
                        <a:rPr b="1" sz="1200"/>
                        <a:t>DES validation (200 sim. days)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Real visits/day (Dept. 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258.2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Simulated mean visits/day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235.1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91.0%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54880" y="1280160"/>
          <a:ext cx="39319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22960"/>
                <a:gridCol w="822960"/>
                <a:gridCol w="822960"/>
              </a:tblGrid>
              <a:tr h="283464">
                <a:tc>
                  <a:txBody>
                    <a:bodyPr/>
                    <a:lstStyle/>
                    <a:p>
                      <a:r>
                        <a:rPr b="1" sz="1100"/>
                        <a:t>Surrogate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R²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n_patients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9.90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12.59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0.929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mean_wait_min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8.86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13.23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0.787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mean_total_min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9.88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13.61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0.762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p95_wait_min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66.94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102.47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0.647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0175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920240"/>
                <a:gridCol w="1920240"/>
                <a:gridCol w="2011680"/>
              </a:tblGrid>
              <a:tr h="310896">
                <a:tc>
                  <a:txBody>
                    <a:bodyPr/>
                    <a:lstStyle/>
                    <a:p>
                      <a:r>
                        <a:rPr b="1" sz="1200"/>
                        <a:t>GP baseline (alpha = 0.1)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Target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Empirical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Mean interval width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n_patients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39.3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mean_wait_minutes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43.6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mean_total_minutes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43.4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p95_wait_minutes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350.3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4632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/>
              <a:t>GP undercovers on 3 of 4 targets (87.7-88.8% vs. a 90% target) - not surprising, since it relies on distributional assumptions rather than a finite-sample guarantee. Whether CP / Mondrian CP close that gap is what Phase 2 is for.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The Discrete-Event Simulation</a:t>
            </a:r>
          </a:p>
        </p:txBody>
      </p:sp>
      <p:pic>
        <p:nvPicPr>
          <p:cNvPr id="3" name="Picture 2" descr="real_arrivals_by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687335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617720"/>
            <a:ext cx="8229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SimPy discrete-event simulation of a single ED, calibrated directly on this real arrival pattern plus the real ESI acuity mix - not a generic queueing textbook example.</a:t>
            </a:r>
          </a:p>
          <a:p>
            <a:r>
              <a:rPr sz="1400"/>
              <a:t>Priority-resource pool: higher-acuity (lower ESI) patients get priority, matching real triage behavior.</a:t>
            </a:r>
          </a:p>
          <a:p>
            <a:r>
              <a:rPr sz="1400"/>
              <a:t>Validated against real aggregated daily volume: 91.0% match across 200 simulated days (previous slide) - the DES is the foundation everything downstream (surrogate, UQ) builds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Literature Review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500"/>
              <a:t>Completed: 30 papers across 5 categories, 3 reviewed in depth (including Gopakumar et al. 2026).</a:t>
            </a:r>
          </a:p>
          <a:p>
            <a:pPr lvl="1"/>
            <a:r>
              <a:rPr sz="1500"/>
              <a:t>Conformal prediction foundations: 8 papers</a:t>
            </a:r>
          </a:p>
          <a:p>
            <a:pPr lvl="1"/>
            <a:r>
              <a:rPr sz="1500"/>
              <a:t>Mondrian / conditional-coverage CP: 4 papers</a:t>
            </a:r>
          </a:p>
          <a:p>
            <a:pPr lvl="1"/>
            <a:r>
              <a:rPr sz="1500"/>
              <a:t>Surrogate modeling &amp; uncertainty quantification: 6 papers</a:t>
            </a:r>
          </a:p>
          <a:p>
            <a:pPr lvl="1"/>
            <a:r>
              <a:rPr sz="1500"/>
              <a:t>Queueing theory &amp; ED operations research: 5 papers</a:t>
            </a:r>
          </a:p>
          <a:p>
            <a:pPr lvl="1"/>
            <a:r>
              <a:rPr sz="1500"/>
              <a:t>Discrete-event simulation &amp; ED-specific ML: 7 papers</a:t>
            </a:r>
          </a:p>
          <a:p>
            <a:pPr/>
            <a:r>
              <a:rPr sz="1500"/>
              <a:t>Plus 10 additional papers cross-checking the DES's real vs. literature-calibrated service-time parameters against published ED length-of-stay datasets, added after the initial 30-paper review.</a:t>
            </a:r>
          </a:p>
          <a:p>
            <a:pPr/>
            <a:r>
              <a:rPr sz="1500"/>
              <a:t>Includes a critical assessment section (not just a summary): where the reviewed literature's own assumptions do or don't transfer to a discrete-event queueing domain.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Scope - End-Sem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223760"/>
              </a:tblGrid>
              <a:tr h="716280">
                <a:tc>
                  <a:txBody>
                    <a:bodyPr/>
                    <a:lstStyle/>
                    <a:p>
                      <a:r>
                        <a:rPr b="1" sz="1300"/>
                        <a:t>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Plan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9-10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Standard conformal prediction on surrogate residuals; try a few different nonconformity measures.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11-12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Mondrian CP - partition by staffing level / shift / arrival-rate category; measure per-category coverage.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Stress-test exchangeability with an out-of-distribution "surge day" scenario; see where standard CP and Mondrian CP hold or break.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14-15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Full comparison - GP vs. standard CP vs. Mondrian CP on coverage, interval width, and computation time.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End-sem PPT and report: a quantified answer on whether Mondrian CP closes the marginal-vs-conditional coverage gap in this domain.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