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8229600" cy="2377440"/>
          </a:xfrm>
        </p:spPr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Mondrian Conformal Prediction for Uncertainty Quantification</a:t>
            </a:r>
          </a:p>
          <a:p>
            <a:r>
              <a:rPr sz="2600" b="1">
                <a:solidFill>
                  <a:srgbClr val="FFFFFF"/>
                </a:solidFill>
              </a:rPr>
              <a:t>in ER Discrete-Event Simulation Surrogates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8229600" cy="3474720"/>
          </a:xfrm>
        </p:spPr>
        <p:txBody>
          <a:bodyPr/>
          <a:lstStyle/>
          <a:p>
            <a:r>
              <a:rPr sz="1600">
                <a:solidFill>
                  <a:srgbClr val="93C5FD"/>
                </a:solidFill>
              </a:rPr>
              <a:t>Mid-Semester Review</a:t>
            </a:r>
          </a:p>
          <a:p/>
          <a:p>
            <a:r>
              <a:rPr sz="1600">
                <a:solidFill>
                  <a:srgbClr val="93C5FD"/>
                </a:solidFill>
              </a:rPr>
              <a:t>G Venugopalan (CB.AI.U4AID25115)</a:t>
            </a:r>
          </a:p>
          <a:p>
            <a:r>
              <a:rPr sz="1600">
                <a:solidFill>
                  <a:srgbClr val="93C5FD"/>
                </a:solidFill>
              </a:rPr>
              <a:t>Vipin Sudhakar (CB.AI.U4AID25166)</a:t>
            </a:r>
          </a:p>
          <a:p>
            <a:r>
              <a:rPr sz="1600">
                <a:solidFill>
                  <a:srgbClr val="93C5FD"/>
                </a:solidFill>
              </a:rPr>
              <a:t>Rithvik Arulprakash (CB.AI.U4AID25148)</a:t>
            </a:r>
          </a:p>
          <a:p>
            <a:r>
              <a:rPr sz="1600">
                <a:solidFill>
                  <a:srgbClr val="93C5FD"/>
                </a:solidFill>
              </a:rPr>
              <a:t>Harshith Kv (CB.AI.U4AID25119)</a:t>
            </a:r>
          </a:p>
          <a:p/>
          <a:p>
            <a:r>
              <a:rPr sz="1600">
                <a:solidFill>
                  <a:srgbClr val="93C5FD"/>
                </a:solidFill>
              </a:rPr>
              <a:t>Course: 23AID201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88920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/>
              <a:t>Surrogate models are fast, learned approximations of expensive simulations. They're used more and more to guide decisions in stochastic service systems - ER staffing, queueing networks, etc.</a:t>
            </a:r>
          </a:p>
          <a:p>
            <a:pPr/>
            <a:r>
              <a:rPr sz="1700"/>
              <a:t>A point prediction from a surrogate isn't enough on its own for a decision like "will adding 2 more doctors actually bring the wait time down?" You need a calibrated interval, not just a number.</a:t>
            </a:r>
          </a:p>
          <a:p>
            <a:pPr/>
            <a:r>
              <a:rPr sz="1700"/>
              <a:t>Two common ways to get that interval, and where they fall short:</a:t>
            </a:r>
          </a:p>
          <a:p>
            <a:pPr lvl="1"/>
            <a:r>
              <a:rPr sz="1700"/>
              <a:t>Gaussian Processes - solid theoretically, but expensive to train (cubic cost) and the coverage guarantee depends on distributional assumptions, not a hard finite-sample bound.</a:t>
            </a:r>
          </a:p>
          <a:p>
            <a:pPr lvl="1"/>
            <a:r>
              <a:rPr sz="1700"/>
              <a:t>Conformal Prediction - distribution-free, comes with a finite-sample coverage guarantee, cheap to calibrate. But it's only been validated for surrogate models in a narrow set of domains so far.</a:t>
            </a:r>
          </a:p>
          <a:p>
            <a:pPr/>
            <a:r>
              <a:rPr sz="1700"/>
              <a:t>That's the question this project is built around: does CP still hold up when the surrogate is trained on a discrete-event / queueing simulation instead of the domains it's been tested 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/>
              <a:t>Gopakumar et al. (2026) validate conformal prediction for surrogate-model UQ, but only in physics domains - PDEs, magnetohydrodynamics, weather, fusion.</a:t>
            </a:r>
          </a:p>
          <a:p>
            <a:pPr/>
            <a:r>
              <a:rPr sz="1700"/>
              <a:t>They call out two limitations explicitly:</a:t>
            </a:r>
          </a:p>
          <a:p>
            <a:pPr lvl="1"/>
            <a:r>
              <a:rPr sz="1700"/>
              <a:t>Marginal coverage only - no guarantee that coverage holds within a specific subgroup or condition, only on average across everything.</a:t>
            </a:r>
          </a:p>
          <a:p>
            <a:pPr lvl="1"/>
            <a:r>
              <a:rPr sz="1700"/>
              <a:t>An exchangeability assumption between calibration and test data, which they don't test under distribution shift.</a:t>
            </a:r>
          </a:p>
          <a:p>
            <a:pPr/>
            <a:r>
              <a:rPr sz="1700"/>
              <a:t>Neither of those has been checked outside physics simulation. Discrete-event / queueing systems are a genuinely different kind of domain - discrete stochastic arrivals and departures, resource contention, priority queues - not a continuous PDE field. That's the gap this project sits 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Our Bridging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2240280"/>
            <a:ext cx="4037716" cy="4206240"/>
          </a:xfrm>
        </p:spPr>
        <p:txBody>
          <a:bodyPr wrap="square"/>
          <a:lstStyle/>
          <a:p>
            <a:pPr/>
            <a:r>
              <a:rPr sz="1500"/>
              <a:t>Addresses marginal coverage</a:t>
            </a:r>
          </a:p>
          <a:p>
            <a:pPr lvl="1"/>
            <a:r>
              <a:rPr sz="1300"/>
              <a:t>Mondrian CP partitions calibration by category - staffing tercile x arrival-rate tercile - instead of lumping everything into one marginal guarantee.</a:t>
            </a:r>
          </a:p>
          <a:p>
            <a:pPr lvl="1"/>
            <a:r>
              <a:rPr sz="1300"/>
              <a:t>Goal: coverage that holds up close to nominal within each category, not just on average.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7895" y="2240280"/>
            <a:ext cx="4037716" cy="4206240"/>
          </a:xfrm>
        </p:spPr>
        <p:txBody>
          <a:bodyPr wrap="square"/>
          <a:lstStyle/>
          <a:p>
            <a:pPr/>
            <a:r>
              <a:rPr sz="1500"/>
              <a:t>Addresses exchangeability</a:t>
            </a:r>
          </a:p>
          <a:p>
            <a:pPr lvl="1"/>
            <a:r>
              <a:rPr sz="1300"/>
              <a:t>Phase 2 includes a stress test: an out-of-distribution "surge day" scenario outside the normal training range.</a:t>
            </a:r>
          </a:p>
          <a:p>
            <a:pPr lvl="1"/>
            <a:r>
              <a:rPr sz="1300"/>
              <a:t>That's where we actually get to see whether standard CP and Mondrian CP hold up or break when exchangeability is violated.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4/10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404040"/>
                </a:solidFill>
              </a:rPr>
              <a:t>Core idea: apply CP, specifically Mondrian CP, to an ER queueing surrogate, and test directly whether Gopakumar et al.'s two limitations hold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Methodology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377440" cy="1188720"/>
          </a:xfrm>
          <a:prstGeom prst="rect">
            <a:avLst/>
          </a:prstGeom>
          <a:noFill/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Discrete-Event
Simulation</a:t>
            </a:r>
          </a:p>
          <a:p>
            <a:pPr algn="ctr"/>
            <a:r>
              <a:rPr sz="1050">
                <a:solidFill>
                  <a:srgbClr val="404040"/>
                </a:solidFill>
              </a:rPr>
              <a:t>SimPy, calibrated on
real 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103120"/>
            <a:ext cx="2377440" cy="1188720"/>
          </a:xfrm>
          <a:prstGeom prst="rect">
            <a:avLst/>
          </a:prstGeom>
          <a:noFill/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Surrogate Model</a:t>
            </a:r>
          </a:p>
          <a:p>
            <a:pPr algn="ctr"/>
            <a:r>
              <a:rPr sz="1050">
                <a:solidFill>
                  <a:srgbClr val="404040"/>
                </a:solidFill>
              </a:rPr>
              <a:t>Gradient boosting on the
DES scenario sweep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103120"/>
            <a:ext cx="2377440" cy="1188720"/>
          </a:xfrm>
          <a:prstGeom prst="rect">
            <a:avLst/>
          </a:prstGeom>
          <a:noFill/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Uncertainty
Quantification</a:t>
            </a:r>
          </a:p>
          <a:p>
            <a:pPr algn="ctr"/>
            <a:r>
              <a:rPr sz="1050">
                <a:solidFill>
                  <a:srgbClr val="404040"/>
                </a:solidFill>
              </a:rPr>
              <a:t>GP baseline vs.
standard CP vs. Mondrian 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697480"/>
            <a:ext cx="54864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697480"/>
            <a:ext cx="54864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657600"/>
            <a:ext cx="8229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400"/>
              <a:t>Each stage is checked against the previous one before moving on:</a:t>
            </a:r>
          </a:p>
          <a:p>
            <a:pPr/>
            <a:r>
              <a:rPr sz="1500"/>
              <a:t>- DES output checked against real aggregated ED stats (91.0% match on daily volume)</a:t>
            </a:r>
          </a:p>
          <a:p>
            <a:pPr/>
            <a:r>
              <a:rPr sz="1500"/>
              <a:t>- Surrogate accuracy checked against DES outputs held out from training (MAE / RMSE / R²)</a:t>
            </a:r>
          </a:p>
          <a:p>
            <a:pPr/>
            <a:r>
              <a:rPr sz="1500"/>
              <a:t>- All UQ methods use the same fixed test split and the same target coverage (alpha = 0.1), so GP, standard CP and Mondrian CP end up directly comparable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Real-World 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Hospital Triage and Patient History Data, Kaggle (maalona) - Yale New Haven Health System, retrospective, March 2014 to July 2017.</a:t>
            </a:r>
          </a:p>
          <a:p>
            <a:pPr/>
            <a:r>
              <a:rPr sz="1600"/>
              <a:t>560,486 ED visits total, 972 variables per visit, across 3 EDs (1 academic + 2 community). We calibrate on Department A only, the largest / academic site: 322,283 visits, ~258.2/day.</a:t>
            </a:r>
          </a:p>
          <a:p>
            <a:pPr/>
            <a:r>
              <a:rPr sz="1600"/>
              <a:t>Real vs. literature - kept separate on purpose, not blended silently:</a:t>
            </a:r>
          </a:p>
          <a:p>
            <a:pPr lvl="1"/>
            <a:r>
              <a:rPr sz="1600"/>
              <a:t>From the real data: arrival pattern by 4-hour bin, day of week, and month; ESI acuity mix; department-level daily visit rate.</a:t>
            </a:r>
          </a:p>
          <a:p>
            <a:pPr lvl="1"/>
            <a:r>
              <a:rPr sz="1600"/>
              <a:t>From literature: service/treatment time per ESI level (log-normal). The dataset has no discharge timestamp - checked across all 972 columns to be sure before falling back to literature values.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E40AF"/>
                </a:solidFill>
              </a:rPr>
              <a:t>Work Completed So Far (~50%)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7/10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39319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</a:tblGrid>
              <a:tr h="2514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DES validation (200 sim. days)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E40A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Real visits/day (Dept.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258.2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Simulated mean visits/day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235.1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91.0%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280160"/>
          <a:ext cx="3931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822960"/>
                <a:gridCol w="822960"/>
              </a:tblGrid>
              <a:tr h="28346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Surrogate target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n_patients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0.929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mean_wait_min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0.787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mean_total_min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0.762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p95_wait_min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0.647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1752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1920240"/>
                <a:gridCol w="2011680"/>
              </a:tblGrid>
              <a:tr h="31089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GP baseline (alpha = 0.1)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Target coverage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Empirical coverage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interval width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n_patients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39.3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mean_wait_minutes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43.6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mean_total_minutes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43.4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p95_wait_minutes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350.3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463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GP undercovers on 3 of 4 targets (87.7-88.8% vs. a 90% target) - not surprising, since it relies on distributional assumptions rather than a finite-sample guarantee. Whether CP / Mondrian CP close that gap is what Phase 2 is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E40AF"/>
                </a:solidFill>
              </a:rPr>
              <a:t>The Discrete-Event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8/10</a:t>
            </a:r>
          </a:p>
        </p:txBody>
      </p:sp>
      <p:pic>
        <p:nvPicPr>
          <p:cNvPr id="5" name="Picture 4" descr="real_arrival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87335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1772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SimPy discrete-event simulation of a single ED, calibrated directly on this real arrival pattern plus the real ESI acuity mix - not a generic queueing textbook example.</a:t>
            </a:r>
          </a:p>
          <a:p>
            <a:r>
              <a:rPr sz="1400"/>
              <a:t>Priority-resource pool: higher-acuity (lower ESI) patients get priority, matching real triage behavior.</a:t>
            </a:r>
          </a:p>
          <a:p>
            <a:r>
              <a:rPr sz="1400"/>
              <a:t>Validated against real aggregated daily volume: 91.0% match across 200 simulated days (previous slide) - the DES is the foundation everything downstream (surrogate, UQ) builds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Literature Review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Focused core review: 20 papers across 5 categories, 3 reviewed in depth (including Gopakumar et al. 2026), plus 10 real-dataset papers below.</a:t>
            </a:r>
          </a:p>
          <a:p>
            <a:pPr lvl="1"/>
            <a:r>
              <a:rPr sz="1500"/>
              <a:t>Conformal prediction foundations: 5 papers</a:t>
            </a:r>
          </a:p>
          <a:p>
            <a:pPr lvl="1"/>
            <a:r>
              <a:rPr sz="1500"/>
              <a:t>Mondrian / conditional-coverage CP: 4 papers</a:t>
            </a:r>
          </a:p>
          <a:p>
            <a:pPr lvl="1"/>
            <a:r>
              <a:rPr sz="1500"/>
              <a:t>Surrogate modeling &amp; uncertainty quantification: 4 papers</a:t>
            </a:r>
          </a:p>
          <a:p>
            <a:pPr lvl="1"/>
            <a:r>
              <a:rPr sz="1500"/>
              <a:t>Queueing theory &amp; ED operations research: 3 papers</a:t>
            </a:r>
          </a:p>
          <a:p>
            <a:pPr lvl="1"/>
            <a:r>
              <a:rPr sz="1500"/>
              <a:t>Discrete-event simulation &amp; ED-specific ML: 4 papers</a:t>
            </a:r>
          </a:p>
          <a:p>
            <a:pPr/>
            <a:r>
              <a:rPr sz="1500"/>
              <a:t>Plus 10 papers each reporting real ED service-time / length-of-stay data from their own hospital datasets, used to cross-check this project's own DES calibration numerically, not just cite them.</a:t>
            </a:r>
          </a:p>
          <a:p>
            <a:pPr/>
            <a:r>
              <a:rPr sz="1500"/>
              <a:t>Includes a critical assessment: where the reviewed literature's own assumptions do or don't transfer to a discrete-event queueing domain.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40AF"/>
                </a:solidFill>
              </a:rPr>
              <a:t>Future Scope - End-Sem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Standard conformal prediction on surrogate residuals, using the DES/surrogate pipeline already built and validated in Phase 1.</a:t>
            </a:r>
          </a:p>
          <a:p>
            <a:pPr/>
            <a:r>
              <a:rPr sz="1800"/>
              <a:t>Mondrian CP - partition calibration by staffing tercile x arrival-rate tercile (9 categories); measure whether per-category coverage holds where the pooled/marginal guarantee doesn't.</a:t>
            </a:r>
          </a:p>
          <a:p>
            <a:pPr/>
            <a:r>
              <a:rPr sz="1800"/>
              <a:t>Stress-test exchangeability with an out-of-distribution demand-surge scenario; see where standard CP and Mondrian CP hold up or break down.</a:t>
            </a:r>
          </a:p>
          <a:p>
            <a:pPr/>
            <a:r>
              <a:rPr sz="1800"/>
              <a:t>Full comparison - GP baseline vs. standard CP vs. Mondrian CP on coverage and interval width.</a:t>
            </a:r>
          </a:p>
          <a:p>
            <a:pPr/>
            <a:r>
              <a:rPr sz="1800"/>
              <a:t>End-sem PPT and report: a quantified answer on whether Mondrian CP closes the marginal-vs-conditional coverage gap in this domain.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128016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23AID201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