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 b="1">
                <a:solidFill>
                  <a:srgbClr val="FFFFFF"/>
                </a:solidFill>
              </a:rPr>
              <a:t>Mondrian Conformal Prediction for Uncertainty Quantification</a:t>
            </a:r>
          </a:p>
          <a:p>
            <a:r>
              <a:rPr sz="2600" b="1">
                <a:solidFill>
                  <a:srgbClr val="FFFFFF"/>
                </a:solidFill>
              </a:rPr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>
                <a:solidFill>
                  <a:srgbClr val="93C5FD"/>
                </a:solidFill>
              </a:rPr>
              <a:t>Mid-Semester Review</a:t>
            </a:r>
          </a:p>
          <a:p/>
          <a:p>
            <a:r>
              <a:rPr sz="1600">
                <a:solidFill>
                  <a:srgbClr val="93C5FD"/>
                </a:solidFill>
              </a:rPr>
              <a:t>G Venugopalan (CB.AI.U4AID25115)</a:t>
            </a:r>
          </a:p>
          <a:p>
            <a:r>
              <a:rPr sz="1600">
                <a:solidFill>
                  <a:srgbClr val="93C5FD"/>
                </a:solidFill>
              </a:rPr>
              <a:t>Vipin Sudhakar (CB.AI.U4AID25166)</a:t>
            </a:r>
          </a:p>
          <a:p>
            <a:r>
              <a:rPr sz="1600">
                <a:solidFill>
                  <a:srgbClr val="93C5FD"/>
                </a:solidFill>
              </a:rPr>
              <a:t>Rithvik Arulprakash (CB.AI.U4AID25148)</a:t>
            </a:r>
          </a:p>
          <a:p>
            <a:r>
              <a:rPr sz="1600">
                <a:solidFill>
                  <a:srgbClr val="93C5FD"/>
                </a:solidFill>
              </a:rPr>
              <a:t>Harshith Kv (CB.AI.U4AID25119)</a:t>
            </a:r>
          </a:p>
          <a:p/>
          <a:p>
            <a:r>
              <a:rPr sz="1600">
                <a:solidFill>
                  <a:srgbClr val="93C5FD"/>
                </a:solidFill>
              </a:rPr>
              <a:t>Course: 23AID201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88920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1. Problem Statement</a:t>
            </a:r>
          </a:p>
          <a:p>
            <a:pPr/>
            <a:r>
              <a:rPr sz="1800"/>
              <a:t>2. Research Gap</a:t>
            </a:r>
          </a:p>
          <a:p>
            <a:pPr/>
            <a:r>
              <a:rPr sz="1800"/>
              <a:t>3. Why Marginal Coverage Isn't Enough (concept)</a:t>
            </a:r>
          </a:p>
          <a:p>
            <a:pPr/>
            <a:r>
              <a:rPr sz="1800"/>
              <a:t>4. Our Bridging Approach</a:t>
            </a:r>
          </a:p>
          <a:p>
            <a:pPr/>
            <a:r>
              <a:rPr sz="1800"/>
              <a:t>5. The Mondrian Partition (concept)</a:t>
            </a:r>
          </a:p>
          <a:p>
            <a:pPr/>
            <a:r>
              <a:rPr sz="1800"/>
              <a:t>6. Methodology Overview</a:t>
            </a:r>
          </a:p>
          <a:p>
            <a:pPr/>
            <a:r>
              <a:rPr sz="1800"/>
              <a:t>7. Real-World Data Used</a:t>
            </a:r>
          </a:p>
          <a:p>
            <a:pPr/>
            <a:r>
              <a:rPr sz="1800"/>
              <a:t>8. Work Completed So Far (~50%)</a:t>
            </a:r>
          </a:p>
          <a:p>
            <a:pPr/>
            <a:r>
              <a:rPr sz="1800"/>
              <a:t>9. The Discrete-Event Simulation</a:t>
            </a:r>
          </a:p>
          <a:p>
            <a:pPr/>
            <a:r>
              <a:rPr sz="1800"/>
              <a:t>10. Literature Review Snapshot</a:t>
            </a:r>
          </a:p>
          <a:p>
            <a:pPr/>
            <a:r>
              <a:rPr sz="1800"/>
              <a:t>11. Future Scope - End-Sem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700"/>
              <a:t>They call out two limitations explicitly:</a:t>
            </a:r>
          </a:p>
          <a:p>
            <a:pPr lvl="1"/>
            <a:r>
              <a:rPr sz="17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700"/>
              <a:t>An exchangeability assumption between calibration and test data, which they don't test under distribution shift.</a:t>
            </a:r>
          </a:p>
          <a:p>
            <a:pPr/>
            <a:r>
              <a:rPr sz="17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000">
                <a:solidFill>
                  <a:srgbClr val="1E40AF"/>
                </a:solidFill>
              </a:rPr>
              <a:t>Why Marginal Coverage Isn't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5/13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2240280"/>
            <a:ext cx="685800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60920" y="21031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0392B"/>
                </a:solidFill>
              </a:rPr>
              <a:t>90%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52421"/>
            <a:ext cx="1280160" cy="2211019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Category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5981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93%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2499970"/>
            <a:ext cx="1280160" cy="216347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470916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Category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20736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91%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23744"/>
            <a:ext cx="1280160" cy="2139696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470916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Category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31136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90%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3046781"/>
            <a:ext cx="1280160" cy="161665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470916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/>
              <a:t>Category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754173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6636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B7280"/>
                </a:solidFill>
              </a:rPr>
              <a:t>Illustrative concept, not this project's own results (those come in Phase 2) - a generic 4-category example of why a single marginal (pooled) coverage number can mislead.</a:t>
            </a:r>
          </a:p>
          <a:p>
            <a:r>
              <a:rPr sz="1300"/>
              <a:t>Marginal average across all 4 categories here = 90.5% - looks like the target is met.</a:t>
            </a:r>
          </a:p>
          <a:p>
            <a:r>
              <a:rPr sz="1300"/>
              <a:t>But Category D alone sits at 68% - a decision-maker relying only on the marginal number would never see this specific failure.</a:t>
            </a:r>
          </a:p>
          <a:p>
            <a:r>
              <a:rPr sz="1300"/>
              <a:t>This is exactly the gap Mondrian CP (per-category calibration) is designed to close - Phase 2's job.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800"/>
              <a:t>Addresses marginal coverage</a:t>
            </a:r>
          </a:p>
          <a:p>
            <a:pPr lvl="1"/>
            <a:r>
              <a:rPr sz="1600"/>
              <a:t>Mondrian CP partitions calibration by category - staffing tercile x arrival-rate tercile - instead of lumping everything into one marginal guarantee.</a:t>
            </a:r>
          </a:p>
          <a:p>
            <a:pPr lvl="1"/>
            <a:r>
              <a:rPr sz="1600"/>
              <a:t>Goal: coverage that holds up close to nominal within each category, not just on average.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800"/>
              <a:t>Addresses exchangeability</a:t>
            </a:r>
          </a:p>
          <a:p>
            <a:pPr lvl="1"/>
            <a:r>
              <a:rPr sz="1600"/>
              <a:t>Phase 2 includes a stress test: an out-of-distribution "surge day" scenario outside the normal training range.</a:t>
            </a:r>
          </a:p>
          <a:p>
            <a:pPr lvl="1"/>
            <a:r>
              <a:rPr sz="1600"/>
              <a:t>That's where we actually get to see whether standard CP and Mondrian CP hold up or break when exchangeability is violated.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The Mondrian Partition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7/13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131820" y="169164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1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staff=High
arrival=Low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1940" y="169164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2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staff=High
arrival=Med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52060" y="169164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3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staff=High
arrival=High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1820" y="2651760"/>
            <a:ext cx="960120" cy="960120"/>
          </a:xfrm>
          <a:prstGeom prst="rect">
            <a:avLst/>
          </a:prstGeom>
          <a:solidFill>
            <a:srgbClr val="FDEEE6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4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staff=Med
arrival=Low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4091940" y="265176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5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staff=Med
arrival=Med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52060" y="265176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6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staff=Med
arrival=High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1820" y="361188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7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staff=Low
arrival=Low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91940" y="361188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8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staff=Low
arrival=Med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2060" y="3611880"/>
            <a:ext cx="960120" cy="960120"/>
          </a:xfrm>
          <a:prstGeom prst="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40AF"/>
                </a:solidFill>
              </a:rPr>
              <a:t>Category 9</a:t>
            </a:r>
          </a:p>
          <a:p>
            <a:pPr algn="ctr"/>
            <a:r>
              <a:rPr sz="900">
                <a:solidFill>
                  <a:srgbClr val="404040"/>
                </a:solidFill>
              </a:rPr>
              <a:t>staff=Low
arrival=High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" y="267462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/>
              <a:t>Staffing</a:t>
            </a:r>
          </a:p>
          <a:p>
            <a:pPr algn="ctr"/>
            <a:r>
              <a:rPr sz="1300" b="1"/>
              <a:t>tercile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1820" y="1188720"/>
            <a:ext cx="2880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Arrival-rate tercile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920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9 categories total - every scenario falls into exactly one, based on its own staffing level and arrival-rate multiplier.</a:t>
            </a:r>
          </a:p>
          <a:p>
            <a:r>
              <a:rPr sz="1400"/>
              <a:t>Mondrian CP calibrates a separate quantile within each category, instead of one pooled quantile across all 9.</a:t>
            </a:r>
          </a:p>
          <a:p>
            <a:r>
              <a:rPr sz="1400"/>
              <a:t>Category 4 (staff=Med, arrival=Low - highlighted) is a comparatively low-stress cell; the opposite corner (staff=Low, arrival=High) is the one Slide 5's concept diagram flags as the highest-risk category.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8/13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3657600"/>
            <a:ext cx="8229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400"/>
              <a:t>Each stage is checked against the previous one before moving on:</a:t>
            </a:r>
          </a:p>
          <a:p>
            <a:pPr/>
            <a:r>
              <a:rPr sz="1500"/>
              <a:t>- DES output checked against real aggregated ED stats (91.0% match on daily volume)</a:t>
            </a:r>
          </a:p>
          <a:p>
            <a:pPr/>
            <a:r>
              <a:rPr sz="1500"/>
              <a:t>- Surrogate accuracy checked against DES outputs held out from training (MAE / RMSE / R²)</a:t>
            </a:r>
          </a:p>
          <a:p>
            <a:pPr/>
            <a:r>
              <a:rPr sz="1500"/>
              <a:t>- All UQ methods use the same fixed test split and the same target coverage (alpha = 0.1), so GP, standard CP and Mondrian CP end up directly comparable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Hospital Triage and Patient History Data, Kaggle (maalona) - Yale New Haven Health System, retrospective, March 2014 to July 2017.</a:t>
            </a:r>
          </a:p>
          <a:p>
            <a:pPr/>
            <a:r>
              <a:rPr sz="16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600"/>
              <a:t>Real vs. literature - kept separate on purpose, not blended silently:</a:t>
            </a:r>
          </a:p>
          <a:p>
            <a:pPr lvl="1"/>
            <a:r>
              <a:rPr sz="16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6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Work Completed So Far (~50%)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10/13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DES validation (200 sim. days)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E40A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Surrogate target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GP baseline (alpha = 0.1)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Target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Empirical coverage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interval width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Whether CP / Mondrian CP close that gap is what Phase 2 is for.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E40AF"/>
                </a:solidFill>
              </a:rPr>
              <a:t>The Discrete-Event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11/13</a:t>
            </a:r>
          </a:p>
        </p:txBody>
      </p:sp>
      <p:pic>
        <p:nvPicPr>
          <p:cNvPr id="5" name="Picture 4" descr="real_arrival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68733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SimPy discrete-event simulation of a single ED, calibrated directly on this real arrival pattern plus the real ESI acuity mix - not a generic queueing textbook example.</a:t>
            </a:r>
          </a:p>
          <a:p>
            <a:r>
              <a:rPr sz="1400"/>
              <a:t>Priority-resource pool: higher-acuity (lower ESI) patients get priority, matching real triage behavior.</a:t>
            </a:r>
          </a:p>
          <a:p>
            <a:r>
              <a:rPr sz="1400"/>
              <a:t>Validated against real aggregated daily volume: 91.0% match across 200 simulated days (previous slide) - the DES is the foundation everything downstream (surrogate, UQ) builds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500"/>
              <a:t>Focused core review: 20 papers across 5 categories, 3 reviewed in depth (including Gopakumar et al. 2026), plus 10 real-dataset papers below.</a:t>
            </a:r>
          </a:p>
          <a:p>
            <a:pPr lvl="1"/>
            <a:r>
              <a:rPr sz="1500"/>
              <a:t>Conformal prediction foundations: 5 papers</a:t>
            </a:r>
          </a:p>
          <a:p>
            <a:pPr lvl="1"/>
            <a:r>
              <a:rPr sz="1500"/>
              <a:t>Mondrian / conditional-coverage CP: 4 papers</a:t>
            </a:r>
          </a:p>
          <a:p>
            <a:pPr lvl="1"/>
            <a:r>
              <a:rPr sz="1500"/>
              <a:t>Surrogate modeling &amp; uncertainty quantification: 4 papers</a:t>
            </a:r>
          </a:p>
          <a:p>
            <a:pPr lvl="1"/>
            <a:r>
              <a:rPr sz="1500"/>
              <a:t>Queueing theory &amp; ED operations research: 3 papers</a:t>
            </a:r>
          </a:p>
          <a:p>
            <a:pPr lvl="1"/>
            <a:r>
              <a:rPr sz="1500"/>
              <a:t>Discrete-event simulation &amp; ED-specific ML: 4 papers</a:t>
            </a:r>
          </a:p>
          <a:p>
            <a:pPr/>
            <a:r>
              <a:rPr sz="1500"/>
              <a:t>Plus 10 papers each reporting real ED service-time / length-of-stay data from their own hospital datasets, used to cross-check this project's own DES calibration numerically, not just cite them.</a:t>
            </a:r>
          </a:p>
          <a:p>
            <a:pPr/>
            <a:r>
              <a:rPr sz="1500"/>
              <a:t>Includes a critical assessment: where the reviewed literature's own assumptions do or don't transfer to a discrete-event queueing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40AF"/>
                </a:solidFill>
              </a:rPr>
              <a:t>Future Scope - End-Sem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Standard conformal prediction on surrogate residuals, using the DES/surrogate pipeline already built and validated in Phase 1.</a:t>
            </a:r>
          </a:p>
          <a:p>
            <a:pPr/>
            <a:r>
              <a:rPr sz="1800"/>
              <a:t>Mondrian CP - partition calibration by staffing tercile x arrival-rate tercile (9 categories); measure whether per-category coverage holds where the pooled/marginal guarantee doesn't.</a:t>
            </a:r>
          </a:p>
          <a:p>
            <a:pPr/>
            <a:r>
              <a:rPr sz="1800"/>
              <a:t>Stress-test exchangeability with an out-of-distribution demand-surge scenario; see where standard CP and Mondrian CP hold up or break down.</a:t>
            </a:r>
          </a:p>
          <a:p>
            <a:pPr/>
            <a:r>
              <a:rPr sz="1800"/>
              <a:t>Full comparison - GP baseline vs. standard CP vs. Mondrian CP on coverage and interval width.</a:t>
            </a:r>
          </a:p>
          <a:p>
            <a:pPr/>
            <a:r>
              <a:rPr sz="1800"/>
              <a:t>End-sem PPT and report: a quantified answer on whether Mondrian CP closes the marginal-vs-conditional coverage gap in this domain.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70432"/>
            <a:ext cx="1280160" cy="444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64465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</a:rPr>
              <a:t>23AID201  ·  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