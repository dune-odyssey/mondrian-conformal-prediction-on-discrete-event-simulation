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Mondrian Conformal Prediction for Uncertainty</a:t>
            </a:r>
          </a:p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Quantification in ER Discrete-Event Simulation Surrogates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93C5FD"/>
                </a:solidFill>
                <a:latin typeface="Calibri"/>
              </a:rPr>
              <a:t>Full Project Results (through Week 15)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9204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G Venugopalan (CB.AI.U4AID25115)   |   Vipin Sudhakar (CB.AI.U4AID25166)   |   Rithvik Arulprakash (CB.AI.U4AID25148)   |   Harshith Kv (CB.AI.U4AID25119)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93C5FD"/>
                </a:solidFill>
                <a:latin typeface="Calibri"/>
              </a:rPr>
              <a:t>Course: 23AID201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2238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•  Surrogate models are fast, learned approximations of expensive simulations, increasingly used to guide decisions in stochastic service systems - ER staffing, queueing networks, etc.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•  A point prediction alone isn't enough for a decision like "will adding 2 more doctors bring wait time down enough?" - that needs a calibrated interval, not just a number.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•  Gaussian Processes are the established way to get one, but are expensive to train and rely on distributional assumptions rather than a finite-sample guarantee.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•  Conformal Prediction (CP) is distribution-free with a finite-sample coverage guarantee and is cheap to calibrate - but it's only been validated for surrogate models in a narrow set of domains so far.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2238"/>
                </a:solidFill>
                <a:latin typeface="Calibri"/>
              </a:rPr>
              <a:t>Research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2937"/>
                </a:solidFill>
                <a:latin typeface="Calibri"/>
              </a:rPr>
              <a:t>Gopakumar et al. (2026) validate Conformal Prediction for surrogate-model UQ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40AF"/>
                </a:solidFill>
                <a:latin typeface="Calibri"/>
              </a:rPr>
              <a:t>but only in physics domains: PDEs, magnetohydrodynamics (MHD), weather, fusion.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10881360" cy="18288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Calibri"/>
              </a:rPr>
              <a:t>The paper states two explicit limitations: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 Marginal coverage only — no guarantee of coverage within specific subgroups/conditions.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 Relies on an exchangeability assumption between calibration and test data — untested under distribution shift.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00600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F2937"/>
                </a:solidFill>
                <a:latin typeface="Calibri"/>
              </a:rPr>
              <a:t>Neither limitation has been tested outside physics simulation. Discrete-event / queueing systems are a fundamentally different domain — stochastic discrete arrivals and departures, resource contention, priority scheduling — not continuous PDE fields. This is the gap this project sits 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2238"/>
                </a:solidFill>
                <a:latin typeface="Calibri"/>
              </a:rPr>
              <a:t>Why Mondrian CP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5212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5212080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18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The problem with standard 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Standard CP calibrates one pooled quantile across every scenario in the calibration set — only guarantees coverage on average.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A pooled interval is calibrated on average difficulty, so it can badly fail exactly the scenarios that matter most (understaffed + high demand), while wasting width on easy ones (overstaffed + low demand).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Averaged coverage can look fine while specific operating conditions quietly fail.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508760"/>
            <a:ext cx="5212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508760"/>
            <a:ext cx="5212080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18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What Mondrian CP does about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Calibrates a separate quantile per category — here, staffing tercile x arrival-rate tercile — instead of one pooled quantile.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Each category gets its own, individually honest coverage guarantee instead of borrowing strength from categories that don't resemble it.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Directly targets Gopakumar et al.'s marginal-coverage limitation — the first place it's been tested outside physics simulation.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2238"/>
                </a:solidFill>
                <a:latin typeface="Calibri"/>
              </a:rPr>
              <a:t>Methodology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68880"/>
            <a:ext cx="2880360" cy="1371600"/>
          </a:xfrm>
          <a:prstGeom prst="roundRect">
            <a:avLst>
              <a:gd name="adj" fmla="val 8000"/>
            </a:avLst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Discrete-Event
Simulation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SimPy, calibrated on real ED data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383280" y="2971800"/>
            <a:ext cx="502920" cy="36576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86200" y="2468880"/>
            <a:ext cx="2880360" cy="1371600"/>
          </a:xfrm>
          <a:prstGeom prst="roundRect">
            <a:avLst>
              <a:gd name="adj" fmla="val 8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Surrogate Model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Gradient boosting, trained on
DES scenario sweep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766560" y="2971800"/>
            <a:ext cx="502920" cy="36576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69480" y="2468880"/>
            <a:ext cx="2880360" cy="13716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Uncertainty
Quantification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GP baseline vs. Standard CP
vs. Mondrian 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Each stage validated against the previous before moving 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DES output validated against real aggregated ED statistics (91.0% match to real daily volume).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Surrogate accuracy validated against DES outputs held out from training (MAE / RMSE / R²).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GP baseline, standard CP, Mondrian CP all evaluated on the same fixed test split and target coverage (α = 0.1), so every method is directly comparable.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Standard/Mondrian CP calibrated on a separate 1200-scenario set — never the surrogate's own training data, since reusing training residuals would understate the true residual spread.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2238"/>
                </a:solidFill>
                <a:latin typeface="Calibri"/>
              </a:rPr>
              <a:t>Real-World Data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238"/>
                </a:solidFill>
                <a:latin typeface="Calibri"/>
              </a:rPr>
              <a:t>Hospital Triage and Patient History Data (Kaggle, maalona)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Yale New Haven Health System, retrospective study, March 2014 – July 2017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2606040" cy="1051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E40AF"/>
                </a:solidFill>
                <a:latin typeface="Calibri"/>
              </a:rPr>
              <a:t>560,486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total ED visits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514600"/>
            <a:ext cx="2606040" cy="1051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2606040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E40AF"/>
                </a:solidFill>
                <a:latin typeface="Calibri"/>
              </a:rPr>
              <a:t>972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108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variables per visit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514600"/>
            <a:ext cx="2606040" cy="1051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606040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E40A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108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EDs (1 academic + 2 community)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32520" y="2514600"/>
            <a:ext cx="2606040" cy="1051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606040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E40AF"/>
                </a:solidFill>
                <a:latin typeface="Calibri"/>
              </a:rPr>
              <a:t>258.2 / 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108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calibrated rate, Dept.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86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Calibri"/>
              </a:rPr>
              <a:t>What we extracted — real vs. literature-calibrated (disclosed explicitly, not blended silently):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343400"/>
            <a:ext cx="530352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4348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A34A"/>
                </a:solidFill>
                <a:latin typeface="Calibri"/>
              </a:rPr>
              <a:t>From real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75488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  <a:latin typeface="Calibri"/>
              </a:rPr>
              <a:t>•  Arrival pattern by 4-hour bin, day of week, month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  <a:latin typeface="Calibri"/>
              </a:rPr>
              <a:t>•  ESI acuity mix (triage severity distribution)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  <a:latin typeface="Calibri"/>
              </a:rPr>
              <a:t>•  Department-level daily visit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343400"/>
            <a:ext cx="54406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44348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From literature (not in dataset)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75488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  <a:latin typeface="Calibri"/>
              </a:rPr>
              <a:t>•  Service/treatment time per ESI level (log-normal)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  <a:latin typeface="Calibri"/>
              </a:rPr>
              <a:t>•  Dataset has no discharge timestamp — confirmed by</a:t>
            </a:r>
          </a:p>
          <a:p>
            <a:pPr lvl="1">
              <a:spcAft>
                <a:spcPts val="6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‒  exhaustive search across all 972 columns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2238"/>
                </a:solidFill>
                <a:latin typeface="Calibri"/>
              </a:rPr>
              <a:t>DES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7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45920"/>
          <a:ext cx="10881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0"/>
                <a:gridCol w="310896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Metric (200 simulated days)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2937"/>
                          </a:solidFill>
                        </a:rPr>
                        <a:t>Real visits/day (Dept. A)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F2937"/>
                          </a:solidFill>
                        </a:rPr>
                        <a:t>258.2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2937"/>
                          </a:solidFill>
                        </a:rPr>
                        <a:t>Simulated mean visits/day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F2937"/>
                          </a:solidFill>
                        </a:rPr>
                        <a:t>235.1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2937"/>
                          </a:solidFill>
                        </a:rPr>
                        <a:t>Match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F2937"/>
                          </a:solidFill>
                        </a:rPr>
                        <a:t>91.0%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566160"/>
            <a:ext cx="10881360" cy="1554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49039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The ~9% shortfall is expected, not a calibration flaw: patients still queued when a simulated 24h day ends are right-censored out of that day's stats rather than carried into a "next day," since each run is meant to be one independent sample for surrogate training, not a continuous rollout. This censoring effect resurfaces later in the exchangeability stress test (Slide 13).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2238"/>
                </a:solidFill>
                <a:latin typeface="Calibri"/>
              </a:rPr>
              <a:t>Surrogate Model Accuracy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8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45920"/>
          <a:ext cx="10881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2286000"/>
                <a:gridCol w="219456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937"/>
                          </a:solidFill>
                        </a:rPr>
                        <a:t>n_patients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9.90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12.59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0.929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937"/>
                          </a:solidFill>
                        </a:rPr>
                        <a:t>mean_wait_minutes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8.86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13.23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0.787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937"/>
                          </a:solidFill>
                        </a:rPr>
                        <a:t>mean_total_minutes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9.88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13.61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0.762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937"/>
                          </a:solidFill>
                        </a:rPr>
                        <a:t>p95_wait_minutes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66.94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102.47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0.647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931920"/>
            <a:ext cx="10881360" cy="17373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Gradient boosting (HistGradientBoostingRegressor), trained on 5000 DES scenarios sweeping staffing and arrival-rate combinations. p95_wait_minutes fits worst — a tail statistic from one noisy simulated day depends heavily on the specific stochastic realization, not just the two scenario parameters. This matters later in the exchangeability stress test.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2238"/>
                </a:solidFill>
                <a:latin typeface="Calibri"/>
              </a:rPr>
              <a:t>GP Baseline (the benchmark)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9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45920"/>
          <a:ext cx="10881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468880"/>
                <a:gridCol w="2468880"/>
                <a:gridCol w="237744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Target coverage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Empirical coverage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Mean width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937"/>
                          </a:solidFill>
                        </a:rPr>
                        <a:t>n_patients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90%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88.5%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39.3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937"/>
                          </a:solidFill>
                        </a:rPr>
                        <a:t>mean_wait_minutes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90%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87.7%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43.6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937"/>
                          </a:solidFill>
                        </a:rPr>
                        <a:t>mean_total_minutes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90%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88.8%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43.4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937"/>
                          </a:solidFill>
                        </a:rPr>
                        <a:t>p95_wait_minutes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90%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90.1%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937"/>
                          </a:solidFill>
                        </a:rPr>
                        <a:t>350.3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931920"/>
            <a:ext cx="10881360" cy="11887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GP undercovers on 3 of 4 targets — expected, since it relies on distributional assumptions rather than a finite-sample guarantee. This is the gap the rest of the project tests whether CP / Mondrian CP can close.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2238"/>
                </a:solidFill>
                <a:latin typeface="Calibri"/>
              </a:rPr>
              <a:t>Standard Conformal Prediction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10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45920"/>
          <a:ext cx="10881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965960"/>
                <a:gridCol w="1965960"/>
                <a:gridCol w="1965960"/>
                <a:gridCol w="196596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Sym. coverage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Sym. width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Asym. coverage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Asym. width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n_patients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92.1%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43.6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92.0%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43.6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mean_wait_minutes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89.0%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47.2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88.7%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47.2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mean_total_minutes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90.2%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46.4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89.6%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47.2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p95_wait_minutes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90.8%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362.9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89.7%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355.6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931920"/>
            <a:ext cx="10881360" cy="17373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Two nonconformity measures tested: symmetric |y − yhat|, and an asymmetric version using separate upper/lower residual quantiles for skewed targets. CP already lands closer to the 90% target than GP, with no systematic undercoverage bias — but it's still a single pooled quantile, so it only guarantees coverage on average, not within any specific scenario.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RESULTS — CORE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B2238"/>
                </a:solidFill>
                <a:latin typeface="Calibri"/>
              </a:rPr>
              <a:t>Mondrian CP Closes the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11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54480"/>
          <a:ext cx="10881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651760"/>
                <a:gridCol w="219456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Pooled coverage</a:t>
                      </a:r>
                    </a:p>
                    <a:p>
                      <a:r>
                        <a:t>(staff=Low / arrival=High)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Mondrian coverage</a:t>
                      </a:r>
                    </a:p>
                    <a:p>
                      <a:r>
                        <a:t>(same category)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mean_wait_minutes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68.2%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90.9%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90%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mean_total_minutes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80.7%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92.0%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90%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p95_wait_minutes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72.7%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92.0%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90%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337560"/>
            <a:ext cx="10881360" cy="32461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103327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The worst pooled-CP category is consistently staff=Low/arrival=High — understaffed during a demand surge, the scenario that matters most operationally. A pooled quantile is calibrated on average difficulty, so it silently fails exactly this scenario while overcovering the easy one (staff=High/arrival=Low hits 100% pooled coverage — wasted width). Mondrian gives the hard category an honestly wider interval instead of pretending it's as easy as the rest.</a:t>
            </a:r>
          </a:p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n_patients is the one target where Mondrian does not help — its pooled coverage was already fairly uniform across categories (87–99%), so there was no real conditional gap to fix, and splitting into 9 smaller calibration cells just adds finite-sample noise. That's an honest, expected Mondrian CP tradeoff, not a failure.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2238"/>
                </a:solidFill>
                <a:latin typeface="Calibri"/>
              </a:rPr>
              <a:t>GP vs. Standard CP vs. Mondrian CP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12 / 16</a:t>
            </a:r>
          </a:p>
        </p:txBody>
      </p:sp>
      <p:pic>
        <p:nvPicPr>
          <p:cNvPr id="7" name="Picture 6" descr="ful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881360" cy="3264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9788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CP calibrates ~650–1000x faster than GP (~0.01s vs. 7–11.5s). Mondrian CP's marginal coverage matches or beats standard CP's despite ~9x smaller per-category calibration slices, and is also usually narrower — pooling was wasting width in easy categories.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2238"/>
                </a:solidFill>
                <a:latin typeface="Calibri"/>
              </a:rPr>
              <a:t>Exchangeability Stress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13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94560"/>
                <a:gridCol w="2194560"/>
                <a:gridCol w="2194560"/>
                <a:gridCol w="219456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Arrival multiplier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n_patients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mean_wait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mean_total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p95_wait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1.3 (in range)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93.3%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83.0%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88.0%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82.0%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1.5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78.7%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68.7%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73.7%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69.7%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1.8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70.3%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42.7%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47.3%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43.0%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2.0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64.7%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34.3%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39.0%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33.0%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3.0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31.7%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12.3%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4.7%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78.3%*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520440"/>
            <a:ext cx="10881360" cy="30632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32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Standard CP shown (Mondrian tracks closely). Root cause, verified directly: the gradient-boosting surrogate cannot extrapolate past its training range — mean_wait_minutes's prediction is frozen at 42.4 for every multiplier from 1.3 to 3.0 while the true value keeps climbing.</a:t>
            </a:r>
          </a:p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*p95_wait's apparent recovery at 3.0x isn't the interval working — it's the Slide 7 day-boundary censoring effect getting worse at extreme overload (fewer patients finish within a day, shrinking the completed-visit pool the p95 is computed over).</a:t>
            </a:r>
          </a:p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Both stated Gopakumar et al. limitations are now tested in this domain.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2238"/>
                </a:solidFill>
                <a:latin typeface="Calibri"/>
              </a:rPr>
              <a:t>What We Accomplished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Built and validated an ER discrete-event simulation (SimPy) calibrated on real hospital arrival data — 91.0% match to real daily patient volume.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Generated a 5000-scenario training sweep and trained a surrogate model with strong accuracy on 3 of 4 targets (R² 0.76–0.93).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Implemented a GP baseline, standard conformal prediction (two nonconformity measures), and Mondrian conformal prediction, all evaluated on the same test split and target coverage.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Demonstrated Mondrian CP closing a real marginal-vs-conditional coverage gap (68–81% pooled coverage in the hardest category, corrected to 91–92%), and quantified where it doesn't help.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Ran an exchangeability stress test across 8 severity levels and root-caused the coverage collapse to a specific, verified mechanism, not just "it broke."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Full head-to-head comparison of all three UQ methods on coverage, interval width, and computation time.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B2238"/>
                </a:solidFill>
                <a:latin typeface="Calibri"/>
              </a:rPr>
              <a:t>Did We Meet Our Novelty Target?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F2937"/>
                </a:solidFill>
                <a:latin typeface="Calibri"/>
              </a:rPr>
              <a:t>The claim was to test Gopakumar et al. (2026)'s two stated CP limitations — marginal coverage, exchangeability — outside the physics domains they validated CP in, using a discrete-event / queueing simulation surrogate instead.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10881360" cy="21031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 Marginal coverage limitation: tested. Mondrian CP closes the gap where a real gap exists (3 of 4 targets), and the one target where it doesn't help is explained, not hidden.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 Exchangeability limitation: tested. Confirmed it breaks down outside the training distribution, with a specific, verified root cause rather than a generic "performance degrades" statement.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A34A"/>
                </a:solidFill>
                <a:latin typeface="Calibri"/>
              </a:rPr>
              <a:t>Yes — both limitations were tested in a domain they hadn't been tested in before, with concrete, quantified answers for each, not just a replication of the base paper's physics-domain results.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HONESTY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2238"/>
                </a:solidFill>
                <a:latin typeface="Calibri"/>
              </a:rPr>
              <a:t>Limitations &amp; What's Left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Service/treatment time is literature-calibrated, not derived from the dataset — the dataset has no discharge timestamp. Disclosed explicitly throughout, not blended silently into the "real data" story.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Calibrated on one department (the largest/academic site) of one health system — generalization to other hospitals or EDs is untested.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The exchangeability breakdown is partly a surrogate-model artifact (tree-based extrapolation), not purely a CP phenomenon — a different surrogate architecture might behave differently OOD.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Literature review (30 papers, 3 in depth) still in progress.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This is a working results deck, not the final end-sem PPT — that will follow the instructor's specific guidelines once shared.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