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989320"/>
            <a:ext cx="12191695"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88720"/>
            <a:ext cx="10332720" cy="1828800"/>
          </a:xfrm>
          <a:prstGeom prst="rect">
            <a:avLst/>
          </a:prstGeom>
          <a:noFill/>
        </p:spPr>
        <p:txBody>
          <a:bodyPr wrap="square" anchor="t" lIns="0" rIns="0" tIns="0" bIns="0">
            <a:spAutoFit/>
          </a:bodyPr>
          <a:lstStyle/>
          <a:p>
            <a:pPr algn="ctr"/>
            <a:r>
              <a:rPr sz="3200" b="1" i="0">
                <a:solidFill>
                  <a:srgbClr val="FFFFFF"/>
                </a:solidFill>
                <a:latin typeface="Calibri"/>
              </a:rPr>
              <a:t>Mondrian Conformal Prediction for Uncertainty</a:t>
            </a:r>
          </a:p>
          <a:p>
            <a:pPr algn="ctr"/>
            <a:r>
              <a:rPr sz="3200" b="1" i="0">
                <a:solidFill>
                  <a:srgbClr val="FFFFFF"/>
                </a:solidFill>
                <a:latin typeface="Calibri"/>
              </a:rPr>
              <a:t>Quantification in ER Discrete-Event Simulation Surrogates</a:t>
            </a:r>
          </a:p>
        </p:txBody>
      </p:sp>
      <p:sp>
        <p:nvSpPr>
          <p:cNvPr id="5" name="TextBox 4"/>
          <p:cNvSpPr txBox="1"/>
          <p:nvPr/>
        </p:nvSpPr>
        <p:spPr>
          <a:xfrm>
            <a:off x="914400" y="3063240"/>
            <a:ext cx="10332720" cy="457200"/>
          </a:xfrm>
          <a:prstGeom prst="rect">
            <a:avLst/>
          </a:prstGeom>
          <a:noFill/>
        </p:spPr>
        <p:txBody>
          <a:bodyPr wrap="square" anchor="t" lIns="0" rIns="0" tIns="0" bIns="0">
            <a:spAutoFit/>
          </a:bodyPr>
          <a:lstStyle/>
          <a:p>
            <a:pPr algn="ctr"/>
            <a:r>
              <a:rPr sz="1700" b="0" i="1">
                <a:solidFill>
                  <a:srgbClr val="93C5FD"/>
                </a:solidFill>
                <a:latin typeface="Calibri"/>
              </a:rPr>
              <a:t>Full Project Results + Publication-Rigor Upgrade</a:t>
            </a:r>
          </a:p>
        </p:txBody>
      </p:sp>
      <p:sp>
        <p:nvSpPr>
          <p:cNvPr id="6" name="TextBox 5"/>
          <p:cNvSpPr txBox="1"/>
          <p:nvPr/>
        </p:nvSpPr>
        <p:spPr>
          <a:xfrm>
            <a:off x="914400" y="4892040"/>
            <a:ext cx="10332720" cy="731520"/>
          </a:xfrm>
          <a:prstGeom prst="rect">
            <a:avLst/>
          </a:prstGeom>
          <a:noFill/>
        </p:spPr>
        <p:txBody>
          <a:bodyPr wrap="square" anchor="t" lIns="0" rIns="0" tIns="0" bIns="0">
            <a:spAutoFit/>
          </a:bodyPr>
          <a:lstStyle/>
          <a:p>
            <a:pPr algn="ctr"/>
            <a:r>
              <a:rPr sz="1300" b="0" i="0">
                <a:solidFill>
                  <a:srgbClr val="FFFFFF"/>
                </a:solidFill>
                <a:latin typeface="Calibri"/>
              </a:rPr>
              <a:t>G Venugopalan (CB.AI.U4AID25115)   |   Vipin Sudhakar (CB.AI.U4AID25166)   |   Rithvik Arulprakash (CB.AI.U4AID25148)   |   Harshith Kv (CB.AI.U4AID25119)</a:t>
            </a:r>
          </a:p>
        </p:txBody>
      </p:sp>
      <p:sp>
        <p:nvSpPr>
          <p:cNvPr id="7" name="TextBox 6"/>
          <p:cNvSpPr txBox="1"/>
          <p:nvPr/>
        </p:nvSpPr>
        <p:spPr>
          <a:xfrm>
            <a:off x="914400" y="5349240"/>
            <a:ext cx="10332720" cy="365760"/>
          </a:xfrm>
          <a:prstGeom prst="rect">
            <a:avLst/>
          </a:prstGeom>
          <a:noFill/>
        </p:spPr>
        <p:txBody>
          <a:bodyPr wrap="square" anchor="t" lIns="0" rIns="0" tIns="0" bIns="0">
            <a:spAutoFit/>
          </a:bodyPr>
          <a:lstStyle/>
          <a:p>
            <a:pPr algn="ctr"/>
            <a:r>
              <a:rPr sz="1300" b="0" i="0">
                <a:solidFill>
                  <a:srgbClr val="93C5FD"/>
                </a:solidFill>
                <a:latin typeface="Calibri"/>
              </a:rPr>
              <a:t>Course: 23AID201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MOTIVATION</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Problem Statement</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2 / 21</a:t>
            </a:r>
          </a:p>
        </p:txBody>
      </p:sp>
      <p:sp>
        <p:nvSpPr>
          <p:cNvPr id="7" name="TextBox 6"/>
          <p:cNvSpPr txBox="1"/>
          <p:nvPr/>
        </p:nvSpPr>
        <p:spPr>
          <a:xfrm>
            <a:off x="640080" y="1600200"/>
            <a:ext cx="10881360" cy="4572000"/>
          </a:xfrm>
          <a:prstGeom prst="rect">
            <a:avLst/>
          </a:prstGeom>
          <a:noFill/>
        </p:spPr>
        <p:txBody>
          <a:bodyPr wrap="square">
            <a:spAutoFit/>
          </a:bodyPr>
          <a:lstStyle/>
          <a:p>
            <a:pPr>
              <a:spcAft>
                <a:spcPts val="1600"/>
              </a:spcAft>
            </a:pPr>
            <a:r>
              <a:rPr sz="1800">
                <a:solidFill>
                  <a:srgbClr val="1F2937"/>
                </a:solidFill>
                <a:latin typeface="Calibri"/>
              </a:rPr>
              <a:t>•  Surrogate models are fast, learned approximations of expensive simulations, increasingly used to guide decisions in stochastic service systems - ER staffing, queueing networks, etc.</a:t>
            </a:r>
          </a:p>
          <a:p>
            <a:pPr>
              <a:spcAft>
                <a:spcPts val="1600"/>
              </a:spcAft>
            </a:pPr>
            <a:r>
              <a:rPr sz="1800">
                <a:solidFill>
                  <a:srgbClr val="1F2937"/>
                </a:solidFill>
                <a:latin typeface="Calibri"/>
              </a:rPr>
              <a:t>•  A point prediction alone isn't enough for a decision like "will adding 2 more doctors bring wait time down enough?" - that needs a calibrated interval, not just a number.</a:t>
            </a:r>
          </a:p>
          <a:p>
            <a:pPr>
              <a:spcAft>
                <a:spcPts val="1600"/>
              </a:spcAft>
            </a:pPr>
            <a:r>
              <a:rPr sz="1800">
                <a:solidFill>
                  <a:srgbClr val="1F2937"/>
                </a:solidFill>
                <a:latin typeface="Calibri"/>
              </a:rPr>
              <a:t>•  Gaussian Processes are the established way to get one, but are expensive to train and rely on distributional assumptions rather than a finite-sample guarantee.</a:t>
            </a:r>
          </a:p>
          <a:p>
            <a:pPr>
              <a:spcAft>
                <a:spcPts val="1600"/>
              </a:spcAft>
            </a:pPr>
            <a:r>
              <a:rPr sz="1800">
                <a:solidFill>
                  <a:srgbClr val="1F2937"/>
                </a:solidFill>
                <a:latin typeface="Calibri"/>
              </a:rPr>
              <a:t>•  Conformal Prediction (CP) is distribution-free with a finite-sample coverage guarantee and is cheap to calibrate - but it's only been validated for surrogate models in a narrow set of domains so far.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LITERATURE</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Research Gap</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3 / 21</a:t>
            </a:r>
          </a:p>
        </p:txBody>
      </p:sp>
      <p:sp>
        <p:nvSpPr>
          <p:cNvPr id="7" name="TextBox 6"/>
          <p:cNvSpPr txBox="1"/>
          <p:nvPr/>
        </p:nvSpPr>
        <p:spPr>
          <a:xfrm>
            <a:off x="640080" y="1508760"/>
            <a:ext cx="10881360" cy="457200"/>
          </a:xfrm>
          <a:prstGeom prst="rect">
            <a:avLst/>
          </a:prstGeom>
          <a:noFill/>
        </p:spPr>
        <p:txBody>
          <a:bodyPr wrap="square" anchor="t" lIns="0" rIns="0" tIns="0" bIns="0">
            <a:spAutoFit/>
          </a:bodyPr>
          <a:lstStyle/>
          <a:p>
            <a:pPr algn="l"/>
            <a:r>
              <a:rPr sz="1800" b="1" i="0">
                <a:solidFill>
                  <a:srgbClr val="1F2937"/>
                </a:solidFill>
                <a:latin typeface="Calibri"/>
              </a:rPr>
              <a:t>Gopakumar et al. (2026) validate Conformal Prediction for surrogate-model UQ —</a:t>
            </a:r>
          </a:p>
        </p:txBody>
      </p:sp>
      <p:sp>
        <p:nvSpPr>
          <p:cNvPr id="8" name="TextBox 7"/>
          <p:cNvSpPr txBox="1"/>
          <p:nvPr/>
        </p:nvSpPr>
        <p:spPr>
          <a:xfrm>
            <a:off x="640080" y="1920240"/>
            <a:ext cx="10881360" cy="457200"/>
          </a:xfrm>
          <a:prstGeom prst="rect">
            <a:avLst/>
          </a:prstGeom>
          <a:noFill/>
        </p:spPr>
        <p:txBody>
          <a:bodyPr wrap="square" anchor="t" lIns="0" rIns="0" tIns="0" bIns="0">
            <a:spAutoFit/>
          </a:bodyPr>
          <a:lstStyle/>
          <a:p>
            <a:pPr algn="l"/>
            <a:r>
              <a:rPr sz="1800" b="1" i="0">
                <a:solidFill>
                  <a:srgbClr val="1E40AF"/>
                </a:solidFill>
                <a:latin typeface="Calibri"/>
              </a:rPr>
              <a:t>but only in physics domains: PDEs, magnetohydrodynamics (MHD), weather, fusion.</a:t>
            </a:r>
          </a:p>
        </p:txBody>
      </p:sp>
      <p:sp>
        <p:nvSpPr>
          <p:cNvPr id="9" name="Rectangle 8"/>
          <p:cNvSpPr/>
          <p:nvPr/>
        </p:nvSpPr>
        <p:spPr>
          <a:xfrm>
            <a:off x="640080" y="2697480"/>
            <a:ext cx="10881360" cy="182880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80360"/>
            <a:ext cx="10332720" cy="365760"/>
          </a:xfrm>
          <a:prstGeom prst="rect">
            <a:avLst/>
          </a:prstGeom>
          <a:noFill/>
        </p:spPr>
        <p:txBody>
          <a:bodyPr wrap="square" anchor="t" lIns="0" rIns="0" tIns="0" bIns="0">
            <a:spAutoFit/>
          </a:bodyPr>
          <a:lstStyle/>
          <a:p>
            <a:pPr algn="l"/>
            <a:r>
              <a:rPr sz="1500" b="1" i="0">
                <a:solidFill>
                  <a:srgbClr val="1F2937"/>
                </a:solidFill>
                <a:latin typeface="Calibri"/>
              </a:rPr>
              <a:t>The paper states two explicit limitations:</a:t>
            </a:r>
          </a:p>
        </p:txBody>
      </p:sp>
      <p:sp>
        <p:nvSpPr>
          <p:cNvPr id="11" name="TextBox 10"/>
          <p:cNvSpPr txBox="1"/>
          <p:nvPr/>
        </p:nvSpPr>
        <p:spPr>
          <a:xfrm>
            <a:off x="914400" y="3337560"/>
            <a:ext cx="10241280" cy="1097280"/>
          </a:xfrm>
          <a:prstGeom prst="rect">
            <a:avLst/>
          </a:prstGeom>
          <a:noFill/>
        </p:spPr>
        <p:txBody>
          <a:bodyPr wrap="square">
            <a:spAutoFit/>
          </a:bodyPr>
          <a:lstStyle/>
          <a:p>
            <a:pPr>
              <a:spcAft>
                <a:spcPts val="1000"/>
              </a:spcAft>
            </a:pPr>
            <a:r>
              <a:rPr sz="1500">
                <a:solidFill>
                  <a:srgbClr val="1F2937"/>
                </a:solidFill>
                <a:latin typeface="Calibri"/>
              </a:rPr>
              <a:t>•  Marginal coverage only — no guarantee of coverage within specific subgroups/conditions.</a:t>
            </a:r>
          </a:p>
          <a:p>
            <a:pPr>
              <a:spcAft>
                <a:spcPts val="1000"/>
              </a:spcAft>
            </a:pPr>
            <a:r>
              <a:rPr sz="1500">
                <a:solidFill>
                  <a:srgbClr val="1F2937"/>
                </a:solidFill>
                <a:latin typeface="Calibri"/>
              </a:rPr>
              <a:t>•  Relies on an exchangeability assumption between calibration and test data — untested under distribution shift.</a:t>
            </a:r>
          </a:p>
        </p:txBody>
      </p:sp>
      <p:sp>
        <p:nvSpPr>
          <p:cNvPr id="12" name="TextBox 11"/>
          <p:cNvSpPr txBox="1"/>
          <p:nvPr/>
        </p:nvSpPr>
        <p:spPr>
          <a:xfrm>
            <a:off x="640080" y="4800600"/>
            <a:ext cx="10881360" cy="1280160"/>
          </a:xfrm>
          <a:prstGeom prst="rect">
            <a:avLst/>
          </a:prstGeom>
          <a:noFill/>
        </p:spPr>
        <p:txBody>
          <a:bodyPr wrap="square" anchor="t" lIns="0" rIns="0" tIns="0" bIns="0">
            <a:spAutoFit/>
          </a:bodyPr>
          <a:lstStyle/>
          <a:p>
            <a:pPr algn="l"/>
            <a:r>
              <a:rPr sz="1600" b="0" i="0">
                <a:solidFill>
                  <a:srgbClr val="1F2937"/>
                </a:solidFill>
                <a:latin typeface="Calibri"/>
              </a:rPr>
              <a:t>Neither limitation has been tested outside physics simulation. Discrete-event / queueing systems are a fundamentally different domain — stochastic discrete arrivals and departures, resource contention, priority scheduling — not continuous PDE fields. This is the gap this project sits 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APPROACH</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Why Mondrian CP</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4 / 21</a:t>
            </a:r>
          </a:p>
        </p:txBody>
      </p:sp>
      <p:sp>
        <p:nvSpPr>
          <p:cNvPr id="7" name="Rectangle 6"/>
          <p:cNvSpPr/>
          <p:nvPr/>
        </p:nvSpPr>
        <p:spPr>
          <a:xfrm>
            <a:off x="640080" y="1508760"/>
            <a:ext cx="5212080" cy="43891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08760"/>
            <a:ext cx="5212080" cy="50292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18488"/>
            <a:ext cx="4754880" cy="365760"/>
          </a:xfrm>
          <a:prstGeom prst="rect">
            <a:avLst/>
          </a:prstGeom>
          <a:noFill/>
        </p:spPr>
        <p:txBody>
          <a:bodyPr wrap="square" anchor="t" lIns="0" rIns="0" tIns="0" bIns="0">
            <a:spAutoFit/>
          </a:bodyPr>
          <a:lstStyle/>
          <a:p>
            <a:pPr algn="l"/>
            <a:r>
              <a:rPr sz="1500" b="1" i="0">
                <a:solidFill>
                  <a:srgbClr val="FFFFFF"/>
                </a:solidFill>
                <a:latin typeface="Calibri"/>
              </a:rPr>
              <a:t>The problem with standard CP</a:t>
            </a:r>
          </a:p>
        </p:txBody>
      </p:sp>
      <p:sp>
        <p:nvSpPr>
          <p:cNvPr id="10" name="TextBox 9"/>
          <p:cNvSpPr txBox="1"/>
          <p:nvPr/>
        </p:nvSpPr>
        <p:spPr>
          <a:xfrm>
            <a:off x="868680" y="2194560"/>
            <a:ext cx="4754880" cy="3566160"/>
          </a:xfrm>
          <a:prstGeom prst="rect">
            <a:avLst/>
          </a:prstGeom>
          <a:noFill/>
        </p:spPr>
        <p:txBody>
          <a:bodyPr wrap="square">
            <a:spAutoFit/>
          </a:bodyPr>
          <a:lstStyle/>
          <a:p>
            <a:pPr>
              <a:spcAft>
                <a:spcPts val="1400"/>
              </a:spcAft>
            </a:pPr>
            <a:r>
              <a:rPr sz="1400">
                <a:solidFill>
                  <a:srgbClr val="1F2937"/>
                </a:solidFill>
                <a:latin typeface="Calibri"/>
              </a:rPr>
              <a:t>•  Standard CP calibrates one pooled quantile across every scenario in the calibration set — only guarantees coverage on average.</a:t>
            </a:r>
          </a:p>
          <a:p>
            <a:pPr>
              <a:spcAft>
                <a:spcPts val="1400"/>
              </a:spcAft>
            </a:pPr>
            <a:r>
              <a:rPr sz="1400">
                <a:solidFill>
                  <a:srgbClr val="1F2937"/>
                </a:solidFill>
                <a:latin typeface="Calibri"/>
              </a:rPr>
              <a:t>•  A pooled interval is calibrated on average difficulty, so it can badly fail exactly the scenarios that matter most (understaffed + high demand), while wasting width on easy ones (overstaffed + low demand).</a:t>
            </a:r>
          </a:p>
          <a:p>
            <a:pPr>
              <a:spcAft>
                <a:spcPts val="1400"/>
              </a:spcAft>
            </a:pPr>
            <a:r>
              <a:rPr sz="1400">
                <a:solidFill>
                  <a:srgbClr val="1F2937"/>
                </a:solidFill>
                <a:latin typeface="Calibri"/>
              </a:rPr>
              <a:t>•  Averaged coverage can look fine while specific operating conditions quietly fail.</a:t>
            </a:r>
          </a:p>
        </p:txBody>
      </p:sp>
      <p:sp>
        <p:nvSpPr>
          <p:cNvPr id="11" name="Rectangle 10"/>
          <p:cNvSpPr/>
          <p:nvPr/>
        </p:nvSpPr>
        <p:spPr>
          <a:xfrm>
            <a:off x="6126480" y="1508760"/>
            <a:ext cx="5212080" cy="43891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1508760"/>
            <a:ext cx="5212080" cy="502920"/>
          </a:xfrm>
          <a:prstGeom prst="rect">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618488"/>
            <a:ext cx="4754880" cy="365760"/>
          </a:xfrm>
          <a:prstGeom prst="rect">
            <a:avLst/>
          </a:prstGeom>
          <a:noFill/>
        </p:spPr>
        <p:txBody>
          <a:bodyPr wrap="square" anchor="t" lIns="0" rIns="0" tIns="0" bIns="0">
            <a:spAutoFit/>
          </a:bodyPr>
          <a:lstStyle/>
          <a:p>
            <a:pPr algn="l"/>
            <a:r>
              <a:rPr sz="1500" b="1" i="0">
                <a:solidFill>
                  <a:srgbClr val="FFFFFF"/>
                </a:solidFill>
                <a:latin typeface="Calibri"/>
              </a:rPr>
              <a:t>What Mondrian CP does about it</a:t>
            </a:r>
          </a:p>
        </p:txBody>
      </p:sp>
      <p:sp>
        <p:nvSpPr>
          <p:cNvPr id="14" name="TextBox 13"/>
          <p:cNvSpPr txBox="1"/>
          <p:nvPr/>
        </p:nvSpPr>
        <p:spPr>
          <a:xfrm>
            <a:off x="6355080" y="2194560"/>
            <a:ext cx="4754880" cy="3566160"/>
          </a:xfrm>
          <a:prstGeom prst="rect">
            <a:avLst/>
          </a:prstGeom>
          <a:noFill/>
        </p:spPr>
        <p:txBody>
          <a:bodyPr wrap="square">
            <a:spAutoFit/>
          </a:bodyPr>
          <a:lstStyle/>
          <a:p>
            <a:pPr>
              <a:spcAft>
                <a:spcPts val="1400"/>
              </a:spcAft>
            </a:pPr>
            <a:r>
              <a:rPr sz="1400">
                <a:solidFill>
                  <a:srgbClr val="1F2937"/>
                </a:solidFill>
                <a:latin typeface="Calibri"/>
              </a:rPr>
              <a:t>•  Calibrates a separate quantile per category — here, staffing tercile x arrival-rate tercile — instead of one pooled quantile.</a:t>
            </a:r>
          </a:p>
          <a:p>
            <a:pPr>
              <a:spcAft>
                <a:spcPts val="1400"/>
              </a:spcAft>
            </a:pPr>
            <a:r>
              <a:rPr sz="1400">
                <a:solidFill>
                  <a:srgbClr val="1F2937"/>
                </a:solidFill>
                <a:latin typeface="Calibri"/>
              </a:rPr>
              <a:t>•  Each category gets its own, individually honest coverage guarantee instead of borrowing strength from categories that don't resemble it.</a:t>
            </a:r>
          </a:p>
          <a:p>
            <a:pPr>
              <a:spcAft>
                <a:spcPts val="1400"/>
              </a:spcAft>
            </a:pPr>
            <a:r>
              <a:rPr sz="1400">
                <a:solidFill>
                  <a:srgbClr val="1F2937"/>
                </a:solidFill>
                <a:latin typeface="Calibri"/>
              </a:rPr>
              <a:t>•  Directly targets Gopakumar et al.'s marginal-coverage limitation — the first place it's been tested outside physics simulation.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PIPELINE</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Methodology Overview</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5 / 21</a:t>
            </a:r>
          </a:p>
        </p:txBody>
      </p:sp>
      <p:sp>
        <p:nvSpPr>
          <p:cNvPr id="7" name="Rounded Rectangle 6"/>
          <p:cNvSpPr/>
          <p:nvPr/>
        </p:nvSpPr>
        <p:spPr>
          <a:xfrm>
            <a:off x="502920" y="2468880"/>
            <a:ext cx="2880360" cy="1371600"/>
          </a:xfrm>
          <a:prstGeom prst="roundRect">
            <a:avLst>
              <a:gd name="adj" fmla="val 8000"/>
            </a:avLst>
          </a:prstGeom>
          <a:solidFill>
            <a:srgbClr val="1E40A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a:solidFill>
                  <a:srgbClr val="FFFFFF"/>
                </a:solidFill>
              </a:rPr>
              <a:t>Discrete-Event
Simulation</a:t>
            </a:r>
          </a:p>
          <a:p>
            <a:pPr algn="ctr"/>
            <a:r>
              <a:rPr sz="1050">
                <a:solidFill>
                  <a:srgbClr val="FFFFFF"/>
                </a:solidFill>
              </a:rPr>
              <a:t>SimPy, calibrated on real ED data</a:t>
            </a:r>
          </a:p>
        </p:txBody>
      </p:sp>
      <p:sp>
        <p:nvSpPr>
          <p:cNvPr id="8" name="Right Arrow 7"/>
          <p:cNvSpPr/>
          <p:nvPr/>
        </p:nvSpPr>
        <p:spPr>
          <a:xfrm>
            <a:off x="3383280" y="2971800"/>
            <a:ext cx="50292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886200" y="2468880"/>
            <a:ext cx="2880360" cy="1371600"/>
          </a:xfrm>
          <a:prstGeom prst="roundRect">
            <a:avLst>
              <a:gd name="adj" fmla="val 8000"/>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a:solidFill>
                  <a:srgbClr val="FFFFFF"/>
                </a:solidFill>
              </a:rPr>
              <a:t>Surrogate Model</a:t>
            </a:r>
          </a:p>
          <a:p>
            <a:pPr algn="ctr"/>
            <a:r>
              <a:rPr sz="1050">
                <a:solidFill>
                  <a:srgbClr val="FFFFFF"/>
                </a:solidFill>
              </a:rPr>
              <a:t>Gradient boosting, trained on
DES scenario sweep</a:t>
            </a:r>
          </a:p>
        </p:txBody>
      </p:sp>
      <p:sp>
        <p:nvSpPr>
          <p:cNvPr id="10" name="Right Arrow 9"/>
          <p:cNvSpPr/>
          <p:nvPr/>
        </p:nvSpPr>
        <p:spPr>
          <a:xfrm>
            <a:off x="6766560" y="2971800"/>
            <a:ext cx="502920" cy="365760"/>
          </a:xfrm>
          <a:prstGeom prst="right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9480" y="2468880"/>
            <a:ext cx="2880360" cy="1371600"/>
          </a:xfrm>
          <a:prstGeom prst="roundRect">
            <a:avLst>
              <a:gd name="adj" fmla="val 8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r>
              <a:rPr sz="1500" b="1">
                <a:solidFill>
                  <a:srgbClr val="FFFFFF"/>
                </a:solidFill>
              </a:rPr>
              <a:t>Uncertainty
Quantification</a:t>
            </a:r>
          </a:p>
          <a:p>
            <a:pPr algn="ctr"/>
            <a:r>
              <a:rPr sz="1050">
                <a:solidFill>
                  <a:srgbClr val="FFFFFF"/>
                </a:solidFill>
              </a:rPr>
              <a:t>GP baseline vs. Standard CP
vs. Mondrian CP</a:t>
            </a:r>
          </a:p>
        </p:txBody>
      </p:sp>
      <p:sp>
        <p:nvSpPr>
          <p:cNvPr id="12" name="TextBox 11"/>
          <p:cNvSpPr txBox="1"/>
          <p:nvPr/>
        </p:nvSpPr>
        <p:spPr>
          <a:xfrm>
            <a:off x="502920" y="4160520"/>
            <a:ext cx="11155680" cy="365760"/>
          </a:xfrm>
          <a:prstGeom prst="rect">
            <a:avLst/>
          </a:prstGeom>
          <a:noFill/>
        </p:spPr>
        <p:txBody>
          <a:bodyPr wrap="square" anchor="t" lIns="0" rIns="0" tIns="0" bIns="0">
            <a:spAutoFit/>
          </a:bodyPr>
          <a:lstStyle/>
          <a:p>
            <a:pPr algn="l"/>
            <a:r>
              <a:rPr sz="1400" b="0" i="1">
                <a:solidFill>
                  <a:srgbClr val="6B7280"/>
                </a:solidFill>
                <a:latin typeface="Calibri"/>
              </a:rPr>
              <a:t>Each stage validated against the previous before moving on:</a:t>
            </a:r>
          </a:p>
        </p:txBody>
      </p:sp>
      <p:sp>
        <p:nvSpPr>
          <p:cNvPr id="13" name="TextBox 12"/>
          <p:cNvSpPr txBox="1"/>
          <p:nvPr/>
        </p:nvSpPr>
        <p:spPr>
          <a:xfrm>
            <a:off x="640080" y="4572000"/>
            <a:ext cx="10698480" cy="2011680"/>
          </a:xfrm>
          <a:prstGeom prst="rect">
            <a:avLst/>
          </a:prstGeom>
          <a:noFill/>
        </p:spPr>
        <p:txBody>
          <a:bodyPr wrap="square">
            <a:spAutoFit/>
          </a:bodyPr>
          <a:lstStyle/>
          <a:p>
            <a:pPr>
              <a:spcAft>
                <a:spcPts val="800"/>
              </a:spcAft>
            </a:pPr>
            <a:r>
              <a:rPr sz="1400">
                <a:solidFill>
                  <a:srgbClr val="1F2937"/>
                </a:solidFill>
                <a:latin typeface="Calibri"/>
              </a:rPr>
              <a:t>•  DES output validated against real aggregated ED statistics (91.0% match to real daily volume).</a:t>
            </a:r>
          </a:p>
          <a:p>
            <a:pPr>
              <a:spcAft>
                <a:spcPts val="800"/>
              </a:spcAft>
            </a:pPr>
            <a:r>
              <a:rPr sz="1400">
                <a:solidFill>
                  <a:srgbClr val="1F2937"/>
                </a:solidFill>
                <a:latin typeface="Calibri"/>
              </a:rPr>
              <a:t>•  Surrogate accuracy validated against DES outputs held out from training (MAE / RMSE / R²).</a:t>
            </a:r>
          </a:p>
          <a:p>
            <a:pPr>
              <a:spcAft>
                <a:spcPts val="800"/>
              </a:spcAft>
            </a:pPr>
            <a:r>
              <a:rPr sz="1400">
                <a:solidFill>
                  <a:srgbClr val="1F2937"/>
                </a:solidFill>
                <a:latin typeface="Calibri"/>
              </a:rPr>
              <a:t>•  GP baseline, standard CP, Mondrian CP all evaluated on the same fixed test split and target coverage (α = 0.1), so every method is directly comparable.</a:t>
            </a:r>
          </a:p>
          <a:p>
            <a:pPr>
              <a:spcAft>
                <a:spcPts val="800"/>
              </a:spcAft>
            </a:pPr>
            <a:r>
              <a:rPr sz="1400">
                <a:solidFill>
                  <a:srgbClr val="1F2937"/>
                </a:solidFill>
                <a:latin typeface="Calibri"/>
              </a:rPr>
              <a:t>•  Standard/Mondrian CP calibrated on a separate 1200-scenario set — never the surrogate's own training data, since reusing training residuals would understate the true residual spread.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DATA</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Real-World Data Used</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6 / 21</a:t>
            </a:r>
          </a:p>
        </p:txBody>
      </p:sp>
      <p:sp>
        <p:nvSpPr>
          <p:cNvPr id="7" name="TextBox 6"/>
          <p:cNvSpPr txBox="1"/>
          <p:nvPr/>
        </p:nvSpPr>
        <p:spPr>
          <a:xfrm>
            <a:off x="640080" y="1463040"/>
            <a:ext cx="10881360" cy="457200"/>
          </a:xfrm>
          <a:prstGeom prst="rect">
            <a:avLst/>
          </a:prstGeom>
          <a:noFill/>
        </p:spPr>
        <p:txBody>
          <a:bodyPr wrap="square" anchor="t" lIns="0" rIns="0" tIns="0" bIns="0">
            <a:spAutoFit/>
          </a:bodyPr>
          <a:lstStyle/>
          <a:p>
            <a:pPr algn="l"/>
            <a:r>
              <a:rPr sz="1800" b="1" i="0">
                <a:solidFill>
                  <a:srgbClr val="1B2238"/>
                </a:solidFill>
                <a:latin typeface="Calibri"/>
              </a:rPr>
              <a:t>Hospital Triage and Patient History Data (Kaggle, maalona)</a:t>
            </a:r>
          </a:p>
        </p:txBody>
      </p:sp>
      <p:sp>
        <p:nvSpPr>
          <p:cNvPr id="8" name="TextBox 7"/>
          <p:cNvSpPr txBox="1"/>
          <p:nvPr/>
        </p:nvSpPr>
        <p:spPr>
          <a:xfrm>
            <a:off x="640080" y="1874519"/>
            <a:ext cx="10881360" cy="457200"/>
          </a:xfrm>
          <a:prstGeom prst="rect">
            <a:avLst/>
          </a:prstGeom>
          <a:noFill/>
        </p:spPr>
        <p:txBody>
          <a:bodyPr wrap="square" anchor="t" lIns="0" rIns="0" tIns="0" bIns="0">
            <a:spAutoFit/>
          </a:bodyPr>
          <a:lstStyle/>
          <a:p>
            <a:pPr algn="l"/>
            <a:r>
              <a:rPr sz="1400" b="0" i="1">
                <a:solidFill>
                  <a:srgbClr val="6B7280"/>
                </a:solidFill>
                <a:latin typeface="Calibri"/>
              </a:rPr>
              <a:t>Yale New Haven Health System, retrospective study, March 2014 – July 2017</a:t>
            </a:r>
          </a:p>
        </p:txBody>
      </p:sp>
      <p:sp>
        <p:nvSpPr>
          <p:cNvPr id="9" name="Rectangle 8"/>
          <p:cNvSpPr/>
          <p:nvPr/>
        </p:nvSpPr>
        <p:spPr>
          <a:xfrm>
            <a:off x="640080" y="2514600"/>
            <a:ext cx="2606040" cy="105156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606040"/>
            <a:ext cx="2606040" cy="502920"/>
          </a:xfrm>
          <a:prstGeom prst="rect">
            <a:avLst/>
          </a:prstGeom>
          <a:noFill/>
        </p:spPr>
        <p:txBody>
          <a:bodyPr wrap="square" anchor="t" lIns="0" rIns="0" tIns="0" bIns="0">
            <a:spAutoFit/>
          </a:bodyPr>
          <a:lstStyle/>
          <a:p>
            <a:pPr algn="ctr"/>
            <a:r>
              <a:rPr sz="2200" b="1" i="0">
                <a:solidFill>
                  <a:srgbClr val="1E40AF"/>
                </a:solidFill>
                <a:latin typeface="Calibri"/>
              </a:rPr>
              <a:t>560,486</a:t>
            </a:r>
          </a:p>
        </p:txBody>
      </p:sp>
      <p:sp>
        <p:nvSpPr>
          <p:cNvPr id="11" name="TextBox 10"/>
          <p:cNvSpPr txBox="1"/>
          <p:nvPr/>
        </p:nvSpPr>
        <p:spPr>
          <a:xfrm>
            <a:off x="640080" y="3108960"/>
            <a:ext cx="2606040" cy="365760"/>
          </a:xfrm>
          <a:prstGeom prst="rect">
            <a:avLst/>
          </a:prstGeom>
          <a:noFill/>
        </p:spPr>
        <p:txBody>
          <a:bodyPr wrap="square" anchor="t" lIns="0" rIns="0" tIns="0" bIns="0">
            <a:spAutoFit/>
          </a:bodyPr>
          <a:lstStyle/>
          <a:p>
            <a:pPr algn="ctr"/>
            <a:r>
              <a:rPr sz="1100" b="0" i="0">
                <a:solidFill>
                  <a:srgbClr val="6B7280"/>
                </a:solidFill>
                <a:latin typeface="Calibri"/>
              </a:rPr>
              <a:t>total ED visits</a:t>
            </a:r>
          </a:p>
        </p:txBody>
      </p:sp>
      <p:sp>
        <p:nvSpPr>
          <p:cNvPr id="12" name="Rectangle 11"/>
          <p:cNvSpPr/>
          <p:nvPr/>
        </p:nvSpPr>
        <p:spPr>
          <a:xfrm>
            <a:off x="3337560" y="2514600"/>
            <a:ext cx="2606040" cy="105156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2606040"/>
            <a:ext cx="2606040" cy="502920"/>
          </a:xfrm>
          <a:prstGeom prst="rect">
            <a:avLst/>
          </a:prstGeom>
          <a:noFill/>
        </p:spPr>
        <p:txBody>
          <a:bodyPr wrap="square" anchor="t" lIns="0" rIns="0" tIns="0" bIns="0">
            <a:spAutoFit/>
          </a:bodyPr>
          <a:lstStyle/>
          <a:p>
            <a:pPr algn="ctr"/>
            <a:r>
              <a:rPr sz="2200" b="1" i="0">
                <a:solidFill>
                  <a:srgbClr val="1E40AF"/>
                </a:solidFill>
                <a:latin typeface="Calibri"/>
              </a:rPr>
              <a:t>972</a:t>
            </a:r>
          </a:p>
        </p:txBody>
      </p:sp>
      <p:sp>
        <p:nvSpPr>
          <p:cNvPr id="14" name="TextBox 13"/>
          <p:cNvSpPr txBox="1"/>
          <p:nvPr/>
        </p:nvSpPr>
        <p:spPr>
          <a:xfrm>
            <a:off x="3337560" y="3108960"/>
            <a:ext cx="2606040" cy="365760"/>
          </a:xfrm>
          <a:prstGeom prst="rect">
            <a:avLst/>
          </a:prstGeom>
          <a:noFill/>
        </p:spPr>
        <p:txBody>
          <a:bodyPr wrap="square" anchor="t" lIns="0" rIns="0" tIns="0" bIns="0">
            <a:spAutoFit/>
          </a:bodyPr>
          <a:lstStyle/>
          <a:p>
            <a:pPr algn="ctr"/>
            <a:r>
              <a:rPr sz="1100" b="0" i="0">
                <a:solidFill>
                  <a:srgbClr val="6B7280"/>
                </a:solidFill>
                <a:latin typeface="Calibri"/>
              </a:rPr>
              <a:t>variables per visit</a:t>
            </a:r>
          </a:p>
        </p:txBody>
      </p:sp>
      <p:sp>
        <p:nvSpPr>
          <p:cNvPr id="15" name="Rectangle 14"/>
          <p:cNvSpPr/>
          <p:nvPr/>
        </p:nvSpPr>
        <p:spPr>
          <a:xfrm>
            <a:off x="6035040" y="2514600"/>
            <a:ext cx="2606040" cy="105156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2606040"/>
            <a:ext cx="2606040" cy="502920"/>
          </a:xfrm>
          <a:prstGeom prst="rect">
            <a:avLst/>
          </a:prstGeom>
          <a:noFill/>
        </p:spPr>
        <p:txBody>
          <a:bodyPr wrap="square" anchor="t" lIns="0" rIns="0" tIns="0" bIns="0">
            <a:spAutoFit/>
          </a:bodyPr>
          <a:lstStyle/>
          <a:p>
            <a:pPr algn="ctr"/>
            <a:r>
              <a:rPr sz="2200" b="1" i="0">
                <a:solidFill>
                  <a:srgbClr val="1E40AF"/>
                </a:solidFill>
                <a:latin typeface="Calibri"/>
              </a:rPr>
              <a:t>3</a:t>
            </a:r>
          </a:p>
        </p:txBody>
      </p:sp>
      <p:sp>
        <p:nvSpPr>
          <p:cNvPr id="17" name="TextBox 16"/>
          <p:cNvSpPr txBox="1"/>
          <p:nvPr/>
        </p:nvSpPr>
        <p:spPr>
          <a:xfrm>
            <a:off x="6035040" y="3108960"/>
            <a:ext cx="2606040" cy="365760"/>
          </a:xfrm>
          <a:prstGeom prst="rect">
            <a:avLst/>
          </a:prstGeom>
          <a:noFill/>
        </p:spPr>
        <p:txBody>
          <a:bodyPr wrap="square" anchor="t" lIns="0" rIns="0" tIns="0" bIns="0">
            <a:spAutoFit/>
          </a:bodyPr>
          <a:lstStyle/>
          <a:p>
            <a:pPr algn="ctr"/>
            <a:r>
              <a:rPr sz="1100" b="0" i="0">
                <a:solidFill>
                  <a:srgbClr val="6B7280"/>
                </a:solidFill>
                <a:latin typeface="Calibri"/>
              </a:rPr>
              <a:t>EDs (1 academic + 2 community)</a:t>
            </a:r>
          </a:p>
        </p:txBody>
      </p:sp>
      <p:sp>
        <p:nvSpPr>
          <p:cNvPr id="18" name="Rectangle 17"/>
          <p:cNvSpPr/>
          <p:nvPr/>
        </p:nvSpPr>
        <p:spPr>
          <a:xfrm>
            <a:off x="8732520" y="2514600"/>
            <a:ext cx="2606040" cy="105156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20" y="2606040"/>
            <a:ext cx="2606040" cy="502920"/>
          </a:xfrm>
          <a:prstGeom prst="rect">
            <a:avLst/>
          </a:prstGeom>
          <a:noFill/>
        </p:spPr>
        <p:txBody>
          <a:bodyPr wrap="square" anchor="t" lIns="0" rIns="0" tIns="0" bIns="0">
            <a:spAutoFit/>
          </a:bodyPr>
          <a:lstStyle/>
          <a:p>
            <a:pPr algn="ctr"/>
            <a:r>
              <a:rPr sz="2200" b="1" i="0">
                <a:solidFill>
                  <a:srgbClr val="1E40AF"/>
                </a:solidFill>
                <a:latin typeface="Calibri"/>
              </a:rPr>
              <a:t>258.2 / day</a:t>
            </a:r>
          </a:p>
        </p:txBody>
      </p:sp>
      <p:sp>
        <p:nvSpPr>
          <p:cNvPr id="20" name="TextBox 19"/>
          <p:cNvSpPr txBox="1"/>
          <p:nvPr/>
        </p:nvSpPr>
        <p:spPr>
          <a:xfrm>
            <a:off x="8732520" y="3108960"/>
            <a:ext cx="2606040" cy="365760"/>
          </a:xfrm>
          <a:prstGeom prst="rect">
            <a:avLst/>
          </a:prstGeom>
          <a:noFill/>
        </p:spPr>
        <p:txBody>
          <a:bodyPr wrap="square" anchor="t" lIns="0" rIns="0" tIns="0" bIns="0">
            <a:spAutoFit/>
          </a:bodyPr>
          <a:lstStyle/>
          <a:p>
            <a:pPr algn="ctr"/>
            <a:r>
              <a:rPr sz="1100" b="0" i="0">
                <a:solidFill>
                  <a:srgbClr val="6B7280"/>
                </a:solidFill>
                <a:latin typeface="Calibri"/>
              </a:rPr>
              <a:t>calibrated rate, Dept. A</a:t>
            </a:r>
          </a:p>
        </p:txBody>
      </p:sp>
      <p:sp>
        <p:nvSpPr>
          <p:cNvPr id="21" name="TextBox 20"/>
          <p:cNvSpPr txBox="1"/>
          <p:nvPr/>
        </p:nvSpPr>
        <p:spPr>
          <a:xfrm>
            <a:off x="640080" y="3886200"/>
            <a:ext cx="10881360" cy="365760"/>
          </a:xfrm>
          <a:prstGeom prst="rect">
            <a:avLst/>
          </a:prstGeom>
          <a:noFill/>
        </p:spPr>
        <p:txBody>
          <a:bodyPr wrap="square" anchor="t" lIns="0" rIns="0" tIns="0" bIns="0">
            <a:spAutoFit/>
          </a:bodyPr>
          <a:lstStyle/>
          <a:p>
            <a:pPr algn="l"/>
            <a:r>
              <a:rPr sz="1500" b="1" i="0">
                <a:solidFill>
                  <a:srgbClr val="1F2937"/>
                </a:solidFill>
                <a:latin typeface="Calibri"/>
              </a:rPr>
              <a:t>What we extracted — real vs. literature-calibrated (disclosed explicitly, not blended silently):</a:t>
            </a:r>
          </a:p>
        </p:txBody>
      </p:sp>
      <p:sp>
        <p:nvSpPr>
          <p:cNvPr id="22" name="Rectangle 21"/>
          <p:cNvSpPr/>
          <p:nvPr/>
        </p:nvSpPr>
        <p:spPr>
          <a:xfrm>
            <a:off x="640080" y="4343400"/>
            <a:ext cx="5303520" cy="18288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434840"/>
            <a:ext cx="4937760" cy="320040"/>
          </a:xfrm>
          <a:prstGeom prst="rect">
            <a:avLst/>
          </a:prstGeom>
          <a:noFill/>
        </p:spPr>
        <p:txBody>
          <a:bodyPr wrap="square" anchor="t" lIns="0" rIns="0" tIns="0" bIns="0">
            <a:spAutoFit/>
          </a:bodyPr>
          <a:lstStyle/>
          <a:p>
            <a:pPr algn="l"/>
            <a:r>
              <a:rPr sz="1300" b="1" i="0">
                <a:solidFill>
                  <a:srgbClr val="16A34A"/>
                </a:solidFill>
                <a:latin typeface="Calibri"/>
              </a:rPr>
              <a:t>From real data</a:t>
            </a:r>
          </a:p>
        </p:txBody>
      </p:sp>
      <p:sp>
        <p:nvSpPr>
          <p:cNvPr id="24" name="TextBox 23"/>
          <p:cNvSpPr txBox="1"/>
          <p:nvPr/>
        </p:nvSpPr>
        <p:spPr>
          <a:xfrm>
            <a:off x="822960" y="4754880"/>
            <a:ext cx="4937760" cy="1371600"/>
          </a:xfrm>
          <a:prstGeom prst="rect">
            <a:avLst/>
          </a:prstGeom>
          <a:noFill/>
        </p:spPr>
        <p:txBody>
          <a:bodyPr wrap="square">
            <a:spAutoFit/>
          </a:bodyPr>
          <a:lstStyle/>
          <a:p>
            <a:pPr>
              <a:spcAft>
                <a:spcPts val="600"/>
              </a:spcAft>
            </a:pPr>
            <a:r>
              <a:rPr sz="1300">
                <a:solidFill>
                  <a:srgbClr val="1F2937"/>
                </a:solidFill>
                <a:latin typeface="Calibri"/>
              </a:rPr>
              <a:t>•  Arrival pattern by 4-hour bin, day of week, month</a:t>
            </a:r>
          </a:p>
          <a:p>
            <a:pPr>
              <a:spcAft>
                <a:spcPts val="600"/>
              </a:spcAft>
            </a:pPr>
            <a:r>
              <a:rPr sz="1300">
                <a:solidFill>
                  <a:srgbClr val="1F2937"/>
                </a:solidFill>
                <a:latin typeface="Calibri"/>
              </a:rPr>
              <a:t>•  ESI acuity mix (triage severity distribution)</a:t>
            </a:r>
          </a:p>
          <a:p>
            <a:pPr>
              <a:spcAft>
                <a:spcPts val="600"/>
              </a:spcAft>
            </a:pPr>
            <a:r>
              <a:rPr sz="1300">
                <a:solidFill>
                  <a:srgbClr val="1F2937"/>
                </a:solidFill>
                <a:latin typeface="Calibri"/>
              </a:rPr>
              <a:t>•  Department-level daily visit rate</a:t>
            </a:r>
          </a:p>
        </p:txBody>
      </p:sp>
      <p:sp>
        <p:nvSpPr>
          <p:cNvPr id="25" name="Rectangle 24"/>
          <p:cNvSpPr/>
          <p:nvPr/>
        </p:nvSpPr>
        <p:spPr>
          <a:xfrm>
            <a:off x="6080760" y="4343400"/>
            <a:ext cx="5440680" cy="18288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63640" y="4434840"/>
            <a:ext cx="4937760" cy="320040"/>
          </a:xfrm>
          <a:prstGeom prst="rect">
            <a:avLst/>
          </a:prstGeom>
          <a:noFill/>
        </p:spPr>
        <p:txBody>
          <a:bodyPr wrap="square" anchor="t" lIns="0" rIns="0" tIns="0" bIns="0">
            <a:spAutoFit/>
          </a:bodyPr>
          <a:lstStyle/>
          <a:p>
            <a:pPr algn="l"/>
            <a:r>
              <a:rPr sz="1300" b="1" i="0">
                <a:solidFill>
                  <a:srgbClr val="D97706"/>
                </a:solidFill>
                <a:latin typeface="Calibri"/>
              </a:rPr>
              <a:t>From literature (not in dataset)</a:t>
            </a:r>
          </a:p>
        </p:txBody>
      </p:sp>
      <p:sp>
        <p:nvSpPr>
          <p:cNvPr id="27" name="TextBox 26"/>
          <p:cNvSpPr txBox="1"/>
          <p:nvPr/>
        </p:nvSpPr>
        <p:spPr>
          <a:xfrm>
            <a:off x="6263640" y="4754880"/>
            <a:ext cx="4937760" cy="1371600"/>
          </a:xfrm>
          <a:prstGeom prst="rect">
            <a:avLst/>
          </a:prstGeom>
          <a:noFill/>
        </p:spPr>
        <p:txBody>
          <a:bodyPr wrap="square">
            <a:spAutoFit/>
          </a:bodyPr>
          <a:lstStyle/>
          <a:p>
            <a:pPr>
              <a:spcAft>
                <a:spcPts val="600"/>
              </a:spcAft>
            </a:pPr>
            <a:r>
              <a:rPr sz="1300">
                <a:solidFill>
                  <a:srgbClr val="1F2937"/>
                </a:solidFill>
                <a:latin typeface="Calibri"/>
              </a:rPr>
              <a:t>•  Service/treatment time per ESI level (log-normal)</a:t>
            </a:r>
          </a:p>
          <a:p>
            <a:pPr>
              <a:spcAft>
                <a:spcPts val="600"/>
              </a:spcAft>
            </a:pPr>
            <a:r>
              <a:rPr sz="1300">
                <a:solidFill>
                  <a:srgbClr val="1F2937"/>
                </a:solidFill>
                <a:latin typeface="Calibri"/>
              </a:rPr>
              <a:t>•  Dataset has no discharge timestamp — confirmed by</a:t>
            </a:r>
          </a:p>
          <a:p>
            <a:pPr lvl="1">
              <a:spcAft>
                <a:spcPts val="600"/>
              </a:spcAft>
            </a:pPr>
            <a:r>
              <a:rPr sz="1100">
                <a:solidFill>
                  <a:srgbClr val="1F2937"/>
                </a:solidFill>
                <a:latin typeface="Calibri"/>
              </a:rPr>
              <a:t>‒  exhaustive search across all 972 columns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RESULTS</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DES Validation</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7 / 21</a:t>
            </a:r>
          </a:p>
        </p:txBody>
      </p:sp>
      <p:graphicFrame>
        <p:nvGraphicFramePr>
          <p:cNvPr id="7" name="Table 6"/>
          <p:cNvGraphicFramePr>
            <a:graphicFrameLocks noGrp="1"/>
          </p:cNvGraphicFramePr>
          <p:nvPr/>
        </p:nvGraphicFramePr>
        <p:xfrm>
          <a:off x="640080" y="1645920"/>
          <a:ext cx="10881360" cy="1554480"/>
        </p:xfrm>
        <a:graphic>
          <a:graphicData uri="http://schemas.openxmlformats.org/drawingml/2006/table">
            <a:tbl>
              <a:tblPr firstRow="1" bandRow="1">
                <a:tableStyleId>{5C22544A-7EE6-4342-B048-85BDC9FD1C3A}</a:tableStyleId>
              </a:tblPr>
              <a:tblGrid>
                <a:gridCol w="7772400"/>
                <a:gridCol w="3108960"/>
              </a:tblGrid>
              <a:tr h="388620">
                <a:tc>
                  <a:txBody>
                    <a:bodyPr/>
                    <a:lstStyle/>
                    <a:p>
                      <a:pPr algn="l"/>
                      <a:r>
                        <a:rPr sz="1500" b="1">
                          <a:solidFill>
                            <a:srgbClr val="FFFFFF"/>
                          </a:solidFill>
                        </a:rPr>
                        <a:t>Metric (200 simulated days)</a:t>
                      </a:r>
                    </a:p>
                  </a:txBody>
                  <a:tcPr anchor="ctr" marT="50800" marB="50800">
                    <a:solidFill>
                      <a:srgbClr val="1E40AF"/>
                    </a:solidFill>
                  </a:tcPr>
                </a:tc>
                <a:tc>
                  <a:txBody>
                    <a:bodyPr/>
                    <a:lstStyle/>
                    <a:p>
                      <a:pPr algn="ctr"/>
                      <a:r>
                        <a:rPr sz="1500" b="1">
                          <a:solidFill>
                            <a:srgbClr val="FFFFFF"/>
                          </a:solidFill>
                        </a:rPr>
                        <a:t>Value</a:t>
                      </a:r>
                    </a:p>
                  </a:txBody>
                  <a:tcPr anchor="ctr" marT="50800" marB="50800">
                    <a:solidFill>
                      <a:srgbClr val="1E40AF"/>
                    </a:solidFill>
                  </a:tcPr>
                </a:tc>
              </a:tr>
              <a:tr h="388620">
                <a:tc>
                  <a:txBody>
                    <a:bodyPr/>
                    <a:lstStyle/>
                    <a:p>
                      <a:pPr algn="l"/>
                      <a:r>
                        <a:rPr sz="1500">
                          <a:solidFill>
                            <a:srgbClr val="1F2937"/>
                          </a:solidFill>
                        </a:rPr>
                        <a:t>Real visits/day (Dept. A)</a:t>
                      </a:r>
                    </a:p>
                  </a:txBody>
                  <a:tcPr anchor="ctr" marT="50800" marB="50800">
                    <a:solidFill>
                      <a:srgbClr val="F8FAFC"/>
                    </a:solidFill>
                  </a:tcPr>
                </a:tc>
                <a:tc>
                  <a:txBody>
                    <a:bodyPr/>
                    <a:lstStyle/>
                    <a:p>
                      <a:pPr algn="ctr"/>
                      <a:r>
                        <a:rPr sz="1500">
                          <a:solidFill>
                            <a:srgbClr val="1F2937"/>
                          </a:solidFill>
                        </a:rPr>
                        <a:t>258.2</a:t>
                      </a:r>
                    </a:p>
                  </a:txBody>
                  <a:tcPr anchor="ctr" marT="50800" marB="50800">
                    <a:solidFill>
                      <a:srgbClr val="F8FAFC"/>
                    </a:solidFill>
                  </a:tcPr>
                </a:tc>
              </a:tr>
              <a:tr h="388620">
                <a:tc>
                  <a:txBody>
                    <a:bodyPr/>
                    <a:lstStyle/>
                    <a:p>
                      <a:pPr algn="l"/>
                      <a:r>
                        <a:rPr sz="1500">
                          <a:solidFill>
                            <a:srgbClr val="1F2937"/>
                          </a:solidFill>
                        </a:rPr>
                        <a:t>Simulated mean visits/day</a:t>
                      </a:r>
                    </a:p>
                  </a:txBody>
                  <a:tcPr anchor="ctr" marT="50800" marB="50800">
                    <a:solidFill>
                      <a:srgbClr val="FFFFFF"/>
                    </a:solidFill>
                  </a:tcPr>
                </a:tc>
                <a:tc>
                  <a:txBody>
                    <a:bodyPr/>
                    <a:lstStyle/>
                    <a:p>
                      <a:pPr algn="ctr"/>
                      <a:r>
                        <a:rPr sz="1500">
                          <a:solidFill>
                            <a:srgbClr val="1F2937"/>
                          </a:solidFill>
                        </a:rPr>
                        <a:t>235.1</a:t>
                      </a:r>
                    </a:p>
                  </a:txBody>
                  <a:tcPr anchor="ctr" marT="50800" marB="50800">
                    <a:solidFill>
                      <a:srgbClr val="FFFFFF"/>
                    </a:solidFill>
                  </a:tcPr>
                </a:tc>
              </a:tr>
              <a:tr h="388620">
                <a:tc>
                  <a:txBody>
                    <a:bodyPr/>
                    <a:lstStyle/>
                    <a:p>
                      <a:pPr algn="l"/>
                      <a:r>
                        <a:rPr sz="1500">
                          <a:solidFill>
                            <a:srgbClr val="1F2937"/>
                          </a:solidFill>
                        </a:rPr>
                        <a:t>Match</a:t>
                      </a:r>
                    </a:p>
                  </a:txBody>
                  <a:tcPr anchor="ctr" marT="50800" marB="50800">
                    <a:solidFill>
                      <a:srgbClr val="F8FAFC"/>
                    </a:solidFill>
                  </a:tcPr>
                </a:tc>
                <a:tc>
                  <a:txBody>
                    <a:bodyPr/>
                    <a:lstStyle/>
                    <a:p>
                      <a:pPr algn="ctr"/>
                      <a:r>
                        <a:rPr sz="1500">
                          <a:solidFill>
                            <a:srgbClr val="1F2937"/>
                          </a:solidFill>
                        </a:rPr>
                        <a:t>91.0%</a:t>
                      </a:r>
                    </a:p>
                  </a:txBody>
                  <a:tcPr anchor="ctr" marT="50800" marB="50800">
                    <a:solidFill>
                      <a:srgbClr val="F8FAFC"/>
                    </a:solidFill>
                  </a:tcPr>
                </a:tc>
              </a:tr>
            </a:tbl>
          </a:graphicData>
        </a:graphic>
      </p:graphicFrame>
      <p:sp>
        <p:nvSpPr>
          <p:cNvPr id="8" name="Rectangle 7"/>
          <p:cNvSpPr/>
          <p:nvPr/>
        </p:nvSpPr>
        <p:spPr>
          <a:xfrm>
            <a:off x="640080" y="3566160"/>
            <a:ext cx="10881360" cy="155448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749039"/>
            <a:ext cx="10332720" cy="1188720"/>
          </a:xfrm>
          <a:prstGeom prst="rect">
            <a:avLst/>
          </a:prstGeom>
          <a:noFill/>
        </p:spPr>
        <p:txBody>
          <a:bodyPr wrap="square" anchor="t" lIns="0" rIns="0" tIns="0" bIns="0">
            <a:spAutoFit/>
          </a:bodyPr>
          <a:lstStyle/>
          <a:p>
            <a:pPr algn="l"/>
            <a:r>
              <a:rPr sz="1400" b="0" i="0">
                <a:solidFill>
                  <a:srgbClr val="1F2937"/>
                </a:solidFill>
                <a:latin typeface="Calibri"/>
              </a:rPr>
              <a:t>The ~9% shortfall is expected, not a calibration flaw: patients still queued when a simulated 24h day ends are right-censored out of that day's stats rather than carried into a "next day," since each run is meant to be one independent sample for surrogate training, not a continuous rollout. This censoring effect resurfaces later in the exchangeability stress test (Slide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RESULTS</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Surrogate Model Accuracy</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8 / 21</a:t>
            </a:r>
          </a:p>
        </p:txBody>
      </p:sp>
      <p:graphicFrame>
        <p:nvGraphicFramePr>
          <p:cNvPr id="7" name="Table 6"/>
          <p:cNvGraphicFramePr>
            <a:graphicFrameLocks noGrp="1"/>
          </p:cNvGraphicFramePr>
          <p:nvPr/>
        </p:nvGraphicFramePr>
        <p:xfrm>
          <a:off x="640080" y="1645920"/>
          <a:ext cx="10881360" cy="2011680"/>
        </p:xfrm>
        <a:graphic>
          <a:graphicData uri="http://schemas.openxmlformats.org/drawingml/2006/table">
            <a:tbl>
              <a:tblPr firstRow="1" bandRow="1">
                <a:tableStyleId>{5C22544A-7EE6-4342-B048-85BDC9FD1C3A}</a:tableStyleId>
              </a:tblPr>
              <a:tblGrid>
                <a:gridCol w="4114800"/>
                <a:gridCol w="2286000"/>
                <a:gridCol w="2286000"/>
                <a:gridCol w="2194560"/>
              </a:tblGrid>
              <a:tr h="402336">
                <a:tc>
                  <a:txBody>
                    <a:bodyPr/>
                    <a:lstStyle/>
                    <a:p>
                      <a:pPr algn="l"/>
                      <a:r>
                        <a:rPr sz="1400" b="1">
                          <a:solidFill>
                            <a:srgbClr val="FFFFFF"/>
                          </a:solidFill>
                        </a:rPr>
                        <a:t>Target</a:t>
                      </a:r>
                    </a:p>
                  </a:txBody>
                  <a:tcPr anchor="ctr" marT="50800" marB="50800">
                    <a:solidFill>
                      <a:srgbClr val="1E40AF"/>
                    </a:solidFill>
                  </a:tcPr>
                </a:tc>
                <a:tc>
                  <a:txBody>
                    <a:bodyPr/>
                    <a:lstStyle/>
                    <a:p>
                      <a:pPr algn="ctr"/>
                      <a:r>
                        <a:rPr sz="1400" b="1">
                          <a:solidFill>
                            <a:srgbClr val="FFFFFF"/>
                          </a:solidFill>
                        </a:rPr>
                        <a:t>MAE</a:t>
                      </a:r>
                    </a:p>
                  </a:txBody>
                  <a:tcPr anchor="ctr" marT="50800" marB="50800">
                    <a:solidFill>
                      <a:srgbClr val="1E40AF"/>
                    </a:solidFill>
                  </a:tcPr>
                </a:tc>
                <a:tc>
                  <a:txBody>
                    <a:bodyPr/>
                    <a:lstStyle/>
                    <a:p>
                      <a:pPr algn="ctr"/>
                      <a:r>
                        <a:rPr sz="1400" b="1">
                          <a:solidFill>
                            <a:srgbClr val="FFFFFF"/>
                          </a:solidFill>
                        </a:rPr>
                        <a:t>RMSE</a:t>
                      </a:r>
                    </a:p>
                  </a:txBody>
                  <a:tcPr anchor="ctr" marT="50800" marB="50800">
                    <a:solidFill>
                      <a:srgbClr val="1E40AF"/>
                    </a:solidFill>
                  </a:tcPr>
                </a:tc>
                <a:tc>
                  <a:txBody>
                    <a:bodyPr/>
                    <a:lstStyle/>
                    <a:p>
                      <a:pPr algn="ctr"/>
                      <a:r>
                        <a:rPr sz="1400" b="1">
                          <a:solidFill>
                            <a:srgbClr val="FFFFFF"/>
                          </a:solidFill>
                        </a:rPr>
                        <a:t>R²</a:t>
                      </a:r>
                    </a:p>
                  </a:txBody>
                  <a:tcPr anchor="ctr" marT="50800" marB="50800">
                    <a:solidFill>
                      <a:srgbClr val="1E40AF"/>
                    </a:solidFill>
                  </a:tcPr>
                </a:tc>
              </a:tr>
              <a:tr h="402336">
                <a:tc>
                  <a:txBody>
                    <a:bodyPr/>
                    <a:lstStyle/>
                    <a:p>
                      <a:pPr algn="l"/>
                      <a:r>
                        <a:rPr sz="1400">
                          <a:solidFill>
                            <a:srgbClr val="1F2937"/>
                          </a:solidFill>
                        </a:rPr>
                        <a:t>n_patients</a:t>
                      </a:r>
                    </a:p>
                  </a:txBody>
                  <a:tcPr anchor="ctr" marT="50800" marB="50800">
                    <a:solidFill>
                      <a:srgbClr val="F8FAFC"/>
                    </a:solidFill>
                  </a:tcPr>
                </a:tc>
                <a:tc>
                  <a:txBody>
                    <a:bodyPr/>
                    <a:lstStyle/>
                    <a:p>
                      <a:pPr algn="ctr"/>
                      <a:r>
                        <a:rPr sz="1400">
                          <a:solidFill>
                            <a:srgbClr val="1F2937"/>
                          </a:solidFill>
                        </a:rPr>
                        <a:t>9.90</a:t>
                      </a:r>
                    </a:p>
                  </a:txBody>
                  <a:tcPr anchor="ctr" marT="50800" marB="50800">
                    <a:solidFill>
                      <a:srgbClr val="F8FAFC"/>
                    </a:solidFill>
                  </a:tcPr>
                </a:tc>
                <a:tc>
                  <a:txBody>
                    <a:bodyPr/>
                    <a:lstStyle/>
                    <a:p>
                      <a:pPr algn="ctr"/>
                      <a:r>
                        <a:rPr sz="1400">
                          <a:solidFill>
                            <a:srgbClr val="1F2937"/>
                          </a:solidFill>
                        </a:rPr>
                        <a:t>12.59</a:t>
                      </a:r>
                    </a:p>
                  </a:txBody>
                  <a:tcPr anchor="ctr" marT="50800" marB="50800">
                    <a:solidFill>
                      <a:srgbClr val="F8FAFC"/>
                    </a:solidFill>
                  </a:tcPr>
                </a:tc>
                <a:tc>
                  <a:txBody>
                    <a:bodyPr/>
                    <a:lstStyle/>
                    <a:p>
                      <a:pPr algn="ctr"/>
                      <a:r>
                        <a:rPr sz="1400">
                          <a:solidFill>
                            <a:srgbClr val="1F2937"/>
                          </a:solidFill>
                        </a:rPr>
                        <a:t>0.929</a:t>
                      </a:r>
                    </a:p>
                  </a:txBody>
                  <a:tcPr anchor="ctr" marT="50800" marB="50800">
                    <a:solidFill>
                      <a:srgbClr val="F8FAFC"/>
                    </a:solidFill>
                  </a:tcPr>
                </a:tc>
              </a:tr>
              <a:tr h="402336">
                <a:tc>
                  <a:txBody>
                    <a:bodyPr/>
                    <a:lstStyle/>
                    <a:p>
                      <a:pPr algn="l"/>
                      <a:r>
                        <a:rPr sz="1400">
                          <a:solidFill>
                            <a:srgbClr val="1F2937"/>
                          </a:solidFill>
                        </a:rPr>
                        <a:t>mean_wait_minutes</a:t>
                      </a:r>
                    </a:p>
                  </a:txBody>
                  <a:tcPr anchor="ctr" marT="50800" marB="50800">
                    <a:solidFill>
                      <a:srgbClr val="FFFFFF"/>
                    </a:solidFill>
                  </a:tcPr>
                </a:tc>
                <a:tc>
                  <a:txBody>
                    <a:bodyPr/>
                    <a:lstStyle/>
                    <a:p>
                      <a:pPr algn="ctr"/>
                      <a:r>
                        <a:rPr sz="1400">
                          <a:solidFill>
                            <a:srgbClr val="1F2937"/>
                          </a:solidFill>
                        </a:rPr>
                        <a:t>8.86</a:t>
                      </a:r>
                    </a:p>
                  </a:txBody>
                  <a:tcPr anchor="ctr" marT="50800" marB="50800">
                    <a:solidFill>
                      <a:srgbClr val="FFFFFF"/>
                    </a:solidFill>
                  </a:tcPr>
                </a:tc>
                <a:tc>
                  <a:txBody>
                    <a:bodyPr/>
                    <a:lstStyle/>
                    <a:p>
                      <a:pPr algn="ctr"/>
                      <a:r>
                        <a:rPr sz="1400">
                          <a:solidFill>
                            <a:srgbClr val="1F2937"/>
                          </a:solidFill>
                        </a:rPr>
                        <a:t>13.23</a:t>
                      </a:r>
                    </a:p>
                  </a:txBody>
                  <a:tcPr anchor="ctr" marT="50800" marB="50800">
                    <a:solidFill>
                      <a:srgbClr val="FFFFFF"/>
                    </a:solidFill>
                  </a:tcPr>
                </a:tc>
                <a:tc>
                  <a:txBody>
                    <a:bodyPr/>
                    <a:lstStyle/>
                    <a:p>
                      <a:pPr algn="ctr"/>
                      <a:r>
                        <a:rPr sz="1400">
                          <a:solidFill>
                            <a:srgbClr val="1F2937"/>
                          </a:solidFill>
                        </a:rPr>
                        <a:t>0.787</a:t>
                      </a:r>
                    </a:p>
                  </a:txBody>
                  <a:tcPr anchor="ctr" marT="50800" marB="50800">
                    <a:solidFill>
                      <a:srgbClr val="FFFFFF"/>
                    </a:solidFill>
                  </a:tcPr>
                </a:tc>
              </a:tr>
              <a:tr h="402336">
                <a:tc>
                  <a:txBody>
                    <a:bodyPr/>
                    <a:lstStyle/>
                    <a:p>
                      <a:pPr algn="l"/>
                      <a:r>
                        <a:rPr sz="1400">
                          <a:solidFill>
                            <a:srgbClr val="1F2937"/>
                          </a:solidFill>
                        </a:rPr>
                        <a:t>mean_total_minutes</a:t>
                      </a:r>
                    </a:p>
                  </a:txBody>
                  <a:tcPr anchor="ctr" marT="50800" marB="50800">
                    <a:solidFill>
                      <a:srgbClr val="F8FAFC"/>
                    </a:solidFill>
                  </a:tcPr>
                </a:tc>
                <a:tc>
                  <a:txBody>
                    <a:bodyPr/>
                    <a:lstStyle/>
                    <a:p>
                      <a:pPr algn="ctr"/>
                      <a:r>
                        <a:rPr sz="1400">
                          <a:solidFill>
                            <a:srgbClr val="1F2937"/>
                          </a:solidFill>
                        </a:rPr>
                        <a:t>9.88</a:t>
                      </a:r>
                    </a:p>
                  </a:txBody>
                  <a:tcPr anchor="ctr" marT="50800" marB="50800">
                    <a:solidFill>
                      <a:srgbClr val="F8FAFC"/>
                    </a:solidFill>
                  </a:tcPr>
                </a:tc>
                <a:tc>
                  <a:txBody>
                    <a:bodyPr/>
                    <a:lstStyle/>
                    <a:p>
                      <a:pPr algn="ctr"/>
                      <a:r>
                        <a:rPr sz="1400">
                          <a:solidFill>
                            <a:srgbClr val="1F2937"/>
                          </a:solidFill>
                        </a:rPr>
                        <a:t>13.61</a:t>
                      </a:r>
                    </a:p>
                  </a:txBody>
                  <a:tcPr anchor="ctr" marT="50800" marB="50800">
                    <a:solidFill>
                      <a:srgbClr val="F8FAFC"/>
                    </a:solidFill>
                  </a:tcPr>
                </a:tc>
                <a:tc>
                  <a:txBody>
                    <a:bodyPr/>
                    <a:lstStyle/>
                    <a:p>
                      <a:pPr algn="ctr"/>
                      <a:r>
                        <a:rPr sz="1400">
                          <a:solidFill>
                            <a:srgbClr val="1F2937"/>
                          </a:solidFill>
                        </a:rPr>
                        <a:t>0.762</a:t>
                      </a:r>
                    </a:p>
                  </a:txBody>
                  <a:tcPr anchor="ctr" marT="50800" marB="50800">
                    <a:solidFill>
                      <a:srgbClr val="F8FAFC"/>
                    </a:solidFill>
                  </a:tcPr>
                </a:tc>
              </a:tr>
              <a:tr h="402336">
                <a:tc>
                  <a:txBody>
                    <a:bodyPr/>
                    <a:lstStyle/>
                    <a:p>
                      <a:pPr algn="l"/>
                      <a:r>
                        <a:rPr sz="1400">
                          <a:solidFill>
                            <a:srgbClr val="1F2937"/>
                          </a:solidFill>
                        </a:rPr>
                        <a:t>p95_wait_minutes</a:t>
                      </a:r>
                    </a:p>
                  </a:txBody>
                  <a:tcPr anchor="ctr" marT="50800" marB="50800">
                    <a:solidFill>
                      <a:srgbClr val="FFFFFF"/>
                    </a:solidFill>
                  </a:tcPr>
                </a:tc>
                <a:tc>
                  <a:txBody>
                    <a:bodyPr/>
                    <a:lstStyle/>
                    <a:p>
                      <a:pPr algn="ctr"/>
                      <a:r>
                        <a:rPr sz="1400">
                          <a:solidFill>
                            <a:srgbClr val="1F2937"/>
                          </a:solidFill>
                        </a:rPr>
                        <a:t>66.94</a:t>
                      </a:r>
                    </a:p>
                  </a:txBody>
                  <a:tcPr anchor="ctr" marT="50800" marB="50800">
                    <a:solidFill>
                      <a:srgbClr val="FFFFFF"/>
                    </a:solidFill>
                  </a:tcPr>
                </a:tc>
                <a:tc>
                  <a:txBody>
                    <a:bodyPr/>
                    <a:lstStyle/>
                    <a:p>
                      <a:pPr algn="ctr"/>
                      <a:r>
                        <a:rPr sz="1400">
                          <a:solidFill>
                            <a:srgbClr val="1F2937"/>
                          </a:solidFill>
                        </a:rPr>
                        <a:t>102.47</a:t>
                      </a:r>
                    </a:p>
                  </a:txBody>
                  <a:tcPr anchor="ctr" marT="50800" marB="50800">
                    <a:solidFill>
                      <a:srgbClr val="FFFFFF"/>
                    </a:solidFill>
                  </a:tcPr>
                </a:tc>
                <a:tc>
                  <a:txBody>
                    <a:bodyPr/>
                    <a:lstStyle/>
                    <a:p>
                      <a:pPr algn="ctr"/>
                      <a:r>
                        <a:rPr sz="1400">
                          <a:solidFill>
                            <a:srgbClr val="1F2937"/>
                          </a:solidFill>
                        </a:rPr>
                        <a:t>0.647</a:t>
                      </a:r>
                    </a:p>
                  </a:txBody>
                  <a:tcPr anchor="ctr" marT="50800" marB="50800">
                    <a:solidFill>
                      <a:srgbClr val="FFFFFF"/>
                    </a:solidFill>
                  </a:tcPr>
                </a:tc>
              </a:tr>
            </a:tbl>
          </a:graphicData>
        </a:graphic>
      </p:graphicFrame>
      <p:sp>
        <p:nvSpPr>
          <p:cNvPr id="8" name="Rectangle 7"/>
          <p:cNvSpPr/>
          <p:nvPr/>
        </p:nvSpPr>
        <p:spPr>
          <a:xfrm>
            <a:off x="640080" y="3931920"/>
            <a:ext cx="10881360" cy="173736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10332720" cy="1371600"/>
          </a:xfrm>
          <a:prstGeom prst="rect">
            <a:avLst/>
          </a:prstGeom>
          <a:noFill/>
        </p:spPr>
        <p:txBody>
          <a:bodyPr wrap="square" anchor="t" lIns="0" rIns="0" tIns="0" bIns="0">
            <a:spAutoFit/>
          </a:bodyPr>
          <a:lstStyle/>
          <a:p>
            <a:pPr algn="l"/>
            <a:r>
              <a:rPr sz="1400" b="0" i="0">
                <a:solidFill>
                  <a:srgbClr val="1F2937"/>
                </a:solidFill>
                <a:latin typeface="Calibri"/>
              </a:rPr>
              <a:t>Gradient boosting (HistGradientBoostingRegressor), trained on 5000 DES scenarios sweeping staffing and arrival-rate combinations. p95_wait_minutes fits worst — a tail statistic from one noisy simulated day depends heavily on the specific stochastic realization, not just the two scenario parameters. This matters later in the exchangeability stress test.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RESULTS</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GP Baseline (the benchmark)</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9 / 21</a:t>
            </a:r>
          </a:p>
        </p:txBody>
      </p:sp>
      <p:graphicFrame>
        <p:nvGraphicFramePr>
          <p:cNvPr id="7" name="Table 6"/>
          <p:cNvGraphicFramePr>
            <a:graphicFrameLocks noGrp="1"/>
          </p:cNvGraphicFramePr>
          <p:nvPr/>
        </p:nvGraphicFramePr>
        <p:xfrm>
          <a:off x="640080" y="1645920"/>
          <a:ext cx="10881360" cy="2011680"/>
        </p:xfrm>
        <a:graphic>
          <a:graphicData uri="http://schemas.openxmlformats.org/drawingml/2006/table">
            <a:tbl>
              <a:tblPr firstRow="1" bandRow="1">
                <a:tableStyleId>{5C22544A-7EE6-4342-B048-85BDC9FD1C3A}</a:tableStyleId>
              </a:tblPr>
              <a:tblGrid>
                <a:gridCol w="3566160"/>
                <a:gridCol w="2468880"/>
                <a:gridCol w="2468880"/>
                <a:gridCol w="2377440"/>
              </a:tblGrid>
              <a:tr h="402336">
                <a:tc>
                  <a:txBody>
                    <a:bodyPr/>
                    <a:lstStyle/>
                    <a:p>
                      <a:pPr algn="l"/>
                      <a:r>
                        <a:rPr sz="1400" b="1">
                          <a:solidFill>
                            <a:srgbClr val="FFFFFF"/>
                          </a:solidFill>
                        </a:rPr>
                        <a:t>Target</a:t>
                      </a:r>
                    </a:p>
                  </a:txBody>
                  <a:tcPr anchor="ctr" marT="50800" marB="50800">
                    <a:solidFill>
                      <a:srgbClr val="1E40AF"/>
                    </a:solidFill>
                  </a:tcPr>
                </a:tc>
                <a:tc>
                  <a:txBody>
                    <a:bodyPr/>
                    <a:lstStyle/>
                    <a:p>
                      <a:pPr algn="ctr"/>
                      <a:r>
                        <a:rPr sz="1400" b="1">
                          <a:solidFill>
                            <a:srgbClr val="FFFFFF"/>
                          </a:solidFill>
                        </a:rPr>
                        <a:t>Target coverage</a:t>
                      </a:r>
                    </a:p>
                  </a:txBody>
                  <a:tcPr anchor="ctr" marT="50800" marB="50800">
                    <a:solidFill>
                      <a:srgbClr val="1E40AF"/>
                    </a:solidFill>
                  </a:tcPr>
                </a:tc>
                <a:tc>
                  <a:txBody>
                    <a:bodyPr/>
                    <a:lstStyle/>
                    <a:p>
                      <a:pPr algn="ctr"/>
                      <a:r>
                        <a:rPr sz="1400" b="1">
                          <a:solidFill>
                            <a:srgbClr val="FFFFFF"/>
                          </a:solidFill>
                        </a:rPr>
                        <a:t>Empirical coverage</a:t>
                      </a:r>
                    </a:p>
                  </a:txBody>
                  <a:tcPr anchor="ctr" marT="50800" marB="50800">
                    <a:solidFill>
                      <a:srgbClr val="1E40AF"/>
                    </a:solidFill>
                  </a:tcPr>
                </a:tc>
                <a:tc>
                  <a:txBody>
                    <a:bodyPr/>
                    <a:lstStyle/>
                    <a:p>
                      <a:pPr algn="ctr"/>
                      <a:r>
                        <a:rPr sz="1400" b="1">
                          <a:solidFill>
                            <a:srgbClr val="FFFFFF"/>
                          </a:solidFill>
                        </a:rPr>
                        <a:t>Mean width</a:t>
                      </a:r>
                    </a:p>
                  </a:txBody>
                  <a:tcPr anchor="ctr" marT="50800" marB="50800">
                    <a:solidFill>
                      <a:srgbClr val="1E40AF"/>
                    </a:solidFill>
                  </a:tcPr>
                </a:tc>
              </a:tr>
              <a:tr h="402336">
                <a:tc>
                  <a:txBody>
                    <a:bodyPr/>
                    <a:lstStyle/>
                    <a:p>
                      <a:pPr algn="l"/>
                      <a:r>
                        <a:rPr sz="1400">
                          <a:solidFill>
                            <a:srgbClr val="1F2937"/>
                          </a:solidFill>
                        </a:rPr>
                        <a:t>n_patients</a:t>
                      </a:r>
                    </a:p>
                  </a:txBody>
                  <a:tcPr anchor="ctr" marT="50800" marB="50800">
                    <a:solidFill>
                      <a:srgbClr val="F8FAFC"/>
                    </a:solidFill>
                  </a:tcPr>
                </a:tc>
                <a:tc>
                  <a:txBody>
                    <a:bodyPr/>
                    <a:lstStyle/>
                    <a:p>
                      <a:pPr algn="ctr"/>
                      <a:r>
                        <a:rPr sz="1400">
                          <a:solidFill>
                            <a:srgbClr val="1F2937"/>
                          </a:solidFill>
                        </a:rPr>
                        <a:t>90%</a:t>
                      </a:r>
                    </a:p>
                  </a:txBody>
                  <a:tcPr anchor="ctr" marT="50800" marB="50800">
                    <a:solidFill>
                      <a:srgbClr val="F8FAFC"/>
                    </a:solidFill>
                  </a:tcPr>
                </a:tc>
                <a:tc>
                  <a:txBody>
                    <a:bodyPr/>
                    <a:lstStyle/>
                    <a:p>
                      <a:pPr algn="ctr"/>
                      <a:r>
                        <a:rPr sz="1400">
                          <a:solidFill>
                            <a:srgbClr val="1F2937"/>
                          </a:solidFill>
                        </a:rPr>
                        <a:t>88.5%</a:t>
                      </a:r>
                    </a:p>
                  </a:txBody>
                  <a:tcPr anchor="ctr" marT="50800" marB="50800">
                    <a:solidFill>
                      <a:srgbClr val="F8FAFC"/>
                    </a:solidFill>
                  </a:tcPr>
                </a:tc>
                <a:tc>
                  <a:txBody>
                    <a:bodyPr/>
                    <a:lstStyle/>
                    <a:p>
                      <a:pPr algn="ctr"/>
                      <a:r>
                        <a:rPr sz="1400">
                          <a:solidFill>
                            <a:srgbClr val="1F2937"/>
                          </a:solidFill>
                        </a:rPr>
                        <a:t>39.3</a:t>
                      </a:r>
                    </a:p>
                  </a:txBody>
                  <a:tcPr anchor="ctr" marT="50800" marB="50800">
                    <a:solidFill>
                      <a:srgbClr val="F8FAFC"/>
                    </a:solidFill>
                  </a:tcPr>
                </a:tc>
              </a:tr>
              <a:tr h="402336">
                <a:tc>
                  <a:txBody>
                    <a:bodyPr/>
                    <a:lstStyle/>
                    <a:p>
                      <a:pPr algn="l"/>
                      <a:r>
                        <a:rPr sz="1400">
                          <a:solidFill>
                            <a:srgbClr val="1F2937"/>
                          </a:solidFill>
                        </a:rPr>
                        <a:t>mean_wait_minutes</a:t>
                      </a:r>
                    </a:p>
                  </a:txBody>
                  <a:tcPr anchor="ctr" marT="50800" marB="50800">
                    <a:solidFill>
                      <a:srgbClr val="FFFFFF"/>
                    </a:solidFill>
                  </a:tcPr>
                </a:tc>
                <a:tc>
                  <a:txBody>
                    <a:bodyPr/>
                    <a:lstStyle/>
                    <a:p>
                      <a:pPr algn="ctr"/>
                      <a:r>
                        <a:rPr sz="1400">
                          <a:solidFill>
                            <a:srgbClr val="1F2937"/>
                          </a:solidFill>
                        </a:rPr>
                        <a:t>90%</a:t>
                      </a:r>
                    </a:p>
                  </a:txBody>
                  <a:tcPr anchor="ctr" marT="50800" marB="50800">
                    <a:solidFill>
                      <a:srgbClr val="FFFFFF"/>
                    </a:solidFill>
                  </a:tcPr>
                </a:tc>
                <a:tc>
                  <a:txBody>
                    <a:bodyPr/>
                    <a:lstStyle/>
                    <a:p>
                      <a:pPr algn="ctr"/>
                      <a:r>
                        <a:rPr sz="1400">
                          <a:solidFill>
                            <a:srgbClr val="1F2937"/>
                          </a:solidFill>
                        </a:rPr>
                        <a:t>87.7%</a:t>
                      </a:r>
                    </a:p>
                  </a:txBody>
                  <a:tcPr anchor="ctr" marT="50800" marB="50800">
                    <a:solidFill>
                      <a:srgbClr val="FFFFFF"/>
                    </a:solidFill>
                  </a:tcPr>
                </a:tc>
                <a:tc>
                  <a:txBody>
                    <a:bodyPr/>
                    <a:lstStyle/>
                    <a:p>
                      <a:pPr algn="ctr"/>
                      <a:r>
                        <a:rPr sz="1400">
                          <a:solidFill>
                            <a:srgbClr val="1F2937"/>
                          </a:solidFill>
                        </a:rPr>
                        <a:t>43.6</a:t>
                      </a:r>
                    </a:p>
                  </a:txBody>
                  <a:tcPr anchor="ctr" marT="50800" marB="50800">
                    <a:solidFill>
                      <a:srgbClr val="FFFFFF"/>
                    </a:solidFill>
                  </a:tcPr>
                </a:tc>
              </a:tr>
              <a:tr h="402336">
                <a:tc>
                  <a:txBody>
                    <a:bodyPr/>
                    <a:lstStyle/>
                    <a:p>
                      <a:pPr algn="l"/>
                      <a:r>
                        <a:rPr sz="1400">
                          <a:solidFill>
                            <a:srgbClr val="1F2937"/>
                          </a:solidFill>
                        </a:rPr>
                        <a:t>mean_total_minutes</a:t>
                      </a:r>
                    </a:p>
                  </a:txBody>
                  <a:tcPr anchor="ctr" marT="50800" marB="50800">
                    <a:solidFill>
                      <a:srgbClr val="F8FAFC"/>
                    </a:solidFill>
                  </a:tcPr>
                </a:tc>
                <a:tc>
                  <a:txBody>
                    <a:bodyPr/>
                    <a:lstStyle/>
                    <a:p>
                      <a:pPr algn="ctr"/>
                      <a:r>
                        <a:rPr sz="1400">
                          <a:solidFill>
                            <a:srgbClr val="1F2937"/>
                          </a:solidFill>
                        </a:rPr>
                        <a:t>90%</a:t>
                      </a:r>
                    </a:p>
                  </a:txBody>
                  <a:tcPr anchor="ctr" marT="50800" marB="50800">
                    <a:solidFill>
                      <a:srgbClr val="F8FAFC"/>
                    </a:solidFill>
                  </a:tcPr>
                </a:tc>
                <a:tc>
                  <a:txBody>
                    <a:bodyPr/>
                    <a:lstStyle/>
                    <a:p>
                      <a:pPr algn="ctr"/>
                      <a:r>
                        <a:rPr sz="1400">
                          <a:solidFill>
                            <a:srgbClr val="1F2937"/>
                          </a:solidFill>
                        </a:rPr>
                        <a:t>88.8%</a:t>
                      </a:r>
                    </a:p>
                  </a:txBody>
                  <a:tcPr anchor="ctr" marT="50800" marB="50800">
                    <a:solidFill>
                      <a:srgbClr val="F8FAFC"/>
                    </a:solidFill>
                  </a:tcPr>
                </a:tc>
                <a:tc>
                  <a:txBody>
                    <a:bodyPr/>
                    <a:lstStyle/>
                    <a:p>
                      <a:pPr algn="ctr"/>
                      <a:r>
                        <a:rPr sz="1400">
                          <a:solidFill>
                            <a:srgbClr val="1F2937"/>
                          </a:solidFill>
                        </a:rPr>
                        <a:t>43.4</a:t>
                      </a:r>
                    </a:p>
                  </a:txBody>
                  <a:tcPr anchor="ctr" marT="50800" marB="50800">
                    <a:solidFill>
                      <a:srgbClr val="F8FAFC"/>
                    </a:solidFill>
                  </a:tcPr>
                </a:tc>
              </a:tr>
              <a:tr h="402336">
                <a:tc>
                  <a:txBody>
                    <a:bodyPr/>
                    <a:lstStyle/>
                    <a:p>
                      <a:pPr algn="l"/>
                      <a:r>
                        <a:rPr sz="1400">
                          <a:solidFill>
                            <a:srgbClr val="1F2937"/>
                          </a:solidFill>
                        </a:rPr>
                        <a:t>p95_wait_minutes</a:t>
                      </a:r>
                    </a:p>
                  </a:txBody>
                  <a:tcPr anchor="ctr" marT="50800" marB="50800">
                    <a:solidFill>
                      <a:srgbClr val="FFFFFF"/>
                    </a:solidFill>
                  </a:tcPr>
                </a:tc>
                <a:tc>
                  <a:txBody>
                    <a:bodyPr/>
                    <a:lstStyle/>
                    <a:p>
                      <a:pPr algn="ctr"/>
                      <a:r>
                        <a:rPr sz="1400">
                          <a:solidFill>
                            <a:srgbClr val="1F2937"/>
                          </a:solidFill>
                        </a:rPr>
                        <a:t>90%</a:t>
                      </a:r>
                    </a:p>
                  </a:txBody>
                  <a:tcPr anchor="ctr" marT="50800" marB="50800">
                    <a:solidFill>
                      <a:srgbClr val="FFFFFF"/>
                    </a:solidFill>
                  </a:tcPr>
                </a:tc>
                <a:tc>
                  <a:txBody>
                    <a:bodyPr/>
                    <a:lstStyle/>
                    <a:p>
                      <a:pPr algn="ctr"/>
                      <a:r>
                        <a:rPr sz="1400">
                          <a:solidFill>
                            <a:srgbClr val="1F2937"/>
                          </a:solidFill>
                        </a:rPr>
                        <a:t>90.1%</a:t>
                      </a:r>
                    </a:p>
                  </a:txBody>
                  <a:tcPr anchor="ctr" marT="50800" marB="50800">
                    <a:solidFill>
                      <a:srgbClr val="FFFFFF"/>
                    </a:solidFill>
                  </a:tcPr>
                </a:tc>
                <a:tc>
                  <a:txBody>
                    <a:bodyPr/>
                    <a:lstStyle/>
                    <a:p>
                      <a:pPr algn="ctr"/>
                      <a:r>
                        <a:rPr sz="1400">
                          <a:solidFill>
                            <a:srgbClr val="1F2937"/>
                          </a:solidFill>
                        </a:rPr>
                        <a:t>350.3</a:t>
                      </a:r>
                    </a:p>
                  </a:txBody>
                  <a:tcPr anchor="ctr" marT="50800" marB="50800">
                    <a:solidFill>
                      <a:srgbClr val="FFFFFF"/>
                    </a:solidFill>
                  </a:tcPr>
                </a:tc>
              </a:tr>
            </a:tbl>
          </a:graphicData>
        </a:graphic>
      </p:graphicFrame>
      <p:sp>
        <p:nvSpPr>
          <p:cNvPr id="8" name="Rectangle 7"/>
          <p:cNvSpPr/>
          <p:nvPr/>
        </p:nvSpPr>
        <p:spPr>
          <a:xfrm>
            <a:off x="640080" y="3931920"/>
            <a:ext cx="10881360" cy="118872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10332720" cy="822960"/>
          </a:xfrm>
          <a:prstGeom prst="rect">
            <a:avLst/>
          </a:prstGeom>
          <a:noFill/>
        </p:spPr>
        <p:txBody>
          <a:bodyPr wrap="square" anchor="t" lIns="0" rIns="0" tIns="0" bIns="0">
            <a:spAutoFit/>
          </a:bodyPr>
          <a:lstStyle/>
          <a:p>
            <a:pPr algn="l"/>
            <a:r>
              <a:rPr sz="1400" b="0" i="0">
                <a:solidFill>
                  <a:srgbClr val="1F2937"/>
                </a:solidFill>
                <a:latin typeface="Calibri"/>
              </a:rPr>
              <a:t>GP undercovers on 3 of 4 targets — expected, since it relies on distributional assumptions rather than a finite-sample guarantee. This is the gap the rest of the project tests whether CP / Mondrian CP can close.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RESULTS</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Standard Conformal Prediction</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10 / 21</a:t>
            </a:r>
          </a:p>
        </p:txBody>
      </p:sp>
      <p:graphicFrame>
        <p:nvGraphicFramePr>
          <p:cNvPr id="7" name="Table 6"/>
          <p:cNvGraphicFramePr>
            <a:graphicFrameLocks noGrp="1"/>
          </p:cNvGraphicFramePr>
          <p:nvPr/>
        </p:nvGraphicFramePr>
        <p:xfrm>
          <a:off x="640080" y="1645920"/>
          <a:ext cx="10881360" cy="2011680"/>
        </p:xfrm>
        <a:graphic>
          <a:graphicData uri="http://schemas.openxmlformats.org/drawingml/2006/table">
            <a:tbl>
              <a:tblPr firstRow="1" bandRow="1">
                <a:tableStyleId>{5C22544A-7EE6-4342-B048-85BDC9FD1C3A}</a:tableStyleId>
              </a:tblPr>
              <a:tblGrid>
                <a:gridCol w="3017520"/>
                <a:gridCol w="1965960"/>
                <a:gridCol w="1965960"/>
                <a:gridCol w="1965960"/>
                <a:gridCol w="1965960"/>
              </a:tblGrid>
              <a:tr h="402336">
                <a:tc>
                  <a:txBody>
                    <a:bodyPr/>
                    <a:lstStyle/>
                    <a:p>
                      <a:pPr algn="l"/>
                      <a:r>
                        <a:rPr sz="1300" b="1">
                          <a:solidFill>
                            <a:srgbClr val="FFFFFF"/>
                          </a:solidFill>
                        </a:rPr>
                        <a:t>Target</a:t>
                      </a:r>
                    </a:p>
                  </a:txBody>
                  <a:tcPr anchor="ctr" marT="50800" marB="50800">
                    <a:solidFill>
                      <a:srgbClr val="1E40AF"/>
                    </a:solidFill>
                  </a:tcPr>
                </a:tc>
                <a:tc>
                  <a:txBody>
                    <a:bodyPr/>
                    <a:lstStyle/>
                    <a:p>
                      <a:pPr algn="ctr"/>
                      <a:r>
                        <a:rPr sz="1300" b="1">
                          <a:solidFill>
                            <a:srgbClr val="FFFFFF"/>
                          </a:solidFill>
                        </a:rPr>
                        <a:t>Sym. coverage</a:t>
                      </a:r>
                    </a:p>
                  </a:txBody>
                  <a:tcPr anchor="ctr" marT="50800" marB="50800">
                    <a:solidFill>
                      <a:srgbClr val="1E40AF"/>
                    </a:solidFill>
                  </a:tcPr>
                </a:tc>
                <a:tc>
                  <a:txBody>
                    <a:bodyPr/>
                    <a:lstStyle/>
                    <a:p>
                      <a:pPr algn="ctr"/>
                      <a:r>
                        <a:rPr sz="1300" b="1">
                          <a:solidFill>
                            <a:srgbClr val="FFFFFF"/>
                          </a:solidFill>
                        </a:rPr>
                        <a:t>Sym. width</a:t>
                      </a:r>
                    </a:p>
                  </a:txBody>
                  <a:tcPr anchor="ctr" marT="50800" marB="50800">
                    <a:solidFill>
                      <a:srgbClr val="1E40AF"/>
                    </a:solidFill>
                  </a:tcPr>
                </a:tc>
                <a:tc>
                  <a:txBody>
                    <a:bodyPr/>
                    <a:lstStyle/>
                    <a:p>
                      <a:pPr algn="ctr"/>
                      <a:r>
                        <a:rPr sz="1300" b="1">
                          <a:solidFill>
                            <a:srgbClr val="FFFFFF"/>
                          </a:solidFill>
                        </a:rPr>
                        <a:t>Asym. coverage</a:t>
                      </a:r>
                    </a:p>
                  </a:txBody>
                  <a:tcPr anchor="ctr" marT="50800" marB="50800">
                    <a:solidFill>
                      <a:srgbClr val="1E40AF"/>
                    </a:solidFill>
                  </a:tcPr>
                </a:tc>
                <a:tc>
                  <a:txBody>
                    <a:bodyPr/>
                    <a:lstStyle/>
                    <a:p>
                      <a:pPr algn="ctr"/>
                      <a:r>
                        <a:rPr sz="1300" b="1">
                          <a:solidFill>
                            <a:srgbClr val="FFFFFF"/>
                          </a:solidFill>
                        </a:rPr>
                        <a:t>Asym. width</a:t>
                      </a:r>
                    </a:p>
                  </a:txBody>
                  <a:tcPr anchor="ctr" marT="50800" marB="50800">
                    <a:solidFill>
                      <a:srgbClr val="1E40AF"/>
                    </a:solidFill>
                  </a:tcPr>
                </a:tc>
              </a:tr>
              <a:tr h="402336">
                <a:tc>
                  <a:txBody>
                    <a:bodyPr/>
                    <a:lstStyle/>
                    <a:p>
                      <a:pPr algn="l"/>
                      <a:r>
                        <a:rPr sz="1300">
                          <a:solidFill>
                            <a:srgbClr val="1F2937"/>
                          </a:solidFill>
                        </a:rPr>
                        <a:t>n_patients</a:t>
                      </a:r>
                    </a:p>
                  </a:txBody>
                  <a:tcPr anchor="ctr" marT="50800" marB="50800">
                    <a:solidFill>
                      <a:srgbClr val="F8FAFC"/>
                    </a:solidFill>
                  </a:tcPr>
                </a:tc>
                <a:tc>
                  <a:txBody>
                    <a:bodyPr/>
                    <a:lstStyle/>
                    <a:p>
                      <a:pPr algn="ctr"/>
                      <a:r>
                        <a:rPr sz="1300">
                          <a:solidFill>
                            <a:srgbClr val="1F2937"/>
                          </a:solidFill>
                        </a:rPr>
                        <a:t>92.1%</a:t>
                      </a:r>
                    </a:p>
                  </a:txBody>
                  <a:tcPr anchor="ctr" marT="50800" marB="50800">
                    <a:solidFill>
                      <a:srgbClr val="F8FAFC"/>
                    </a:solidFill>
                  </a:tcPr>
                </a:tc>
                <a:tc>
                  <a:txBody>
                    <a:bodyPr/>
                    <a:lstStyle/>
                    <a:p>
                      <a:pPr algn="ctr"/>
                      <a:r>
                        <a:rPr sz="1300">
                          <a:solidFill>
                            <a:srgbClr val="1F2937"/>
                          </a:solidFill>
                        </a:rPr>
                        <a:t>43.6</a:t>
                      </a:r>
                    </a:p>
                  </a:txBody>
                  <a:tcPr anchor="ctr" marT="50800" marB="50800">
                    <a:solidFill>
                      <a:srgbClr val="F8FAFC"/>
                    </a:solidFill>
                  </a:tcPr>
                </a:tc>
                <a:tc>
                  <a:txBody>
                    <a:bodyPr/>
                    <a:lstStyle/>
                    <a:p>
                      <a:pPr algn="ctr"/>
                      <a:r>
                        <a:rPr sz="1300">
                          <a:solidFill>
                            <a:srgbClr val="1F2937"/>
                          </a:solidFill>
                        </a:rPr>
                        <a:t>92.0%</a:t>
                      </a:r>
                    </a:p>
                  </a:txBody>
                  <a:tcPr anchor="ctr" marT="50800" marB="50800">
                    <a:solidFill>
                      <a:srgbClr val="F8FAFC"/>
                    </a:solidFill>
                  </a:tcPr>
                </a:tc>
                <a:tc>
                  <a:txBody>
                    <a:bodyPr/>
                    <a:lstStyle/>
                    <a:p>
                      <a:pPr algn="ctr"/>
                      <a:r>
                        <a:rPr sz="1300">
                          <a:solidFill>
                            <a:srgbClr val="1F2937"/>
                          </a:solidFill>
                        </a:rPr>
                        <a:t>43.6</a:t>
                      </a:r>
                    </a:p>
                  </a:txBody>
                  <a:tcPr anchor="ctr" marT="50800" marB="50800">
                    <a:solidFill>
                      <a:srgbClr val="F8FAFC"/>
                    </a:solidFill>
                  </a:tcPr>
                </a:tc>
              </a:tr>
              <a:tr h="402336">
                <a:tc>
                  <a:txBody>
                    <a:bodyPr/>
                    <a:lstStyle/>
                    <a:p>
                      <a:pPr algn="l"/>
                      <a:r>
                        <a:rPr sz="1300">
                          <a:solidFill>
                            <a:srgbClr val="1F2937"/>
                          </a:solidFill>
                        </a:rPr>
                        <a:t>mean_wait_minutes</a:t>
                      </a:r>
                    </a:p>
                  </a:txBody>
                  <a:tcPr anchor="ctr" marT="50800" marB="50800">
                    <a:solidFill>
                      <a:srgbClr val="FFFFFF"/>
                    </a:solidFill>
                  </a:tcPr>
                </a:tc>
                <a:tc>
                  <a:txBody>
                    <a:bodyPr/>
                    <a:lstStyle/>
                    <a:p>
                      <a:pPr algn="ctr"/>
                      <a:r>
                        <a:rPr sz="1300">
                          <a:solidFill>
                            <a:srgbClr val="1F2937"/>
                          </a:solidFill>
                        </a:rPr>
                        <a:t>89.0%</a:t>
                      </a:r>
                    </a:p>
                  </a:txBody>
                  <a:tcPr anchor="ctr" marT="50800" marB="50800">
                    <a:solidFill>
                      <a:srgbClr val="FFFFFF"/>
                    </a:solidFill>
                  </a:tcPr>
                </a:tc>
                <a:tc>
                  <a:txBody>
                    <a:bodyPr/>
                    <a:lstStyle/>
                    <a:p>
                      <a:pPr algn="ctr"/>
                      <a:r>
                        <a:rPr sz="1300">
                          <a:solidFill>
                            <a:srgbClr val="1F2937"/>
                          </a:solidFill>
                        </a:rPr>
                        <a:t>47.2</a:t>
                      </a:r>
                    </a:p>
                  </a:txBody>
                  <a:tcPr anchor="ctr" marT="50800" marB="50800">
                    <a:solidFill>
                      <a:srgbClr val="FFFFFF"/>
                    </a:solidFill>
                  </a:tcPr>
                </a:tc>
                <a:tc>
                  <a:txBody>
                    <a:bodyPr/>
                    <a:lstStyle/>
                    <a:p>
                      <a:pPr algn="ctr"/>
                      <a:r>
                        <a:rPr sz="1300">
                          <a:solidFill>
                            <a:srgbClr val="1F2937"/>
                          </a:solidFill>
                        </a:rPr>
                        <a:t>88.7%</a:t>
                      </a:r>
                    </a:p>
                  </a:txBody>
                  <a:tcPr anchor="ctr" marT="50800" marB="50800">
                    <a:solidFill>
                      <a:srgbClr val="FFFFFF"/>
                    </a:solidFill>
                  </a:tcPr>
                </a:tc>
                <a:tc>
                  <a:txBody>
                    <a:bodyPr/>
                    <a:lstStyle/>
                    <a:p>
                      <a:pPr algn="ctr"/>
                      <a:r>
                        <a:rPr sz="1300">
                          <a:solidFill>
                            <a:srgbClr val="1F2937"/>
                          </a:solidFill>
                        </a:rPr>
                        <a:t>47.2</a:t>
                      </a:r>
                    </a:p>
                  </a:txBody>
                  <a:tcPr anchor="ctr" marT="50800" marB="50800">
                    <a:solidFill>
                      <a:srgbClr val="FFFFFF"/>
                    </a:solidFill>
                  </a:tcPr>
                </a:tc>
              </a:tr>
              <a:tr h="402336">
                <a:tc>
                  <a:txBody>
                    <a:bodyPr/>
                    <a:lstStyle/>
                    <a:p>
                      <a:pPr algn="l"/>
                      <a:r>
                        <a:rPr sz="1300">
                          <a:solidFill>
                            <a:srgbClr val="1F2937"/>
                          </a:solidFill>
                        </a:rPr>
                        <a:t>mean_total_minutes</a:t>
                      </a:r>
                    </a:p>
                  </a:txBody>
                  <a:tcPr anchor="ctr" marT="50800" marB="50800">
                    <a:solidFill>
                      <a:srgbClr val="F8FAFC"/>
                    </a:solidFill>
                  </a:tcPr>
                </a:tc>
                <a:tc>
                  <a:txBody>
                    <a:bodyPr/>
                    <a:lstStyle/>
                    <a:p>
                      <a:pPr algn="ctr"/>
                      <a:r>
                        <a:rPr sz="1300">
                          <a:solidFill>
                            <a:srgbClr val="1F2937"/>
                          </a:solidFill>
                        </a:rPr>
                        <a:t>90.2%</a:t>
                      </a:r>
                    </a:p>
                  </a:txBody>
                  <a:tcPr anchor="ctr" marT="50800" marB="50800">
                    <a:solidFill>
                      <a:srgbClr val="F8FAFC"/>
                    </a:solidFill>
                  </a:tcPr>
                </a:tc>
                <a:tc>
                  <a:txBody>
                    <a:bodyPr/>
                    <a:lstStyle/>
                    <a:p>
                      <a:pPr algn="ctr"/>
                      <a:r>
                        <a:rPr sz="1300">
                          <a:solidFill>
                            <a:srgbClr val="1F2937"/>
                          </a:solidFill>
                        </a:rPr>
                        <a:t>46.4</a:t>
                      </a:r>
                    </a:p>
                  </a:txBody>
                  <a:tcPr anchor="ctr" marT="50800" marB="50800">
                    <a:solidFill>
                      <a:srgbClr val="F8FAFC"/>
                    </a:solidFill>
                  </a:tcPr>
                </a:tc>
                <a:tc>
                  <a:txBody>
                    <a:bodyPr/>
                    <a:lstStyle/>
                    <a:p>
                      <a:pPr algn="ctr"/>
                      <a:r>
                        <a:rPr sz="1300">
                          <a:solidFill>
                            <a:srgbClr val="1F2937"/>
                          </a:solidFill>
                        </a:rPr>
                        <a:t>89.6%</a:t>
                      </a:r>
                    </a:p>
                  </a:txBody>
                  <a:tcPr anchor="ctr" marT="50800" marB="50800">
                    <a:solidFill>
                      <a:srgbClr val="F8FAFC"/>
                    </a:solidFill>
                  </a:tcPr>
                </a:tc>
                <a:tc>
                  <a:txBody>
                    <a:bodyPr/>
                    <a:lstStyle/>
                    <a:p>
                      <a:pPr algn="ctr"/>
                      <a:r>
                        <a:rPr sz="1300">
                          <a:solidFill>
                            <a:srgbClr val="1F2937"/>
                          </a:solidFill>
                        </a:rPr>
                        <a:t>47.2</a:t>
                      </a:r>
                    </a:p>
                  </a:txBody>
                  <a:tcPr anchor="ctr" marT="50800" marB="50800">
                    <a:solidFill>
                      <a:srgbClr val="F8FAFC"/>
                    </a:solidFill>
                  </a:tcPr>
                </a:tc>
              </a:tr>
              <a:tr h="402336">
                <a:tc>
                  <a:txBody>
                    <a:bodyPr/>
                    <a:lstStyle/>
                    <a:p>
                      <a:pPr algn="l"/>
                      <a:r>
                        <a:rPr sz="1300">
                          <a:solidFill>
                            <a:srgbClr val="1F2937"/>
                          </a:solidFill>
                        </a:rPr>
                        <a:t>p95_wait_minutes</a:t>
                      </a:r>
                    </a:p>
                  </a:txBody>
                  <a:tcPr anchor="ctr" marT="50800" marB="50800">
                    <a:solidFill>
                      <a:srgbClr val="FFFFFF"/>
                    </a:solidFill>
                  </a:tcPr>
                </a:tc>
                <a:tc>
                  <a:txBody>
                    <a:bodyPr/>
                    <a:lstStyle/>
                    <a:p>
                      <a:pPr algn="ctr"/>
                      <a:r>
                        <a:rPr sz="1300">
                          <a:solidFill>
                            <a:srgbClr val="1F2937"/>
                          </a:solidFill>
                        </a:rPr>
                        <a:t>90.8%</a:t>
                      </a:r>
                    </a:p>
                  </a:txBody>
                  <a:tcPr anchor="ctr" marT="50800" marB="50800">
                    <a:solidFill>
                      <a:srgbClr val="FFFFFF"/>
                    </a:solidFill>
                  </a:tcPr>
                </a:tc>
                <a:tc>
                  <a:txBody>
                    <a:bodyPr/>
                    <a:lstStyle/>
                    <a:p>
                      <a:pPr algn="ctr"/>
                      <a:r>
                        <a:rPr sz="1300">
                          <a:solidFill>
                            <a:srgbClr val="1F2937"/>
                          </a:solidFill>
                        </a:rPr>
                        <a:t>362.9</a:t>
                      </a:r>
                    </a:p>
                  </a:txBody>
                  <a:tcPr anchor="ctr" marT="50800" marB="50800">
                    <a:solidFill>
                      <a:srgbClr val="FFFFFF"/>
                    </a:solidFill>
                  </a:tcPr>
                </a:tc>
                <a:tc>
                  <a:txBody>
                    <a:bodyPr/>
                    <a:lstStyle/>
                    <a:p>
                      <a:pPr algn="ctr"/>
                      <a:r>
                        <a:rPr sz="1300">
                          <a:solidFill>
                            <a:srgbClr val="1F2937"/>
                          </a:solidFill>
                        </a:rPr>
                        <a:t>89.7%</a:t>
                      </a:r>
                    </a:p>
                  </a:txBody>
                  <a:tcPr anchor="ctr" marT="50800" marB="50800">
                    <a:solidFill>
                      <a:srgbClr val="FFFFFF"/>
                    </a:solidFill>
                  </a:tcPr>
                </a:tc>
                <a:tc>
                  <a:txBody>
                    <a:bodyPr/>
                    <a:lstStyle/>
                    <a:p>
                      <a:pPr algn="ctr"/>
                      <a:r>
                        <a:rPr sz="1300">
                          <a:solidFill>
                            <a:srgbClr val="1F2937"/>
                          </a:solidFill>
                        </a:rPr>
                        <a:t>355.6</a:t>
                      </a:r>
                    </a:p>
                  </a:txBody>
                  <a:tcPr anchor="ctr" marT="50800" marB="50800">
                    <a:solidFill>
                      <a:srgbClr val="FFFFFF"/>
                    </a:solidFill>
                  </a:tcPr>
                </a:tc>
              </a:tr>
            </a:tbl>
          </a:graphicData>
        </a:graphic>
      </p:graphicFrame>
      <p:sp>
        <p:nvSpPr>
          <p:cNvPr id="8" name="Rectangle 7"/>
          <p:cNvSpPr/>
          <p:nvPr/>
        </p:nvSpPr>
        <p:spPr>
          <a:xfrm>
            <a:off x="640080" y="3931920"/>
            <a:ext cx="10881360" cy="173736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10332720" cy="1371600"/>
          </a:xfrm>
          <a:prstGeom prst="rect">
            <a:avLst/>
          </a:prstGeom>
          <a:noFill/>
        </p:spPr>
        <p:txBody>
          <a:bodyPr wrap="square" anchor="t" lIns="0" rIns="0" tIns="0" bIns="0">
            <a:spAutoFit/>
          </a:bodyPr>
          <a:lstStyle/>
          <a:p>
            <a:pPr algn="l"/>
            <a:r>
              <a:rPr sz="1400" b="0" i="0">
                <a:solidFill>
                  <a:srgbClr val="1F2937"/>
                </a:solidFill>
                <a:latin typeface="Calibri"/>
              </a:rPr>
              <a:t>Two nonconformity measures tested: symmetric |y − yhat|, and an asymmetric version using separate upper/lower residual quantiles for skewed targets. CP already lands closer to the 90% target than GP, with no systematic undercoverage bias — but it's still a single pooled quantile, so it only guarantees coverage on average, not within any specific scenario.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RESULTS — CORE FINDING</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400" b="1" i="0">
                <a:solidFill>
                  <a:srgbClr val="1B2238"/>
                </a:solidFill>
                <a:latin typeface="Calibri"/>
              </a:rPr>
              <a:t>Mondrian CP Closes the Gap</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11 / 21</a:t>
            </a:r>
          </a:p>
        </p:txBody>
      </p:sp>
      <p:graphicFrame>
        <p:nvGraphicFramePr>
          <p:cNvPr id="7" name="Table 6"/>
          <p:cNvGraphicFramePr>
            <a:graphicFrameLocks noGrp="1"/>
          </p:cNvGraphicFramePr>
          <p:nvPr/>
        </p:nvGraphicFramePr>
        <p:xfrm>
          <a:off x="640080" y="1554480"/>
          <a:ext cx="10881360" cy="1554480"/>
        </p:xfrm>
        <a:graphic>
          <a:graphicData uri="http://schemas.openxmlformats.org/drawingml/2006/table">
            <a:tbl>
              <a:tblPr firstRow="1" bandRow="1">
                <a:tableStyleId>{5C22544A-7EE6-4342-B048-85BDC9FD1C3A}</a:tableStyleId>
              </a:tblPr>
              <a:tblGrid>
                <a:gridCol w="2926080"/>
                <a:gridCol w="3108960"/>
                <a:gridCol w="2651760"/>
                <a:gridCol w="2194560"/>
              </a:tblGrid>
              <a:tr h="388620">
                <a:tc>
                  <a:txBody>
                    <a:bodyPr/>
                    <a:lstStyle/>
                    <a:p>
                      <a:pPr algn="l"/>
                      <a:r>
                        <a:rPr sz="1300" b="1">
                          <a:solidFill>
                            <a:srgbClr val="FFFFFF"/>
                          </a:solidFill>
                        </a:rPr>
                        <a:t>Target</a:t>
                      </a:r>
                    </a:p>
                  </a:txBody>
                  <a:tcPr anchor="ctr" marT="50800" marB="50800">
                    <a:solidFill>
                      <a:srgbClr val="1E40AF"/>
                    </a:solidFill>
                  </a:tcPr>
                </a:tc>
                <a:tc>
                  <a:txBody>
                    <a:bodyPr/>
                    <a:lstStyle/>
                    <a:p>
                      <a:pPr algn="ctr"/>
                      <a:r>
                        <a:rPr sz="1300" b="1">
                          <a:solidFill>
                            <a:srgbClr val="FFFFFF"/>
                          </a:solidFill>
                        </a:rPr>
                        <a:t>Pooled coverage</a:t>
                      </a:r>
                    </a:p>
                    <a:p>
                      <a:pPr algn="ctr"/>
                      <a:r>
                        <a:rPr sz="1300" b="1">
                          <a:solidFill>
                            <a:srgbClr val="FFFFFF"/>
                          </a:solidFill>
                        </a:rPr>
                        <a:t>(staff=Low / arrival=High)</a:t>
                      </a:r>
                    </a:p>
                  </a:txBody>
                  <a:tcPr anchor="ctr" marT="50800" marB="50800">
                    <a:solidFill>
                      <a:srgbClr val="1E40AF"/>
                    </a:solidFill>
                  </a:tcPr>
                </a:tc>
                <a:tc>
                  <a:txBody>
                    <a:bodyPr/>
                    <a:lstStyle/>
                    <a:p>
                      <a:pPr algn="ctr"/>
                      <a:r>
                        <a:rPr sz="1300" b="1">
                          <a:solidFill>
                            <a:srgbClr val="FFFFFF"/>
                          </a:solidFill>
                        </a:rPr>
                        <a:t>Mondrian coverage</a:t>
                      </a:r>
                    </a:p>
                    <a:p>
                      <a:pPr algn="ctr"/>
                      <a:r>
                        <a:rPr sz="1300" b="1">
                          <a:solidFill>
                            <a:srgbClr val="FFFFFF"/>
                          </a:solidFill>
                        </a:rPr>
                        <a:t>(same category)</a:t>
                      </a:r>
                    </a:p>
                  </a:txBody>
                  <a:tcPr anchor="ctr" marT="50800" marB="50800">
                    <a:solidFill>
                      <a:srgbClr val="1E40AF"/>
                    </a:solidFill>
                  </a:tcPr>
                </a:tc>
                <a:tc>
                  <a:txBody>
                    <a:bodyPr/>
                    <a:lstStyle/>
                    <a:p>
                      <a:pPr algn="ctr"/>
                      <a:r>
                        <a:rPr sz="1300" b="1">
                          <a:solidFill>
                            <a:srgbClr val="FFFFFF"/>
                          </a:solidFill>
                        </a:rPr>
                        <a:t>Target</a:t>
                      </a:r>
                    </a:p>
                  </a:txBody>
                  <a:tcPr anchor="ctr" marT="50800" marB="50800">
                    <a:solidFill>
                      <a:srgbClr val="1E40AF"/>
                    </a:solidFill>
                  </a:tcPr>
                </a:tc>
              </a:tr>
              <a:tr h="388620">
                <a:tc>
                  <a:txBody>
                    <a:bodyPr/>
                    <a:lstStyle/>
                    <a:p>
                      <a:pPr algn="l"/>
                      <a:r>
                        <a:rPr sz="1300">
                          <a:solidFill>
                            <a:srgbClr val="1F2937"/>
                          </a:solidFill>
                        </a:rPr>
                        <a:t>mean_wait_minutes</a:t>
                      </a:r>
                    </a:p>
                  </a:txBody>
                  <a:tcPr anchor="ctr" marT="50800" marB="50800">
                    <a:solidFill>
                      <a:srgbClr val="F8FAFC"/>
                    </a:solidFill>
                  </a:tcPr>
                </a:tc>
                <a:tc>
                  <a:txBody>
                    <a:bodyPr/>
                    <a:lstStyle/>
                    <a:p>
                      <a:pPr algn="ctr"/>
                      <a:r>
                        <a:rPr sz="1300">
                          <a:solidFill>
                            <a:srgbClr val="1F2937"/>
                          </a:solidFill>
                        </a:rPr>
                        <a:t>68.2%</a:t>
                      </a:r>
                    </a:p>
                  </a:txBody>
                  <a:tcPr anchor="ctr" marT="50800" marB="50800">
                    <a:solidFill>
                      <a:srgbClr val="F8FAFC"/>
                    </a:solidFill>
                  </a:tcPr>
                </a:tc>
                <a:tc>
                  <a:txBody>
                    <a:bodyPr/>
                    <a:lstStyle/>
                    <a:p>
                      <a:pPr algn="ctr"/>
                      <a:r>
                        <a:rPr sz="1300">
                          <a:solidFill>
                            <a:srgbClr val="1F2937"/>
                          </a:solidFill>
                        </a:rPr>
                        <a:t>90.9%</a:t>
                      </a:r>
                    </a:p>
                  </a:txBody>
                  <a:tcPr anchor="ctr" marT="50800" marB="50800">
                    <a:solidFill>
                      <a:srgbClr val="F8FAFC"/>
                    </a:solidFill>
                  </a:tcPr>
                </a:tc>
                <a:tc>
                  <a:txBody>
                    <a:bodyPr/>
                    <a:lstStyle/>
                    <a:p>
                      <a:pPr algn="ctr"/>
                      <a:r>
                        <a:rPr sz="1300">
                          <a:solidFill>
                            <a:srgbClr val="1F2937"/>
                          </a:solidFill>
                        </a:rPr>
                        <a:t>90%</a:t>
                      </a:r>
                    </a:p>
                  </a:txBody>
                  <a:tcPr anchor="ctr" marT="50800" marB="50800">
                    <a:solidFill>
                      <a:srgbClr val="F8FAFC"/>
                    </a:solidFill>
                  </a:tcPr>
                </a:tc>
              </a:tr>
              <a:tr h="388620">
                <a:tc>
                  <a:txBody>
                    <a:bodyPr/>
                    <a:lstStyle/>
                    <a:p>
                      <a:pPr algn="l"/>
                      <a:r>
                        <a:rPr sz="1300">
                          <a:solidFill>
                            <a:srgbClr val="1F2937"/>
                          </a:solidFill>
                        </a:rPr>
                        <a:t>mean_total_minutes</a:t>
                      </a:r>
                    </a:p>
                  </a:txBody>
                  <a:tcPr anchor="ctr" marT="50800" marB="50800">
                    <a:solidFill>
                      <a:srgbClr val="FFFFFF"/>
                    </a:solidFill>
                  </a:tcPr>
                </a:tc>
                <a:tc>
                  <a:txBody>
                    <a:bodyPr/>
                    <a:lstStyle/>
                    <a:p>
                      <a:pPr algn="ctr"/>
                      <a:r>
                        <a:rPr sz="1300">
                          <a:solidFill>
                            <a:srgbClr val="1F2937"/>
                          </a:solidFill>
                        </a:rPr>
                        <a:t>80.7%</a:t>
                      </a:r>
                    </a:p>
                  </a:txBody>
                  <a:tcPr anchor="ctr" marT="50800" marB="50800">
                    <a:solidFill>
                      <a:srgbClr val="FFFFFF"/>
                    </a:solidFill>
                  </a:tcPr>
                </a:tc>
                <a:tc>
                  <a:txBody>
                    <a:bodyPr/>
                    <a:lstStyle/>
                    <a:p>
                      <a:pPr algn="ctr"/>
                      <a:r>
                        <a:rPr sz="1300">
                          <a:solidFill>
                            <a:srgbClr val="1F2937"/>
                          </a:solidFill>
                        </a:rPr>
                        <a:t>92.0%</a:t>
                      </a:r>
                    </a:p>
                  </a:txBody>
                  <a:tcPr anchor="ctr" marT="50800" marB="50800">
                    <a:solidFill>
                      <a:srgbClr val="FFFFFF"/>
                    </a:solidFill>
                  </a:tcPr>
                </a:tc>
                <a:tc>
                  <a:txBody>
                    <a:bodyPr/>
                    <a:lstStyle/>
                    <a:p>
                      <a:pPr algn="ctr"/>
                      <a:r>
                        <a:rPr sz="1300">
                          <a:solidFill>
                            <a:srgbClr val="1F2937"/>
                          </a:solidFill>
                        </a:rPr>
                        <a:t>90%</a:t>
                      </a:r>
                    </a:p>
                  </a:txBody>
                  <a:tcPr anchor="ctr" marT="50800" marB="50800">
                    <a:solidFill>
                      <a:srgbClr val="FFFFFF"/>
                    </a:solidFill>
                  </a:tcPr>
                </a:tc>
              </a:tr>
              <a:tr h="388620">
                <a:tc>
                  <a:txBody>
                    <a:bodyPr/>
                    <a:lstStyle/>
                    <a:p>
                      <a:pPr algn="l"/>
                      <a:r>
                        <a:rPr sz="1300">
                          <a:solidFill>
                            <a:srgbClr val="1F2937"/>
                          </a:solidFill>
                        </a:rPr>
                        <a:t>p95_wait_minutes</a:t>
                      </a:r>
                    </a:p>
                  </a:txBody>
                  <a:tcPr anchor="ctr" marT="50800" marB="50800">
                    <a:solidFill>
                      <a:srgbClr val="F8FAFC"/>
                    </a:solidFill>
                  </a:tcPr>
                </a:tc>
                <a:tc>
                  <a:txBody>
                    <a:bodyPr/>
                    <a:lstStyle/>
                    <a:p>
                      <a:pPr algn="ctr"/>
                      <a:r>
                        <a:rPr sz="1300">
                          <a:solidFill>
                            <a:srgbClr val="1F2937"/>
                          </a:solidFill>
                        </a:rPr>
                        <a:t>72.7%</a:t>
                      </a:r>
                    </a:p>
                  </a:txBody>
                  <a:tcPr anchor="ctr" marT="50800" marB="50800">
                    <a:solidFill>
                      <a:srgbClr val="F8FAFC"/>
                    </a:solidFill>
                  </a:tcPr>
                </a:tc>
                <a:tc>
                  <a:txBody>
                    <a:bodyPr/>
                    <a:lstStyle/>
                    <a:p>
                      <a:pPr algn="ctr"/>
                      <a:r>
                        <a:rPr sz="1300">
                          <a:solidFill>
                            <a:srgbClr val="1F2937"/>
                          </a:solidFill>
                        </a:rPr>
                        <a:t>92.0%</a:t>
                      </a:r>
                    </a:p>
                  </a:txBody>
                  <a:tcPr anchor="ctr" marT="50800" marB="50800">
                    <a:solidFill>
                      <a:srgbClr val="F8FAFC"/>
                    </a:solidFill>
                  </a:tcPr>
                </a:tc>
                <a:tc>
                  <a:txBody>
                    <a:bodyPr/>
                    <a:lstStyle/>
                    <a:p>
                      <a:pPr algn="ctr"/>
                      <a:r>
                        <a:rPr sz="1300">
                          <a:solidFill>
                            <a:srgbClr val="1F2937"/>
                          </a:solidFill>
                        </a:rPr>
                        <a:t>90%</a:t>
                      </a:r>
                    </a:p>
                  </a:txBody>
                  <a:tcPr anchor="ctr" marT="50800" marB="50800">
                    <a:solidFill>
                      <a:srgbClr val="F8FAFC"/>
                    </a:solidFill>
                  </a:tcPr>
                </a:tc>
              </a:tr>
            </a:tbl>
          </a:graphicData>
        </a:graphic>
      </p:graphicFrame>
      <p:sp>
        <p:nvSpPr>
          <p:cNvPr id="8" name="Rectangle 7"/>
          <p:cNvSpPr/>
          <p:nvPr/>
        </p:nvSpPr>
        <p:spPr>
          <a:xfrm>
            <a:off x="640080" y="3337560"/>
            <a:ext cx="10881360" cy="324612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520440"/>
            <a:ext cx="10332720" cy="2926080"/>
          </a:xfrm>
          <a:prstGeom prst="rect">
            <a:avLst/>
          </a:prstGeom>
          <a:noFill/>
        </p:spPr>
        <p:txBody>
          <a:bodyPr wrap="square" anchor="t" lIns="0" rIns="0" tIns="0" bIns="0">
            <a:spAutoFit/>
          </a:bodyPr>
          <a:lstStyle/>
          <a:p>
            <a:pPr algn="l"/>
            <a:r>
              <a:rPr sz="1400" b="0" i="0">
                <a:solidFill>
                  <a:srgbClr val="1F2937"/>
                </a:solidFill>
                <a:latin typeface="Calibri"/>
              </a:rPr>
              <a:t>The worst pooled-CP category is consistently staff=Low/arrival=High — understaffed during a demand surge, the scenario that matters most operationally. A pooled quantile is calibrated on average difficulty, so it silently fails exactly this scenario while overcovering the easy one (staff=High/arrival=Low hits 100% pooled coverage — wasted width). Mondrian gives the hard category an honestly wider interval instead of pretending it's as easy as the rest.</a:t>
            </a:r>
          </a:p>
          <a:p>
            <a:pPr algn="l"/>
            <a:r>
              <a:rPr sz="1400" b="0" i="0">
                <a:solidFill>
                  <a:srgbClr val="1F2937"/>
                </a:solidFill>
                <a:latin typeface="Calibri"/>
              </a:rPr>
              <a:t/>
            </a:r>
          </a:p>
          <a:p>
            <a:pPr algn="l"/>
            <a:r>
              <a:rPr sz="1400" b="0" i="0">
                <a:solidFill>
                  <a:srgbClr val="1F2937"/>
                </a:solidFill>
                <a:latin typeface="Calibri"/>
              </a:rPr>
              <a:t>n_patients is the one target where Mondrian does not help — its pooled coverage was already fairly uniform across categories (87–99%), so there was no real conditional gap to fix, and splitting into 9 smaller calibration cells just adds finite-sample noise. That's an honest, expected Mondrian CP tradeoff, not a failure.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RESULTS</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GP vs. Standard CP vs. Mondrian CP</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12 / 21</a:t>
            </a:r>
          </a:p>
        </p:txBody>
      </p:sp>
      <p:pic>
        <p:nvPicPr>
          <p:cNvPr id="7" name="Picture 6" descr="full_comparison.png"/>
          <p:cNvPicPr>
            <a:picLocks noChangeAspect="1"/>
          </p:cNvPicPr>
          <p:nvPr/>
        </p:nvPicPr>
        <p:blipFill>
          <a:blip r:embed="rId2"/>
          <a:stretch>
            <a:fillRect/>
          </a:stretch>
        </p:blipFill>
        <p:spPr>
          <a:xfrm>
            <a:off x="640080" y="1417320"/>
            <a:ext cx="10881360" cy="3264408"/>
          </a:xfrm>
          <a:prstGeom prst="rect">
            <a:avLst/>
          </a:prstGeom>
        </p:spPr>
      </p:pic>
      <p:sp>
        <p:nvSpPr>
          <p:cNvPr id="8" name="TextBox 7"/>
          <p:cNvSpPr txBox="1"/>
          <p:nvPr/>
        </p:nvSpPr>
        <p:spPr>
          <a:xfrm>
            <a:off x="640080" y="5897880"/>
            <a:ext cx="10881360" cy="822960"/>
          </a:xfrm>
          <a:prstGeom prst="rect">
            <a:avLst/>
          </a:prstGeom>
          <a:noFill/>
        </p:spPr>
        <p:txBody>
          <a:bodyPr wrap="square" anchor="t" lIns="0" rIns="0" tIns="0" bIns="0">
            <a:spAutoFit/>
          </a:bodyPr>
          <a:lstStyle/>
          <a:p>
            <a:pPr algn="l"/>
            <a:r>
              <a:rPr sz="1300" b="0" i="1">
                <a:solidFill>
                  <a:srgbClr val="6B7280"/>
                </a:solidFill>
                <a:latin typeface="Calibri"/>
              </a:rPr>
              <a:t>CP calibrates ~650–1000x faster than GP (~0.01s vs. 7–11.5s). Mondrian CP's marginal coverage matches or beats standard CP's despite ~9x smaller per-category calibration slices, and is also usually narrower — pooling was wasting width in easy categories. (Single-split result — see the 30-repeat validated version on the next slide.)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RESULTS — VALIDATED</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400" b="1" i="0">
                <a:solidFill>
                  <a:srgbClr val="1B2238"/>
                </a:solidFill>
                <a:latin typeface="Calibri"/>
              </a:rPr>
              <a:t>All 5 Methods, 30 Independent Repeats</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13 / 21</a:t>
            </a:r>
          </a:p>
        </p:txBody>
      </p:sp>
      <p:pic>
        <p:nvPicPr>
          <p:cNvPr id="7" name="Picture 6" descr="publication_comparison.png"/>
          <p:cNvPicPr>
            <a:picLocks noChangeAspect="1"/>
          </p:cNvPicPr>
          <p:nvPr/>
        </p:nvPicPr>
        <p:blipFill>
          <a:blip r:embed="rId2"/>
          <a:stretch>
            <a:fillRect/>
          </a:stretch>
        </p:blipFill>
        <p:spPr>
          <a:xfrm>
            <a:off x="640080" y="1371600"/>
            <a:ext cx="10881360" cy="4185138"/>
          </a:xfrm>
          <a:prstGeom prst="rect">
            <a:avLst/>
          </a:prstGeom>
        </p:spPr>
      </p:pic>
      <p:sp>
        <p:nvSpPr>
          <p:cNvPr id="8" name="TextBox 7"/>
          <p:cNvSpPr txBox="1"/>
          <p:nvPr/>
        </p:nvSpPr>
        <p:spPr>
          <a:xfrm>
            <a:off x="640080" y="6035040"/>
            <a:ext cx="10881360" cy="731520"/>
          </a:xfrm>
          <a:prstGeom prst="rect">
            <a:avLst/>
          </a:prstGeom>
          <a:noFill/>
        </p:spPr>
        <p:txBody>
          <a:bodyPr wrap="square" anchor="t" lIns="0" rIns="0" tIns="0" bIns="0">
            <a:spAutoFit/>
          </a:bodyPr>
          <a:lstStyle/>
          <a:p>
            <a:pPr algn="l"/>
            <a:r>
              <a:rPr sz="1300" b="0" i="1">
                <a:solidFill>
                  <a:srgbClr val="6B7280"/>
                </a:solidFill>
                <a:latin typeface="Calibri"/>
              </a:rPr>
              <a:t>Error bars are 95% CI on the mean across 30 independent calibration/test draws — tight enough to read as single dots, meaning these differences are stable, not single-split noise. CQR (adaptive, quantile-regression-based) joins the comparison as a fifth method.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RESULTS</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Exchangeability Stress Test</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14 / 21</a:t>
            </a:r>
          </a:p>
        </p:txBody>
      </p:sp>
      <p:graphicFrame>
        <p:nvGraphicFramePr>
          <p:cNvPr id="7" name="Table 6"/>
          <p:cNvGraphicFramePr>
            <a:graphicFrameLocks noGrp="1"/>
          </p:cNvGraphicFramePr>
          <p:nvPr/>
        </p:nvGraphicFramePr>
        <p:xfrm>
          <a:off x="640080" y="1463040"/>
          <a:ext cx="10881360" cy="1828800"/>
        </p:xfrm>
        <a:graphic>
          <a:graphicData uri="http://schemas.openxmlformats.org/drawingml/2006/table">
            <a:tbl>
              <a:tblPr firstRow="1" bandRow="1">
                <a:tableStyleId>{5C22544A-7EE6-4342-B048-85BDC9FD1C3A}</a:tableStyleId>
              </a:tblPr>
              <a:tblGrid>
                <a:gridCol w="2103120"/>
                <a:gridCol w="2194560"/>
                <a:gridCol w="2194560"/>
                <a:gridCol w="2194560"/>
                <a:gridCol w="2194560"/>
              </a:tblGrid>
              <a:tr h="304800">
                <a:tc>
                  <a:txBody>
                    <a:bodyPr/>
                    <a:lstStyle/>
                    <a:p>
                      <a:pPr algn="l"/>
                      <a:r>
                        <a:rPr sz="1300" b="1">
                          <a:solidFill>
                            <a:srgbClr val="FFFFFF"/>
                          </a:solidFill>
                        </a:rPr>
                        <a:t>Arrival multiplier</a:t>
                      </a:r>
                    </a:p>
                  </a:txBody>
                  <a:tcPr anchor="ctr" marT="50800" marB="50800">
                    <a:solidFill>
                      <a:srgbClr val="1E40AF"/>
                    </a:solidFill>
                  </a:tcPr>
                </a:tc>
                <a:tc>
                  <a:txBody>
                    <a:bodyPr/>
                    <a:lstStyle/>
                    <a:p>
                      <a:pPr algn="ctr"/>
                      <a:r>
                        <a:rPr sz="1300" b="1">
                          <a:solidFill>
                            <a:srgbClr val="FFFFFF"/>
                          </a:solidFill>
                        </a:rPr>
                        <a:t>n_patients</a:t>
                      </a:r>
                    </a:p>
                  </a:txBody>
                  <a:tcPr anchor="ctr" marT="50800" marB="50800">
                    <a:solidFill>
                      <a:srgbClr val="1E40AF"/>
                    </a:solidFill>
                  </a:tcPr>
                </a:tc>
                <a:tc>
                  <a:txBody>
                    <a:bodyPr/>
                    <a:lstStyle/>
                    <a:p>
                      <a:pPr algn="ctr"/>
                      <a:r>
                        <a:rPr sz="1300" b="1">
                          <a:solidFill>
                            <a:srgbClr val="FFFFFF"/>
                          </a:solidFill>
                        </a:rPr>
                        <a:t>mean_wait</a:t>
                      </a:r>
                    </a:p>
                  </a:txBody>
                  <a:tcPr anchor="ctr" marT="50800" marB="50800">
                    <a:solidFill>
                      <a:srgbClr val="1E40AF"/>
                    </a:solidFill>
                  </a:tcPr>
                </a:tc>
                <a:tc>
                  <a:txBody>
                    <a:bodyPr/>
                    <a:lstStyle/>
                    <a:p>
                      <a:pPr algn="ctr"/>
                      <a:r>
                        <a:rPr sz="1300" b="1">
                          <a:solidFill>
                            <a:srgbClr val="FFFFFF"/>
                          </a:solidFill>
                        </a:rPr>
                        <a:t>mean_total</a:t>
                      </a:r>
                    </a:p>
                  </a:txBody>
                  <a:tcPr anchor="ctr" marT="50800" marB="50800">
                    <a:solidFill>
                      <a:srgbClr val="1E40AF"/>
                    </a:solidFill>
                  </a:tcPr>
                </a:tc>
                <a:tc>
                  <a:txBody>
                    <a:bodyPr/>
                    <a:lstStyle/>
                    <a:p>
                      <a:pPr algn="ctr"/>
                      <a:r>
                        <a:rPr sz="1300" b="1">
                          <a:solidFill>
                            <a:srgbClr val="FFFFFF"/>
                          </a:solidFill>
                        </a:rPr>
                        <a:t>p95_wait</a:t>
                      </a:r>
                    </a:p>
                  </a:txBody>
                  <a:tcPr anchor="ctr" marT="50800" marB="50800">
                    <a:solidFill>
                      <a:srgbClr val="1E40AF"/>
                    </a:solidFill>
                  </a:tcPr>
                </a:tc>
              </a:tr>
              <a:tr h="304800">
                <a:tc>
                  <a:txBody>
                    <a:bodyPr/>
                    <a:lstStyle/>
                    <a:p>
                      <a:pPr algn="l"/>
                      <a:r>
                        <a:rPr sz="1300">
                          <a:solidFill>
                            <a:srgbClr val="1F2937"/>
                          </a:solidFill>
                        </a:rPr>
                        <a:t>1.3 (in range)</a:t>
                      </a:r>
                    </a:p>
                  </a:txBody>
                  <a:tcPr anchor="ctr" marT="50800" marB="50800">
                    <a:solidFill>
                      <a:srgbClr val="F8FAFC"/>
                    </a:solidFill>
                  </a:tcPr>
                </a:tc>
                <a:tc>
                  <a:txBody>
                    <a:bodyPr/>
                    <a:lstStyle/>
                    <a:p>
                      <a:pPr algn="ctr"/>
                      <a:r>
                        <a:rPr sz="1300">
                          <a:solidFill>
                            <a:srgbClr val="1F2937"/>
                          </a:solidFill>
                        </a:rPr>
                        <a:t>93.3%</a:t>
                      </a:r>
                    </a:p>
                  </a:txBody>
                  <a:tcPr anchor="ctr" marT="50800" marB="50800">
                    <a:solidFill>
                      <a:srgbClr val="F8FAFC"/>
                    </a:solidFill>
                  </a:tcPr>
                </a:tc>
                <a:tc>
                  <a:txBody>
                    <a:bodyPr/>
                    <a:lstStyle/>
                    <a:p>
                      <a:pPr algn="ctr"/>
                      <a:r>
                        <a:rPr sz="1300">
                          <a:solidFill>
                            <a:srgbClr val="1F2937"/>
                          </a:solidFill>
                        </a:rPr>
                        <a:t>83.0%</a:t>
                      </a:r>
                    </a:p>
                  </a:txBody>
                  <a:tcPr anchor="ctr" marT="50800" marB="50800">
                    <a:solidFill>
                      <a:srgbClr val="F8FAFC"/>
                    </a:solidFill>
                  </a:tcPr>
                </a:tc>
                <a:tc>
                  <a:txBody>
                    <a:bodyPr/>
                    <a:lstStyle/>
                    <a:p>
                      <a:pPr algn="ctr"/>
                      <a:r>
                        <a:rPr sz="1300">
                          <a:solidFill>
                            <a:srgbClr val="1F2937"/>
                          </a:solidFill>
                        </a:rPr>
                        <a:t>88.0%</a:t>
                      </a:r>
                    </a:p>
                  </a:txBody>
                  <a:tcPr anchor="ctr" marT="50800" marB="50800">
                    <a:solidFill>
                      <a:srgbClr val="F8FAFC"/>
                    </a:solidFill>
                  </a:tcPr>
                </a:tc>
                <a:tc>
                  <a:txBody>
                    <a:bodyPr/>
                    <a:lstStyle/>
                    <a:p>
                      <a:pPr algn="ctr"/>
                      <a:r>
                        <a:rPr sz="1300">
                          <a:solidFill>
                            <a:srgbClr val="1F2937"/>
                          </a:solidFill>
                        </a:rPr>
                        <a:t>82.0%</a:t>
                      </a:r>
                    </a:p>
                  </a:txBody>
                  <a:tcPr anchor="ctr" marT="50800" marB="50800">
                    <a:solidFill>
                      <a:srgbClr val="F8FAFC"/>
                    </a:solidFill>
                  </a:tcPr>
                </a:tc>
              </a:tr>
              <a:tr h="304800">
                <a:tc>
                  <a:txBody>
                    <a:bodyPr/>
                    <a:lstStyle/>
                    <a:p>
                      <a:pPr algn="l"/>
                      <a:r>
                        <a:rPr sz="1300">
                          <a:solidFill>
                            <a:srgbClr val="1F2937"/>
                          </a:solidFill>
                        </a:rPr>
                        <a:t>1.5</a:t>
                      </a:r>
                    </a:p>
                  </a:txBody>
                  <a:tcPr anchor="ctr" marT="50800" marB="50800">
                    <a:solidFill>
                      <a:srgbClr val="FFFFFF"/>
                    </a:solidFill>
                  </a:tcPr>
                </a:tc>
                <a:tc>
                  <a:txBody>
                    <a:bodyPr/>
                    <a:lstStyle/>
                    <a:p>
                      <a:pPr algn="ctr"/>
                      <a:r>
                        <a:rPr sz="1300">
                          <a:solidFill>
                            <a:srgbClr val="1F2937"/>
                          </a:solidFill>
                        </a:rPr>
                        <a:t>78.7%</a:t>
                      </a:r>
                    </a:p>
                  </a:txBody>
                  <a:tcPr anchor="ctr" marT="50800" marB="50800">
                    <a:solidFill>
                      <a:srgbClr val="FFFFFF"/>
                    </a:solidFill>
                  </a:tcPr>
                </a:tc>
                <a:tc>
                  <a:txBody>
                    <a:bodyPr/>
                    <a:lstStyle/>
                    <a:p>
                      <a:pPr algn="ctr"/>
                      <a:r>
                        <a:rPr sz="1300">
                          <a:solidFill>
                            <a:srgbClr val="1F2937"/>
                          </a:solidFill>
                        </a:rPr>
                        <a:t>68.7%</a:t>
                      </a:r>
                    </a:p>
                  </a:txBody>
                  <a:tcPr anchor="ctr" marT="50800" marB="50800">
                    <a:solidFill>
                      <a:srgbClr val="FFFFFF"/>
                    </a:solidFill>
                  </a:tcPr>
                </a:tc>
                <a:tc>
                  <a:txBody>
                    <a:bodyPr/>
                    <a:lstStyle/>
                    <a:p>
                      <a:pPr algn="ctr"/>
                      <a:r>
                        <a:rPr sz="1300">
                          <a:solidFill>
                            <a:srgbClr val="1F2937"/>
                          </a:solidFill>
                        </a:rPr>
                        <a:t>73.7%</a:t>
                      </a:r>
                    </a:p>
                  </a:txBody>
                  <a:tcPr anchor="ctr" marT="50800" marB="50800">
                    <a:solidFill>
                      <a:srgbClr val="FFFFFF"/>
                    </a:solidFill>
                  </a:tcPr>
                </a:tc>
                <a:tc>
                  <a:txBody>
                    <a:bodyPr/>
                    <a:lstStyle/>
                    <a:p>
                      <a:pPr algn="ctr"/>
                      <a:r>
                        <a:rPr sz="1300">
                          <a:solidFill>
                            <a:srgbClr val="1F2937"/>
                          </a:solidFill>
                        </a:rPr>
                        <a:t>69.7%</a:t>
                      </a:r>
                    </a:p>
                  </a:txBody>
                  <a:tcPr anchor="ctr" marT="50800" marB="50800">
                    <a:solidFill>
                      <a:srgbClr val="FFFFFF"/>
                    </a:solidFill>
                  </a:tcPr>
                </a:tc>
              </a:tr>
              <a:tr h="304800">
                <a:tc>
                  <a:txBody>
                    <a:bodyPr/>
                    <a:lstStyle/>
                    <a:p>
                      <a:pPr algn="l"/>
                      <a:r>
                        <a:rPr sz="1300">
                          <a:solidFill>
                            <a:srgbClr val="1F2937"/>
                          </a:solidFill>
                        </a:rPr>
                        <a:t>1.8</a:t>
                      </a:r>
                    </a:p>
                  </a:txBody>
                  <a:tcPr anchor="ctr" marT="50800" marB="50800">
                    <a:solidFill>
                      <a:srgbClr val="F8FAFC"/>
                    </a:solidFill>
                  </a:tcPr>
                </a:tc>
                <a:tc>
                  <a:txBody>
                    <a:bodyPr/>
                    <a:lstStyle/>
                    <a:p>
                      <a:pPr algn="ctr"/>
                      <a:r>
                        <a:rPr sz="1300">
                          <a:solidFill>
                            <a:srgbClr val="1F2937"/>
                          </a:solidFill>
                        </a:rPr>
                        <a:t>70.3%</a:t>
                      </a:r>
                    </a:p>
                  </a:txBody>
                  <a:tcPr anchor="ctr" marT="50800" marB="50800">
                    <a:solidFill>
                      <a:srgbClr val="F8FAFC"/>
                    </a:solidFill>
                  </a:tcPr>
                </a:tc>
                <a:tc>
                  <a:txBody>
                    <a:bodyPr/>
                    <a:lstStyle/>
                    <a:p>
                      <a:pPr algn="ctr"/>
                      <a:r>
                        <a:rPr sz="1300">
                          <a:solidFill>
                            <a:srgbClr val="1F2937"/>
                          </a:solidFill>
                        </a:rPr>
                        <a:t>42.7%</a:t>
                      </a:r>
                    </a:p>
                  </a:txBody>
                  <a:tcPr anchor="ctr" marT="50800" marB="50800">
                    <a:solidFill>
                      <a:srgbClr val="F8FAFC"/>
                    </a:solidFill>
                  </a:tcPr>
                </a:tc>
                <a:tc>
                  <a:txBody>
                    <a:bodyPr/>
                    <a:lstStyle/>
                    <a:p>
                      <a:pPr algn="ctr"/>
                      <a:r>
                        <a:rPr sz="1300">
                          <a:solidFill>
                            <a:srgbClr val="1F2937"/>
                          </a:solidFill>
                        </a:rPr>
                        <a:t>47.3%</a:t>
                      </a:r>
                    </a:p>
                  </a:txBody>
                  <a:tcPr anchor="ctr" marT="50800" marB="50800">
                    <a:solidFill>
                      <a:srgbClr val="F8FAFC"/>
                    </a:solidFill>
                  </a:tcPr>
                </a:tc>
                <a:tc>
                  <a:txBody>
                    <a:bodyPr/>
                    <a:lstStyle/>
                    <a:p>
                      <a:pPr algn="ctr"/>
                      <a:r>
                        <a:rPr sz="1300">
                          <a:solidFill>
                            <a:srgbClr val="1F2937"/>
                          </a:solidFill>
                        </a:rPr>
                        <a:t>43.0%</a:t>
                      </a:r>
                    </a:p>
                  </a:txBody>
                  <a:tcPr anchor="ctr" marT="50800" marB="50800">
                    <a:solidFill>
                      <a:srgbClr val="F8FAFC"/>
                    </a:solidFill>
                  </a:tcPr>
                </a:tc>
              </a:tr>
              <a:tr h="304800">
                <a:tc>
                  <a:txBody>
                    <a:bodyPr/>
                    <a:lstStyle/>
                    <a:p>
                      <a:pPr algn="l"/>
                      <a:r>
                        <a:rPr sz="1300">
                          <a:solidFill>
                            <a:srgbClr val="1F2937"/>
                          </a:solidFill>
                        </a:rPr>
                        <a:t>2.0</a:t>
                      </a:r>
                    </a:p>
                  </a:txBody>
                  <a:tcPr anchor="ctr" marT="50800" marB="50800">
                    <a:solidFill>
                      <a:srgbClr val="FFFFFF"/>
                    </a:solidFill>
                  </a:tcPr>
                </a:tc>
                <a:tc>
                  <a:txBody>
                    <a:bodyPr/>
                    <a:lstStyle/>
                    <a:p>
                      <a:pPr algn="ctr"/>
                      <a:r>
                        <a:rPr sz="1300">
                          <a:solidFill>
                            <a:srgbClr val="1F2937"/>
                          </a:solidFill>
                        </a:rPr>
                        <a:t>64.7%</a:t>
                      </a:r>
                    </a:p>
                  </a:txBody>
                  <a:tcPr anchor="ctr" marT="50800" marB="50800">
                    <a:solidFill>
                      <a:srgbClr val="FFFFFF"/>
                    </a:solidFill>
                  </a:tcPr>
                </a:tc>
                <a:tc>
                  <a:txBody>
                    <a:bodyPr/>
                    <a:lstStyle/>
                    <a:p>
                      <a:pPr algn="ctr"/>
                      <a:r>
                        <a:rPr sz="1300">
                          <a:solidFill>
                            <a:srgbClr val="1F2937"/>
                          </a:solidFill>
                        </a:rPr>
                        <a:t>34.3%</a:t>
                      </a:r>
                    </a:p>
                  </a:txBody>
                  <a:tcPr anchor="ctr" marT="50800" marB="50800">
                    <a:solidFill>
                      <a:srgbClr val="FFFFFF"/>
                    </a:solidFill>
                  </a:tcPr>
                </a:tc>
                <a:tc>
                  <a:txBody>
                    <a:bodyPr/>
                    <a:lstStyle/>
                    <a:p>
                      <a:pPr algn="ctr"/>
                      <a:r>
                        <a:rPr sz="1300">
                          <a:solidFill>
                            <a:srgbClr val="1F2937"/>
                          </a:solidFill>
                        </a:rPr>
                        <a:t>39.0%</a:t>
                      </a:r>
                    </a:p>
                  </a:txBody>
                  <a:tcPr anchor="ctr" marT="50800" marB="50800">
                    <a:solidFill>
                      <a:srgbClr val="FFFFFF"/>
                    </a:solidFill>
                  </a:tcPr>
                </a:tc>
                <a:tc>
                  <a:txBody>
                    <a:bodyPr/>
                    <a:lstStyle/>
                    <a:p>
                      <a:pPr algn="ctr"/>
                      <a:r>
                        <a:rPr sz="1300">
                          <a:solidFill>
                            <a:srgbClr val="1F2937"/>
                          </a:solidFill>
                        </a:rPr>
                        <a:t>33.0%</a:t>
                      </a:r>
                    </a:p>
                  </a:txBody>
                  <a:tcPr anchor="ctr" marT="50800" marB="50800">
                    <a:solidFill>
                      <a:srgbClr val="FFFFFF"/>
                    </a:solidFill>
                  </a:tcPr>
                </a:tc>
              </a:tr>
              <a:tr h="304800">
                <a:tc>
                  <a:txBody>
                    <a:bodyPr/>
                    <a:lstStyle/>
                    <a:p>
                      <a:pPr algn="l"/>
                      <a:r>
                        <a:rPr sz="1300">
                          <a:solidFill>
                            <a:srgbClr val="1F2937"/>
                          </a:solidFill>
                        </a:rPr>
                        <a:t>3.0</a:t>
                      </a:r>
                    </a:p>
                  </a:txBody>
                  <a:tcPr anchor="ctr" marT="50800" marB="50800">
                    <a:solidFill>
                      <a:srgbClr val="F8FAFC"/>
                    </a:solidFill>
                  </a:tcPr>
                </a:tc>
                <a:tc>
                  <a:txBody>
                    <a:bodyPr/>
                    <a:lstStyle/>
                    <a:p>
                      <a:pPr algn="ctr"/>
                      <a:r>
                        <a:rPr sz="1300">
                          <a:solidFill>
                            <a:srgbClr val="1F2937"/>
                          </a:solidFill>
                        </a:rPr>
                        <a:t>31.7%</a:t>
                      </a:r>
                    </a:p>
                  </a:txBody>
                  <a:tcPr anchor="ctr" marT="50800" marB="50800">
                    <a:solidFill>
                      <a:srgbClr val="F8FAFC"/>
                    </a:solidFill>
                  </a:tcPr>
                </a:tc>
                <a:tc>
                  <a:txBody>
                    <a:bodyPr/>
                    <a:lstStyle/>
                    <a:p>
                      <a:pPr algn="ctr"/>
                      <a:r>
                        <a:rPr sz="1300">
                          <a:solidFill>
                            <a:srgbClr val="1F2937"/>
                          </a:solidFill>
                        </a:rPr>
                        <a:t>12.3%</a:t>
                      </a:r>
                    </a:p>
                  </a:txBody>
                  <a:tcPr anchor="ctr" marT="50800" marB="50800">
                    <a:solidFill>
                      <a:srgbClr val="F8FAFC"/>
                    </a:solidFill>
                  </a:tcPr>
                </a:tc>
                <a:tc>
                  <a:txBody>
                    <a:bodyPr/>
                    <a:lstStyle/>
                    <a:p>
                      <a:pPr algn="ctr"/>
                      <a:r>
                        <a:rPr sz="1300">
                          <a:solidFill>
                            <a:srgbClr val="1F2937"/>
                          </a:solidFill>
                        </a:rPr>
                        <a:t>4.7%</a:t>
                      </a:r>
                    </a:p>
                  </a:txBody>
                  <a:tcPr anchor="ctr" marT="50800" marB="50800">
                    <a:solidFill>
                      <a:srgbClr val="F8FAFC"/>
                    </a:solidFill>
                  </a:tcPr>
                </a:tc>
                <a:tc>
                  <a:txBody>
                    <a:bodyPr/>
                    <a:lstStyle/>
                    <a:p>
                      <a:pPr algn="ctr"/>
                      <a:r>
                        <a:rPr sz="1300">
                          <a:solidFill>
                            <a:srgbClr val="1F2937"/>
                          </a:solidFill>
                        </a:rPr>
                        <a:t>78.3%*</a:t>
                      </a:r>
                    </a:p>
                  </a:txBody>
                  <a:tcPr anchor="ctr" marT="50800" marB="50800">
                    <a:solidFill>
                      <a:srgbClr val="F8FAFC"/>
                    </a:solidFill>
                  </a:tcPr>
                </a:tc>
              </a:tr>
            </a:tbl>
          </a:graphicData>
        </a:graphic>
      </p:graphicFrame>
      <p:sp>
        <p:nvSpPr>
          <p:cNvPr id="8" name="Rectangle 7"/>
          <p:cNvSpPr/>
          <p:nvPr/>
        </p:nvSpPr>
        <p:spPr>
          <a:xfrm>
            <a:off x="640080" y="3520440"/>
            <a:ext cx="10881360" cy="306324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657600"/>
            <a:ext cx="10332720" cy="2834640"/>
          </a:xfrm>
          <a:prstGeom prst="rect">
            <a:avLst/>
          </a:prstGeom>
          <a:noFill/>
        </p:spPr>
        <p:txBody>
          <a:bodyPr wrap="square" anchor="t" lIns="0" rIns="0" tIns="0" bIns="0">
            <a:spAutoFit/>
          </a:bodyPr>
          <a:lstStyle/>
          <a:p>
            <a:pPr algn="l"/>
            <a:r>
              <a:rPr sz="1300" b="0" i="0">
                <a:solidFill>
                  <a:srgbClr val="1F2937"/>
                </a:solidFill>
                <a:latin typeface="Calibri"/>
              </a:rPr>
              <a:t>Standard CP shown (Mondrian tracks closely). Root cause, verified directly: the gradient-boosting surrogate cannot extrapolate past its training range — mean_wait_minutes's prediction is frozen at 42.4 for every multiplier from 1.3 to 3.0 while the true value keeps climbing.</a:t>
            </a:r>
          </a:p>
          <a:p>
            <a:pPr algn="l"/>
            <a:r>
              <a:rPr sz="1300" b="0" i="0">
                <a:solidFill>
                  <a:srgbClr val="1F2937"/>
                </a:solidFill>
                <a:latin typeface="Calibri"/>
              </a:rPr>
              <a:t/>
            </a:r>
          </a:p>
          <a:p>
            <a:pPr algn="l"/>
            <a:r>
              <a:rPr sz="1300" b="0" i="0">
                <a:solidFill>
                  <a:srgbClr val="1F2937"/>
                </a:solidFill>
                <a:latin typeface="Calibri"/>
              </a:rPr>
              <a:t>*p95_wait's apparent recovery at 3.0x isn't the interval working — it's the Slide 7 day-boundary censoring effect getting worse at extreme overload (fewer patients finish within a day, shrinking the completed-visit pool the p95 is computed over).</a:t>
            </a:r>
          </a:p>
          <a:p>
            <a:pPr algn="l"/>
            <a:r>
              <a:rPr sz="1300" b="0" i="0">
                <a:solidFill>
                  <a:srgbClr val="1F2937"/>
                </a:solidFill>
                <a:latin typeface="Calibri"/>
              </a:rPr>
              <a:t/>
            </a:r>
          </a:p>
          <a:p>
            <a:pPr algn="l"/>
            <a:r>
              <a:rPr sz="1300" b="0" i="0">
                <a:solidFill>
                  <a:srgbClr val="1F2937"/>
                </a:solidFill>
                <a:latin typeface="Calibri"/>
              </a:rPr>
              <a:t>Both stated Gopakumar et al. limitations are now tested in this domain.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PUBLICATION-RIGOR UPGRADE</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200" b="1" i="0">
                <a:solidFill>
                  <a:srgbClr val="1B2238"/>
                </a:solidFill>
                <a:latin typeface="Calibri"/>
              </a:rPr>
              <a:t>Statistical Rigor: 30 Independent Repeats</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15 / 21</a:t>
            </a:r>
          </a:p>
        </p:txBody>
      </p:sp>
      <p:sp>
        <p:nvSpPr>
          <p:cNvPr id="7" name="TextBox 6"/>
          <p:cNvSpPr txBox="1"/>
          <p:nvPr/>
        </p:nvSpPr>
        <p:spPr>
          <a:xfrm>
            <a:off x="640080" y="1463040"/>
            <a:ext cx="10881360" cy="822960"/>
          </a:xfrm>
          <a:prstGeom prst="rect">
            <a:avLst/>
          </a:prstGeom>
          <a:noFill/>
        </p:spPr>
        <p:txBody>
          <a:bodyPr wrap="square" anchor="t" lIns="0" rIns="0" tIns="0" bIns="0">
            <a:spAutoFit/>
          </a:bodyPr>
          <a:lstStyle/>
          <a:p>
            <a:pPr algn="l"/>
            <a:r>
              <a:rPr sz="1500" b="0" i="0">
                <a:solidFill>
                  <a:srgbClr val="1F2937"/>
                </a:solidFill>
                <a:latin typeface="Calibri"/>
              </a:rPr>
              <a:t>Every result so far was a single train/test split — no way to tell if a number like "68.2% coverage" was a robust effect or one unlucky draw. Repeated the full GP / standard-CP / Mondrian-CP pipeline across 30 independent (calibration, test) draws.</a:t>
            </a:r>
          </a:p>
        </p:txBody>
      </p:sp>
      <p:graphicFrame>
        <p:nvGraphicFramePr>
          <p:cNvPr id="8" name="Table 7"/>
          <p:cNvGraphicFramePr>
            <a:graphicFrameLocks noGrp="1"/>
          </p:cNvGraphicFramePr>
          <p:nvPr/>
        </p:nvGraphicFramePr>
        <p:xfrm>
          <a:off x="640080" y="2423160"/>
          <a:ext cx="10881360" cy="2194560"/>
        </p:xfrm>
        <a:graphic>
          <a:graphicData uri="http://schemas.openxmlformats.org/drawingml/2006/table">
            <a:tbl>
              <a:tblPr firstRow="1" bandRow="1">
                <a:tableStyleId>{5C22544A-7EE6-4342-B048-85BDC9FD1C3A}</a:tableStyleId>
              </a:tblPr>
              <a:tblGrid>
                <a:gridCol w="2651760"/>
                <a:gridCol w="2194560"/>
                <a:gridCol w="3108960"/>
                <a:gridCol w="2926080"/>
              </a:tblGrid>
              <a:tr h="313508">
                <a:tc>
                  <a:txBody>
                    <a:bodyPr/>
                    <a:lstStyle/>
                    <a:p>
                      <a:pPr algn="l"/>
                      <a:r>
                        <a:rPr sz="1200" b="1">
                          <a:solidFill>
                            <a:srgbClr val="FFFFFF"/>
                          </a:solidFill>
                        </a:rPr>
                        <a:t>Target</a:t>
                      </a:r>
                    </a:p>
                  </a:txBody>
                  <a:tcPr anchor="ctr" marT="50800" marB="50800">
                    <a:solidFill>
                      <a:srgbClr val="1E40AF"/>
                    </a:solidFill>
                  </a:tcPr>
                </a:tc>
                <a:tc>
                  <a:txBody>
                    <a:bodyPr/>
                    <a:lstStyle/>
                    <a:p>
                      <a:pPr algn="ctr"/>
                      <a:r>
                        <a:rPr sz="1200" b="1">
                          <a:solidFill>
                            <a:srgbClr val="FFFFFF"/>
                          </a:solidFill>
                        </a:rPr>
                        <a:t>Method</a:t>
                      </a:r>
                    </a:p>
                  </a:txBody>
                  <a:tcPr anchor="ctr" marT="50800" marB="50800">
                    <a:solidFill>
                      <a:srgbClr val="1E40AF"/>
                    </a:solidFill>
                  </a:tcPr>
                </a:tc>
                <a:tc>
                  <a:txBody>
                    <a:bodyPr/>
                    <a:lstStyle/>
                    <a:p>
                      <a:pPr algn="ctr"/>
                      <a:r>
                        <a:rPr sz="1200" b="1">
                          <a:solidFill>
                            <a:srgbClr val="FFFFFF"/>
                          </a:solidFill>
                        </a:rPr>
                        <a:t>Coverage (mean ± 95% CI)</a:t>
                      </a:r>
                    </a:p>
                  </a:txBody>
                  <a:tcPr anchor="ctr" marT="50800" marB="50800">
                    <a:solidFill>
                      <a:srgbClr val="1E40AF"/>
                    </a:solidFill>
                  </a:tcPr>
                </a:tc>
                <a:tc>
                  <a:txBody>
                    <a:bodyPr/>
                    <a:lstStyle/>
                    <a:p>
                      <a:pPr algn="ctr"/>
                      <a:r>
                        <a:rPr sz="1200" b="1">
                          <a:solidFill>
                            <a:srgbClr val="FFFFFF"/>
                          </a:solidFill>
                        </a:rPr>
                        <a:t>Width (mean ± 95% CI)</a:t>
                      </a:r>
                    </a:p>
                  </a:txBody>
                  <a:tcPr anchor="ctr" marT="50800" marB="50800">
                    <a:solidFill>
                      <a:srgbClr val="1E40AF"/>
                    </a:solidFill>
                  </a:tcPr>
                </a:tc>
              </a:tr>
              <a:tr h="313508">
                <a:tc>
                  <a:txBody>
                    <a:bodyPr/>
                    <a:lstStyle/>
                    <a:p>
                      <a:pPr algn="l"/>
                      <a:r>
                        <a:rPr sz="1200">
                          <a:solidFill>
                            <a:srgbClr val="1F2937"/>
                          </a:solidFill>
                        </a:rPr>
                        <a:t>mean_wait_minutes</a:t>
                      </a:r>
                    </a:p>
                  </a:txBody>
                  <a:tcPr anchor="ctr" marT="50800" marB="50800">
                    <a:solidFill>
                      <a:srgbClr val="F8FAFC"/>
                    </a:solidFill>
                  </a:tcPr>
                </a:tc>
                <a:tc>
                  <a:txBody>
                    <a:bodyPr/>
                    <a:lstStyle/>
                    <a:p>
                      <a:pPr algn="ctr"/>
                      <a:r>
                        <a:rPr sz="1200">
                          <a:solidFill>
                            <a:srgbClr val="1F2937"/>
                          </a:solidFill>
                        </a:rPr>
                        <a:t>GP</a:t>
                      </a:r>
                    </a:p>
                  </a:txBody>
                  <a:tcPr anchor="ctr" marT="50800" marB="50800">
                    <a:solidFill>
                      <a:srgbClr val="F8FAFC"/>
                    </a:solidFill>
                  </a:tcPr>
                </a:tc>
                <a:tc>
                  <a:txBody>
                    <a:bodyPr/>
                    <a:lstStyle/>
                    <a:p>
                      <a:pPr algn="ctr"/>
                      <a:r>
                        <a:rPr sz="1200">
                          <a:solidFill>
                            <a:srgbClr val="1F2937"/>
                          </a:solidFill>
                        </a:rPr>
                        <a:t>88.31% ± 0.47%</a:t>
                      </a:r>
                    </a:p>
                  </a:txBody>
                  <a:tcPr anchor="ctr" marT="50800" marB="50800">
                    <a:solidFill>
                      <a:srgbClr val="F8FAFC"/>
                    </a:solidFill>
                  </a:tcPr>
                </a:tc>
                <a:tc>
                  <a:txBody>
                    <a:bodyPr/>
                    <a:lstStyle/>
                    <a:p>
                      <a:pPr algn="ctr"/>
                      <a:r>
                        <a:rPr sz="1200">
                          <a:solidFill>
                            <a:srgbClr val="1F2937"/>
                          </a:solidFill>
                        </a:rPr>
                        <a:t>44.4 ± 1.1</a:t>
                      </a:r>
                    </a:p>
                  </a:txBody>
                  <a:tcPr anchor="ctr" marT="50800" marB="50800">
                    <a:solidFill>
                      <a:srgbClr val="F8FAFC"/>
                    </a:solidFill>
                  </a:tcPr>
                </a:tc>
              </a:tr>
              <a:tr h="313508">
                <a:tc>
                  <a:txBody>
                    <a:bodyPr/>
                    <a:lstStyle/>
                    <a:p>
                      <a:pPr algn="l"/>
                      <a:r>
                        <a:rPr sz="1200">
                          <a:solidFill>
                            <a:srgbClr val="1F2937"/>
                          </a:solidFill>
                        </a:rPr>
                        <a:t>mean_wait_minutes</a:t>
                      </a:r>
                    </a:p>
                  </a:txBody>
                  <a:tcPr anchor="ctr" marT="50800" marB="50800">
                    <a:solidFill>
                      <a:srgbClr val="FFFFFF"/>
                    </a:solidFill>
                  </a:tcPr>
                </a:tc>
                <a:tc>
                  <a:txBody>
                    <a:bodyPr/>
                    <a:lstStyle/>
                    <a:p>
                      <a:pPr algn="ctr"/>
                      <a:r>
                        <a:rPr sz="1200">
                          <a:solidFill>
                            <a:srgbClr val="1F2937"/>
                          </a:solidFill>
                        </a:rPr>
                        <a:t>Standard CP</a:t>
                      </a:r>
                    </a:p>
                  </a:txBody>
                  <a:tcPr anchor="ctr" marT="50800" marB="50800">
                    <a:solidFill>
                      <a:srgbClr val="FFFFFF"/>
                    </a:solidFill>
                  </a:tcPr>
                </a:tc>
                <a:tc>
                  <a:txBody>
                    <a:bodyPr/>
                    <a:lstStyle/>
                    <a:p>
                      <a:pPr algn="ctr"/>
                      <a:r>
                        <a:rPr sz="1200">
                          <a:solidFill>
                            <a:srgbClr val="1F2937"/>
                          </a:solidFill>
                        </a:rPr>
                        <a:t>90.09% ± 0.46%</a:t>
                      </a:r>
                    </a:p>
                  </a:txBody>
                  <a:tcPr anchor="ctr" marT="50800" marB="50800">
                    <a:solidFill>
                      <a:srgbClr val="FFFFFF"/>
                    </a:solidFill>
                  </a:tcPr>
                </a:tc>
                <a:tc>
                  <a:txBody>
                    <a:bodyPr/>
                    <a:lstStyle/>
                    <a:p>
                      <a:pPr algn="ctr"/>
                      <a:r>
                        <a:rPr sz="1200">
                          <a:solidFill>
                            <a:srgbClr val="1F2937"/>
                          </a:solidFill>
                        </a:rPr>
                        <a:t>48.0 ± 1.5</a:t>
                      </a:r>
                    </a:p>
                  </a:txBody>
                  <a:tcPr anchor="ctr" marT="50800" marB="50800">
                    <a:solidFill>
                      <a:srgbClr val="FFFFFF"/>
                    </a:solidFill>
                  </a:tcPr>
                </a:tc>
              </a:tr>
              <a:tr h="313508">
                <a:tc>
                  <a:txBody>
                    <a:bodyPr/>
                    <a:lstStyle/>
                    <a:p>
                      <a:pPr algn="l"/>
                      <a:r>
                        <a:rPr sz="1200">
                          <a:solidFill>
                            <a:srgbClr val="1F2937"/>
                          </a:solidFill>
                        </a:rPr>
                        <a:t>mean_wait_minutes</a:t>
                      </a:r>
                    </a:p>
                  </a:txBody>
                  <a:tcPr anchor="ctr" marT="50800" marB="50800">
                    <a:solidFill>
                      <a:srgbClr val="F8FAFC"/>
                    </a:solidFill>
                  </a:tcPr>
                </a:tc>
                <a:tc>
                  <a:txBody>
                    <a:bodyPr/>
                    <a:lstStyle/>
                    <a:p>
                      <a:pPr algn="ctr"/>
                      <a:r>
                        <a:rPr sz="1200">
                          <a:solidFill>
                            <a:srgbClr val="1F2937"/>
                          </a:solidFill>
                        </a:rPr>
                        <a:t>Mondrian CP</a:t>
                      </a:r>
                    </a:p>
                  </a:txBody>
                  <a:tcPr anchor="ctr" marT="50800" marB="50800">
                    <a:solidFill>
                      <a:srgbClr val="F8FAFC"/>
                    </a:solidFill>
                  </a:tcPr>
                </a:tc>
                <a:tc>
                  <a:txBody>
                    <a:bodyPr/>
                    <a:lstStyle/>
                    <a:p>
                      <a:pPr algn="ctr"/>
                      <a:r>
                        <a:rPr sz="1200">
                          <a:solidFill>
                            <a:srgbClr val="1F2937"/>
                          </a:solidFill>
                        </a:rPr>
                        <a:t>91.07% ± 0.35%</a:t>
                      </a:r>
                    </a:p>
                  </a:txBody>
                  <a:tcPr anchor="ctr" marT="50800" marB="50800">
                    <a:solidFill>
                      <a:srgbClr val="F8FAFC"/>
                    </a:solidFill>
                  </a:tcPr>
                </a:tc>
                <a:tc>
                  <a:txBody>
                    <a:bodyPr/>
                    <a:lstStyle/>
                    <a:p>
                      <a:pPr algn="ctr"/>
                      <a:r>
                        <a:rPr sz="1200">
                          <a:solidFill>
                            <a:srgbClr val="1F2937"/>
                          </a:solidFill>
                        </a:rPr>
                        <a:t>41.7 ± 1.4</a:t>
                      </a:r>
                    </a:p>
                  </a:txBody>
                  <a:tcPr anchor="ctr" marT="50800" marB="50800">
                    <a:solidFill>
                      <a:srgbClr val="F8FAFC"/>
                    </a:solidFill>
                  </a:tcPr>
                </a:tc>
              </a:tr>
              <a:tr h="313508">
                <a:tc>
                  <a:txBody>
                    <a:bodyPr/>
                    <a:lstStyle/>
                    <a:p>
                      <a:pPr algn="l"/>
                      <a:r>
                        <a:rPr sz="1200">
                          <a:solidFill>
                            <a:srgbClr val="1F2937"/>
                          </a:solidFill>
                        </a:rPr>
                        <a:t>p95_wait_minutes</a:t>
                      </a:r>
                    </a:p>
                  </a:txBody>
                  <a:tcPr anchor="ctr" marT="50800" marB="50800">
                    <a:solidFill>
                      <a:srgbClr val="FFFFFF"/>
                    </a:solidFill>
                  </a:tcPr>
                </a:tc>
                <a:tc>
                  <a:txBody>
                    <a:bodyPr/>
                    <a:lstStyle/>
                    <a:p>
                      <a:pPr algn="ctr"/>
                      <a:r>
                        <a:rPr sz="1200">
                          <a:solidFill>
                            <a:srgbClr val="1F2937"/>
                          </a:solidFill>
                        </a:rPr>
                        <a:t>GP</a:t>
                      </a:r>
                    </a:p>
                  </a:txBody>
                  <a:tcPr anchor="ctr" marT="50800" marB="50800">
                    <a:solidFill>
                      <a:srgbClr val="FFFFFF"/>
                    </a:solidFill>
                  </a:tcPr>
                </a:tc>
                <a:tc>
                  <a:txBody>
                    <a:bodyPr/>
                    <a:lstStyle/>
                    <a:p>
                      <a:pPr algn="ctr"/>
                      <a:r>
                        <a:rPr sz="1200">
                          <a:solidFill>
                            <a:srgbClr val="1F2937"/>
                          </a:solidFill>
                        </a:rPr>
                        <a:t>88.97% ± 0.44%</a:t>
                      </a:r>
                    </a:p>
                  </a:txBody>
                  <a:tcPr anchor="ctr" marT="50800" marB="50800">
                    <a:solidFill>
                      <a:srgbClr val="FFFFFF"/>
                    </a:solidFill>
                  </a:tcPr>
                </a:tc>
                <a:tc>
                  <a:txBody>
                    <a:bodyPr/>
                    <a:lstStyle/>
                    <a:p>
                      <a:pPr algn="ctr"/>
                      <a:r>
                        <a:rPr sz="1200">
                          <a:solidFill>
                            <a:srgbClr val="1F2937"/>
                          </a:solidFill>
                        </a:rPr>
                        <a:t>354.6 ± 11.5</a:t>
                      </a:r>
                    </a:p>
                  </a:txBody>
                  <a:tcPr anchor="ctr" marT="50800" marB="50800">
                    <a:solidFill>
                      <a:srgbClr val="FFFFFF"/>
                    </a:solidFill>
                  </a:tcPr>
                </a:tc>
              </a:tr>
              <a:tr h="313508">
                <a:tc>
                  <a:txBody>
                    <a:bodyPr/>
                    <a:lstStyle/>
                    <a:p>
                      <a:pPr algn="l"/>
                      <a:r>
                        <a:rPr sz="1200">
                          <a:solidFill>
                            <a:srgbClr val="1F2937"/>
                          </a:solidFill>
                        </a:rPr>
                        <a:t>p95_wait_minutes</a:t>
                      </a:r>
                    </a:p>
                  </a:txBody>
                  <a:tcPr anchor="ctr" marT="50800" marB="50800">
                    <a:solidFill>
                      <a:srgbClr val="F8FAFC"/>
                    </a:solidFill>
                  </a:tcPr>
                </a:tc>
                <a:tc>
                  <a:txBody>
                    <a:bodyPr/>
                    <a:lstStyle/>
                    <a:p>
                      <a:pPr algn="ctr"/>
                      <a:r>
                        <a:rPr sz="1200">
                          <a:solidFill>
                            <a:srgbClr val="1F2937"/>
                          </a:solidFill>
                        </a:rPr>
                        <a:t>Standard CP</a:t>
                      </a:r>
                    </a:p>
                  </a:txBody>
                  <a:tcPr anchor="ctr" marT="50800" marB="50800">
                    <a:solidFill>
                      <a:srgbClr val="F8FAFC"/>
                    </a:solidFill>
                  </a:tcPr>
                </a:tc>
                <a:tc>
                  <a:txBody>
                    <a:bodyPr/>
                    <a:lstStyle/>
                    <a:p>
                      <a:pPr algn="ctr"/>
                      <a:r>
                        <a:rPr sz="1200">
                          <a:solidFill>
                            <a:srgbClr val="1F2937"/>
                          </a:solidFill>
                        </a:rPr>
                        <a:t>90.06% ± 0.39%</a:t>
                      </a:r>
                    </a:p>
                  </a:txBody>
                  <a:tcPr anchor="ctr" marT="50800" marB="50800">
                    <a:solidFill>
                      <a:srgbClr val="F8FAFC"/>
                    </a:solidFill>
                  </a:tcPr>
                </a:tc>
                <a:tc>
                  <a:txBody>
                    <a:bodyPr/>
                    <a:lstStyle/>
                    <a:p>
                      <a:pPr algn="ctr"/>
                      <a:r>
                        <a:rPr sz="1200">
                          <a:solidFill>
                            <a:srgbClr val="1F2937"/>
                          </a:solidFill>
                        </a:rPr>
                        <a:t>377.1 ± 12.6</a:t>
                      </a:r>
                    </a:p>
                  </a:txBody>
                  <a:tcPr anchor="ctr" marT="50800" marB="50800">
                    <a:solidFill>
                      <a:srgbClr val="F8FAFC"/>
                    </a:solidFill>
                  </a:tcPr>
                </a:tc>
              </a:tr>
              <a:tr h="313512">
                <a:tc>
                  <a:txBody>
                    <a:bodyPr/>
                    <a:lstStyle/>
                    <a:p>
                      <a:pPr algn="l"/>
                      <a:r>
                        <a:rPr sz="1200">
                          <a:solidFill>
                            <a:srgbClr val="1F2937"/>
                          </a:solidFill>
                        </a:rPr>
                        <a:t>p95_wait_minutes</a:t>
                      </a:r>
                    </a:p>
                  </a:txBody>
                  <a:tcPr anchor="ctr" marT="50800" marB="50800">
                    <a:solidFill>
                      <a:srgbClr val="FFFFFF"/>
                    </a:solidFill>
                  </a:tcPr>
                </a:tc>
                <a:tc>
                  <a:txBody>
                    <a:bodyPr/>
                    <a:lstStyle/>
                    <a:p>
                      <a:pPr algn="ctr"/>
                      <a:r>
                        <a:rPr sz="1200">
                          <a:solidFill>
                            <a:srgbClr val="1F2937"/>
                          </a:solidFill>
                        </a:rPr>
                        <a:t>Mondrian CP</a:t>
                      </a:r>
                    </a:p>
                  </a:txBody>
                  <a:tcPr anchor="ctr" marT="50800" marB="50800">
                    <a:solidFill>
                      <a:srgbClr val="FFFFFF"/>
                    </a:solidFill>
                  </a:tcPr>
                </a:tc>
                <a:tc>
                  <a:txBody>
                    <a:bodyPr/>
                    <a:lstStyle/>
                    <a:p>
                      <a:pPr algn="ctr"/>
                      <a:r>
                        <a:rPr sz="1200">
                          <a:solidFill>
                            <a:srgbClr val="1F2937"/>
                          </a:solidFill>
                        </a:rPr>
                        <a:t>91.35% ± 0.46%</a:t>
                      </a:r>
                    </a:p>
                  </a:txBody>
                  <a:tcPr anchor="ctr" marT="50800" marB="50800">
                    <a:solidFill>
                      <a:srgbClr val="FFFFFF"/>
                    </a:solidFill>
                  </a:tcPr>
                </a:tc>
                <a:tc>
                  <a:txBody>
                    <a:bodyPr/>
                    <a:lstStyle/>
                    <a:p>
                      <a:pPr algn="ctr"/>
                      <a:r>
                        <a:rPr sz="1200">
                          <a:solidFill>
                            <a:srgbClr val="1F2937"/>
                          </a:solidFill>
                        </a:rPr>
                        <a:t>328.6 ± 13.4</a:t>
                      </a:r>
                    </a:p>
                  </a:txBody>
                  <a:tcPr anchor="ctr" marT="50800" marB="50800">
                    <a:solidFill>
                      <a:srgbClr val="FFFFFF"/>
                    </a:solidFill>
                  </a:tcPr>
                </a:tc>
              </a:tr>
            </a:tbl>
          </a:graphicData>
        </a:graphic>
      </p:graphicFrame>
      <p:sp>
        <p:nvSpPr>
          <p:cNvPr id="9" name="Rectangle 8"/>
          <p:cNvSpPr/>
          <p:nvPr/>
        </p:nvSpPr>
        <p:spPr>
          <a:xfrm>
            <a:off x="640080" y="4846320"/>
            <a:ext cx="10881360" cy="160020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983480"/>
            <a:ext cx="10332720" cy="1371600"/>
          </a:xfrm>
          <a:prstGeom prst="rect">
            <a:avLst/>
          </a:prstGeom>
          <a:noFill/>
        </p:spPr>
        <p:txBody>
          <a:bodyPr wrap="square" anchor="t" lIns="0" rIns="0" tIns="0" bIns="0">
            <a:spAutoFit/>
          </a:bodyPr>
          <a:lstStyle/>
          <a:p>
            <a:pPr algn="l"/>
            <a:r>
              <a:rPr sz="1300" b="0" i="0">
                <a:solidFill>
                  <a:srgbClr val="1F2937"/>
                </a:solidFill>
                <a:latin typeface="Calibri"/>
              </a:rPr>
              <a:t>Paired t-test (same 30 draws underlie all methods): Mondrian CP's coverage advantage over both standard CP and GP is significant at p &lt; 0.001 on every one of the 4 targets, most p-values below 1e-05. With averaging, Mondrian CP's coverage now sits consistently above 90% while GP consistently undercovers — a statistically defensible claim, not just a directionally suggestive one.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PUBLICATION-RIGOR UPGRADE</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400" b="1" i="0">
                <a:solidFill>
                  <a:srgbClr val="1B2238"/>
                </a:solidFill>
                <a:latin typeface="Calibri"/>
              </a:rPr>
              <a:t>CQR: A Stronger, Adaptive Baseline</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16 / 21</a:t>
            </a:r>
          </a:p>
        </p:txBody>
      </p:sp>
      <p:sp>
        <p:nvSpPr>
          <p:cNvPr id="7" name="TextBox 6"/>
          <p:cNvSpPr txBox="1"/>
          <p:nvPr/>
        </p:nvSpPr>
        <p:spPr>
          <a:xfrm>
            <a:off x="640080" y="1463040"/>
            <a:ext cx="10881360" cy="914400"/>
          </a:xfrm>
          <a:prstGeom prst="rect">
            <a:avLst/>
          </a:prstGeom>
          <a:noFill/>
        </p:spPr>
        <p:txBody>
          <a:bodyPr wrap="square" anchor="t" lIns="0" rIns="0" tIns="0" bIns="0">
            <a:spAutoFit/>
          </a:bodyPr>
          <a:lstStyle/>
          <a:p>
            <a:pPr algn="l"/>
            <a:r>
              <a:rPr sz="1500" b="0" i="0">
                <a:solidFill>
                  <a:srgbClr val="1F2937"/>
                </a:solidFill>
                <a:latin typeface="Calibri"/>
              </a:rPr>
              <a:t>Conformalized Quantile Regression (CQR) calibrates an interval that adapts to the local spread predicted by quantile regressors, instead of one fixed width (standard CP) or one fixed width per category (Mondrian CP) built from a mean predictor.</a:t>
            </a:r>
          </a:p>
        </p:txBody>
      </p:sp>
      <p:graphicFrame>
        <p:nvGraphicFramePr>
          <p:cNvPr id="8" name="Table 7"/>
          <p:cNvGraphicFramePr>
            <a:graphicFrameLocks noGrp="1"/>
          </p:cNvGraphicFramePr>
          <p:nvPr/>
        </p:nvGraphicFramePr>
        <p:xfrm>
          <a:off x="640080" y="2468880"/>
          <a:ext cx="10881360" cy="1554480"/>
        </p:xfrm>
        <a:graphic>
          <a:graphicData uri="http://schemas.openxmlformats.org/drawingml/2006/table">
            <a:tbl>
              <a:tblPr firstRow="1" bandRow="1">
                <a:tableStyleId>{5C22544A-7EE6-4342-B048-85BDC9FD1C3A}</a:tableStyleId>
              </a:tblPr>
              <a:tblGrid>
                <a:gridCol w="3200400"/>
                <a:gridCol w="1920240"/>
                <a:gridCol w="1920240"/>
                <a:gridCol w="1920240"/>
                <a:gridCol w="1920240"/>
              </a:tblGrid>
              <a:tr h="518160">
                <a:tc>
                  <a:txBody>
                    <a:bodyPr/>
                    <a:lstStyle/>
                    <a:p>
                      <a:pPr algn="l"/>
                      <a:r>
                        <a:rPr sz="1200" b="1">
                          <a:solidFill>
                            <a:srgbClr val="FFFFFF"/>
                          </a:solidFill>
                        </a:rPr>
                        <a:t>Target</a:t>
                      </a:r>
                    </a:p>
                  </a:txBody>
                  <a:tcPr anchor="ctr" marT="50800" marB="50800">
                    <a:solidFill>
                      <a:srgbClr val="1E40AF"/>
                    </a:solidFill>
                  </a:tcPr>
                </a:tc>
                <a:tc>
                  <a:txBody>
                    <a:bodyPr/>
                    <a:lstStyle/>
                    <a:p>
                      <a:pPr algn="ctr"/>
                      <a:r>
                        <a:rPr sz="1200" b="1">
                          <a:solidFill>
                            <a:srgbClr val="FFFFFF"/>
                          </a:solidFill>
                        </a:rPr>
                        <a:t>Standard CP</a:t>
                      </a:r>
                    </a:p>
                  </a:txBody>
                  <a:tcPr anchor="ctr" marT="50800" marB="50800">
                    <a:solidFill>
                      <a:srgbClr val="1E40AF"/>
                    </a:solidFill>
                  </a:tcPr>
                </a:tc>
                <a:tc>
                  <a:txBody>
                    <a:bodyPr/>
                    <a:lstStyle/>
                    <a:p>
                      <a:pPr algn="ctr"/>
                      <a:r>
                        <a:rPr sz="1200" b="1">
                          <a:solidFill>
                            <a:srgbClr val="FFFFFF"/>
                          </a:solidFill>
                        </a:rPr>
                        <a:t>Mondrian CP</a:t>
                      </a:r>
                    </a:p>
                  </a:txBody>
                  <a:tcPr anchor="ctr" marT="50800" marB="50800">
                    <a:solidFill>
                      <a:srgbClr val="1E40AF"/>
                    </a:solidFill>
                  </a:tcPr>
                </a:tc>
                <a:tc>
                  <a:txBody>
                    <a:bodyPr/>
                    <a:lstStyle/>
                    <a:p>
                      <a:pPr algn="ctr"/>
                      <a:r>
                        <a:rPr sz="1200" b="1">
                          <a:solidFill>
                            <a:srgbClr val="FFFFFF"/>
                          </a:solidFill>
                        </a:rPr>
                        <a:t>CQR</a:t>
                      </a:r>
                    </a:p>
                  </a:txBody>
                  <a:tcPr anchor="ctr" marT="50800" marB="50800">
                    <a:solidFill>
                      <a:srgbClr val="1E40AF"/>
                    </a:solidFill>
                  </a:tcPr>
                </a:tc>
                <a:tc>
                  <a:txBody>
                    <a:bodyPr/>
                    <a:lstStyle/>
                    <a:p>
                      <a:pPr algn="ctr"/>
                      <a:r>
                        <a:rPr sz="1200" b="1">
                          <a:solidFill>
                            <a:srgbClr val="FFFFFF"/>
                          </a:solidFill>
                        </a:rPr>
                        <a:t>Mondrian CQR</a:t>
                      </a:r>
                    </a:p>
                  </a:txBody>
                  <a:tcPr anchor="ctr" marT="50800" marB="50800">
                    <a:solidFill>
                      <a:srgbClr val="1E40AF"/>
                    </a:solidFill>
                  </a:tcPr>
                </a:tc>
              </a:tr>
              <a:tr h="518160">
                <a:tc>
                  <a:txBody>
                    <a:bodyPr/>
                    <a:lstStyle/>
                    <a:p>
                      <a:pPr algn="l"/>
                      <a:r>
                        <a:rPr sz="1200">
                          <a:solidFill>
                            <a:srgbClr val="1F2937"/>
                          </a:solidFill>
                        </a:rPr>
                        <a:t>p95_wait_minutes (coverage)</a:t>
                      </a:r>
                    </a:p>
                  </a:txBody>
                  <a:tcPr anchor="ctr" marT="50800" marB="50800">
                    <a:solidFill>
                      <a:srgbClr val="F8FAFC"/>
                    </a:solidFill>
                  </a:tcPr>
                </a:tc>
                <a:tc>
                  <a:txBody>
                    <a:bodyPr/>
                    <a:lstStyle/>
                    <a:p>
                      <a:pPr algn="ctr"/>
                      <a:r>
                        <a:rPr sz="1200">
                          <a:solidFill>
                            <a:srgbClr val="1F2937"/>
                          </a:solidFill>
                        </a:rPr>
                        <a:t>90.1%</a:t>
                      </a:r>
                    </a:p>
                  </a:txBody>
                  <a:tcPr anchor="ctr" marT="50800" marB="50800">
                    <a:solidFill>
                      <a:srgbClr val="F8FAFC"/>
                    </a:solidFill>
                  </a:tcPr>
                </a:tc>
                <a:tc>
                  <a:txBody>
                    <a:bodyPr/>
                    <a:lstStyle/>
                    <a:p>
                      <a:pPr algn="ctr"/>
                      <a:r>
                        <a:rPr sz="1200">
                          <a:solidFill>
                            <a:srgbClr val="1F2937"/>
                          </a:solidFill>
                        </a:rPr>
                        <a:t>91.4%</a:t>
                      </a:r>
                    </a:p>
                  </a:txBody>
                  <a:tcPr anchor="ctr" marT="50800" marB="50800">
                    <a:solidFill>
                      <a:srgbClr val="F8FAFC"/>
                    </a:solidFill>
                  </a:tcPr>
                </a:tc>
                <a:tc>
                  <a:txBody>
                    <a:bodyPr/>
                    <a:lstStyle/>
                    <a:p>
                      <a:pPr algn="ctr"/>
                      <a:r>
                        <a:rPr sz="1200">
                          <a:solidFill>
                            <a:srgbClr val="1F2937"/>
                          </a:solidFill>
                        </a:rPr>
                        <a:t>90.9%</a:t>
                      </a:r>
                    </a:p>
                  </a:txBody>
                  <a:tcPr anchor="ctr" marT="50800" marB="50800">
                    <a:solidFill>
                      <a:srgbClr val="F8FAFC"/>
                    </a:solidFill>
                  </a:tcPr>
                </a:tc>
                <a:tc>
                  <a:txBody>
                    <a:bodyPr/>
                    <a:lstStyle/>
                    <a:p>
                      <a:pPr algn="ctr"/>
                      <a:r>
                        <a:rPr sz="1200">
                          <a:solidFill>
                            <a:srgbClr val="1F2937"/>
                          </a:solidFill>
                        </a:rPr>
                        <a:t>92.2%</a:t>
                      </a:r>
                    </a:p>
                  </a:txBody>
                  <a:tcPr anchor="ctr" marT="50800" marB="50800">
                    <a:solidFill>
                      <a:srgbClr val="F8FAFC"/>
                    </a:solidFill>
                  </a:tcPr>
                </a:tc>
              </a:tr>
              <a:tr h="518160">
                <a:tc>
                  <a:txBody>
                    <a:bodyPr/>
                    <a:lstStyle/>
                    <a:p>
                      <a:pPr algn="l"/>
                      <a:r>
                        <a:rPr sz="1200">
                          <a:solidFill>
                            <a:srgbClr val="1F2937"/>
                          </a:solidFill>
                        </a:rPr>
                        <a:t>p95_wait_minutes (width)</a:t>
                      </a:r>
                    </a:p>
                  </a:txBody>
                  <a:tcPr anchor="ctr" marT="50800" marB="50800">
                    <a:solidFill>
                      <a:srgbClr val="FFFFFF"/>
                    </a:solidFill>
                  </a:tcPr>
                </a:tc>
                <a:tc>
                  <a:txBody>
                    <a:bodyPr/>
                    <a:lstStyle/>
                    <a:p>
                      <a:pPr algn="ctr"/>
                      <a:r>
                        <a:rPr sz="1200">
                          <a:solidFill>
                            <a:srgbClr val="1F2937"/>
                          </a:solidFill>
                        </a:rPr>
                        <a:t>377.1</a:t>
                      </a:r>
                    </a:p>
                  </a:txBody>
                  <a:tcPr anchor="ctr" marT="50800" marB="50800">
                    <a:solidFill>
                      <a:srgbClr val="FFFFFF"/>
                    </a:solidFill>
                  </a:tcPr>
                </a:tc>
                <a:tc>
                  <a:txBody>
                    <a:bodyPr/>
                    <a:lstStyle/>
                    <a:p>
                      <a:pPr algn="ctr"/>
                      <a:r>
                        <a:rPr sz="1200">
                          <a:solidFill>
                            <a:srgbClr val="1F2937"/>
                          </a:solidFill>
                        </a:rPr>
                        <a:t>328.6</a:t>
                      </a:r>
                    </a:p>
                  </a:txBody>
                  <a:tcPr anchor="ctr" marT="50800" marB="50800">
                    <a:solidFill>
                      <a:srgbClr val="FFFFFF"/>
                    </a:solidFill>
                  </a:tcPr>
                </a:tc>
                <a:tc>
                  <a:txBody>
                    <a:bodyPr/>
                    <a:lstStyle/>
                    <a:p>
                      <a:pPr algn="ctr"/>
                      <a:r>
                        <a:rPr sz="1200">
                          <a:solidFill>
                            <a:srgbClr val="1F2937"/>
                          </a:solidFill>
                        </a:rPr>
                        <a:t>275.6</a:t>
                      </a:r>
                    </a:p>
                  </a:txBody>
                  <a:tcPr anchor="ctr" marT="50800" marB="50800">
                    <a:solidFill>
                      <a:srgbClr val="FFFFFF"/>
                    </a:solidFill>
                  </a:tcPr>
                </a:tc>
                <a:tc>
                  <a:txBody>
                    <a:bodyPr/>
                    <a:lstStyle/>
                    <a:p>
                      <a:pPr algn="ctr"/>
                      <a:r>
                        <a:rPr sz="1200">
                          <a:solidFill>
                            <a:srgbClr val="1F2937"/>
                          </a:solidFill>
                        </a:rPr>
                        <a:t>292.7</a:t>
                      </a:r>
                    </a:p>
                  </a:txBody>
                  <a:tcPr anchor="ctr" marT="50800" marB="50800">
                    <a:solidFill>
                      <a:srgbClr val="FFFFFF"/>
                    </a:solidFill>
                  </a:tcPr>
                </a:tc>
              </a:tr>
            </a:tbl>
          </a:graphicData>
        </a:graphic>
      </p:graphicFrame>
      <p:sp>
        <p:nvSpPr>
          <p:cNvPr id="9" name="Rectangle 8"/>
          <p:cNvSpPr/>
          <p:nvPr/>
        </p:nvSpPr>
        <p:spPr>
          <a:xfrm>
            <a:off x="640080" y="4297680"/>
            <a:ext cx="10881360" cy="214884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434840"/>
            <a:ext cx="10332720" cy="1920240"/>
          </a:xfrm>
          <a:prstGeom prst="rect">
            <a:avLst/>
          </a:prstGeom>
          <a:noFill/>
        </p:spPr>
        <p:txBody>
          <a:bodyPr wrap="square" anchor="t" lIns="0" rIns="0" tIns="0" bIns="0">
            <a:spAutoFit/>
          </a:bodyPr>
          <a:lstStyle/>
          <a:p>
            <a:pPr algn="l"/>
            <a:r>
              <a:rPr sz="1300" b="0" i="0">
                <a:solidFill>
                  <a:srgbClr val="1F2937"/>
                </a:solidFill>
                <a:latin typeface="Calibri"/>
              </a:rPr>
              <a:t>CQR dominates standard CP outright on p95_wait_minutes — equal-or-better coverage, ~27% narrower interval (p &lt; 0.005). Against Mondrian CP it's a genuine tradeoff: slightly lower coverage, but narrower — different points on the same coverage/width frontier. Combining both ideas (Mondrian CQR) wins on both axes simultaneously for p95_wait_minutes — higher coverage AND narrower than Mondrian CP alone. The five methods form a real frontier, not a strict ranking: each adds value in a different way.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PUBLICATION-RIGOR UPGRADE</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400" b="1" i="0">
                <a:solidFill>
                  <a:srgbClr val="1B2238"/>
                </a:solidFill>
                <a:latin typeface="Calibri"/>
              </a:rPr>
              <a:t>Robustness Check: A Second Surrogate</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17 / 21</a:t>
            </a:r>
          </a:p>
        </p:txBody>
      </p:sp>
      <p:sp>
        <p:nvSpPr>
          <p:cNvPr id="7" name="TextBox 6"/>
          <p:cNvSpPr txBox="1"/>
          <p:nvPr/>
        </p:nvSpPr>
        <p:spPr>
          <a:xfrm>
            <a:off x="640080" y="1463040"/>
            <a:ext cx="10881360" cy="822960"/>
          </a:xfrm>
          <a:prstGeom prst="rect">
            <a:avLst/>
          </a:prstGeom>
          <a:noFill/>
        </p:spPr>
        <p:txBody>
          <a:bodyPr wrap="square" anchor="t" lIns="0" rIns="0" tIns="0" bIns="0">
            <a:spAutoFit/>
          </a:bodyPr>
          <a:lstStyle/>
          <a:p>
            <a:pPr algn="l"/>
            <a:r>
              <a:rPr sz="1500" b="0" i="0">
                <a:solidFill>
                  <a:srgbClr val="1F2937"/>
                </a:solidFill>
                <a:latin typeface="Calibri"/>
              </a:rPr>
              <a:t>Trained an MLP (neural network) surrogate — nearly identical in-distribution accuracy to gradient boosting (R² within ~0.01 on every target) — and re-ran the exchangeability stress test to see if the coverage collapse was specific to tree-based extrapolation.</a:t>
            </a:r>
          </a:p>
        </p:txBody>
      </p:sp>
      <p:graphicFrame>
        <p:nvGraphicFramePr>
          <p:cNvPr id="8" name="Table 7"/>
          <p:cNvGraphicFramePr>
            <a:graphicFrameLocks noGrp="1"/>
          </p:cNvGraphicFramePr>
          <p:nvPr/>
        </p:nvGraphicFramePr>
        <p:xfrm>
          <a:off x="640080" y="2377440"/>
          <a:ext cx="10881360" cy="1280160"/>
        </p:xfrm>
        <a:graphic>
          <a:graphicData uri="http://schemas.openxmlformats.org/drawingml/2006/table">
            <a:tbl>
              <a:tblPr firstRow="1" bandRow="1">
                <a:tableStyleId>{5C22544A-7EE6-4342-B048-85BDC9FD1C3A}</a:tableStyleId>
              </a:tblPr>
              <a:tblGrid>
                <a:gridCol w="2103120"/>
                <a:gridCol w="1737360"/>
                <a:gridCol w="1737360"/>
                <a:gridCol w="1828800"/>
                <a:gridCol w="1737360"/>
                <a:gridCol w="1737360"/>
              </a:tblGrid>
              <a:tr h="426720">
                <a:tc>
                  <a:txBody>
                    <a:bodyPr/>
                    <a:lstStyle/>
                    <a:p>
                      <a:pPr algn="l"/>
                      <a:r>
                        <a:rPr sz="1100" b="1">
                          <a:solidFill>
                            <a:srgbClr val="FFFFFF"/>
                          </a:solidFill>
                        </a:rPr>
                        <a:t>n_capacity=30</a:t>
                      </a:r>
                    </a:p>
                  </a:txBody>
                  <a:tcPr anchor="ctr" marT="50800" marB="50800">
                    <a:solidFill>
                      <a:srgbClr val="1E40AF"/>
                    </a:solidFill>
                  </a:tcPr>
                </a:tc>
                <a:tc>
                  <a:txBody>
                    <a:bodyPr/>
                    <a:lstStyle/>
                    <a:p>
                      <a:pPr algn="ctr"/>
                      <a:r>
                        <a:rPr sz="1100" b="1">
                          <a:solidFill>
                            <a:srgbClr val="FFFFFF"/>
                          </a:solidFill>
                        </a:rPr>
                        <a:t>Arrival 1.0x</a:t>
                      </a:r>
                    </a:p>
                  </a:txBody>
                  <a:tcPr anchor="ctr" marT="50800" marB="50800">
                    <a:solidFill>
                      <a:srgbClr val="1E40AF"/>
                    </a:solidFill>
                  </a:tcPr>
                </a:tc>
                <a:tc>
                  <a:txBody>
                    <a:bodyPr/>
                    <a:lstStyle/>
                    <a:p>
                      <a:pPr algn="ctr"/>
                      <a:r>
                        <a:rPr sz="1100" b="1">
                          <a:solidFill>
                            <a:srgbClr val="FFFFFF"/>
                          </a:solidFill>
                        </a:rPr>
                        <a:t>Arrival 1.3x</a:t>
                      </a:r>
                    </a:p>
                  </a:txBody>
                  <a:tcPr anchor="ctr" marT="50800" marB="50800">
                    <a:solidFill>
                      <a:srgbClr val="1E40AF"/>
                    </a:solidFill>
                  </a:tcPr>
                </a:tc>
                <a:tc>
                  <a:txBody>
                    <a:bodyPr/>
                    <a:lstStyle/>
                    <a:p>
                      <a:pPr algn="ctr"/>
                      <a:r>
                        <a:rPr sz="1100" b="1">
                          <a:solidFill>
                            <a:srgbClr val="FFFFFF"/>
                          </a:solidFill>
                        </a:rPr>
                        <a:t>Arrival 2.0x</a:t>
                      </a:r>
                    </a:p>
                  </a:txBody>
                  <a:tcPr anchor="ctr" marT="50800" marB="50800">
                    <a:solidFill>
                      <a:srgbClr val="1E40AF"/>
                    </a:solidFill>
                  </a:tcPr>
                </a:tc>
                <a:tc>
                  <a:txBody>
                    <a:bodyPr/>
                    <a:lstStyle/>
                    <a:p>
                      <a:pPr algn="ctr"/>
                      <a:r>
                        <a:rPr sz="1100" b="1">
                          <a:solidFill>
                            <a:srgbClr val="FFFFFF"/>
                          </a:solidFill>
                        </a:rPr>
                        <a:t>Arrival 3.0x</a:t>
                      </a:r>
                    </a:p>
                  </a:txBody>
                  <a:tcPr anchor="ctr" marT="50800" marB="50800">
                    <a:solidFill>
                      <a:srgbClr val="1E40AF"/>
                    </a:solidFill>
                  </a:tcPr>
                </a:tc>
                <a:tc>
                  <a:txBody>
                    <a:bodyPr/>
                    <a:lstStyle/>
                    <a:p>
                      <a:pPr algn="ctr"/>
                      <a:r>
                        <a:rPr sz="1100" b="1">
                          <a:solidFill>
                            <a:srgbClr val="FFFFFF"/>
                          </a:solidFill>
                        </a:rPr>
                        <a:t>True (3.0x)</a:t>
                      </a:r>
                    </a:p>
                  </a:txBody>
                  <a:tcPr anchor="ctr" marT="50800" marB="50800">
                    <a:solidFill>
                      <a:srgbClr val="1E40AF"/>
                    </a:solidFill>
                  </a:tcPr>
                </a:tc>
              </a:tr>
              <a:tr h="426720">
                <a:tc>
                  <a:txBody>
                    <a:bodyPr/>
                    <a:lstStyle/>
                    <a:p>
                      <a:pPr algn="l"/>
                      <a:r>
                        <a:rPr sz="1100">
                          <a:solidFill>
                            <a:srgbClr val="1F2937"/>
                          </a:solidFill>
                        </a:rPr>
                        <a:t>GBR prediction</a:t>
                      </a:r>
                    </a:p>
                  </a:txBody>
                  <a:tcPr anchor="ctr" marT="50800" marB="50800">
                    <a:solidFill>
                      <a:srgbClr val="F8FAFC"/>
                    </a:solidFill>
                  </a:tcPr>
                </a:tc>
                <a:tc>
                  <a:txBody>
                    <a:bodyPr/>
                    <a:lstStyle/>
                    <a:p>
                      <a:pPr algn="ctr"/>
                      <a:r>
                        <a:rPr sz="1100">
                          <a:solidFill>
                            <a:srgbClr val="1F2937"/>
                          </a:solidFill>
                        </a:rPr>
                        <a:t>240.5</a:t>
                      </a:r>
                    </a:p>
                  </a:txBody>
                  <a:tcPr anchor="ctr" marT="50800" marB="50800">
                    <a:solidFill>
                      <a:srgbClr val="F8FAFC"/>
                    </a:solidFill>
                  </a:tcPr>
                </a:tc>
                <a:tc>
                  <a:txBody>
                    <a:bodyPr/>
                    <a:lstStyle/>
                    <a:p>
                      <a:pPr algn="ctr"/>
                      <a:r>
                        <a:rPr sz="1100">
                          <a:solidFill>
                            <a:srgbClr val="1F2937"/>
                          </a:solidFill>
                        </a:rPr>
                        <a:t>247.8</a:t>
                      </a:r>
                    </a:p>
                  </a:txBody>
                  <a:tcPr anchor="ctr" marT="50800" marB="50800">
                    <a:solidFill>
                      <a:srgbClr val="F8FAFC"/>
                    </a:solidFill>
                  </a:tcPr>
                </a:tc>
                <a:tc>
                  <a:txBody>
                    <a:bodyPr/>
                    <a:lstStyle/>
                    <a:p>
                      <a:pPr algn="ctr"/>
                      <a:r>
                        <a:rPr sz="1100">
                          <a:solidFill>
                            <a:srgbClr val="1F2937"/>
                          </a:solidFill>
                        </a:rPr>
                        <a:t>247.8 (frozen)</a:t>
                      </a:r>
                    </a:p>
                  </a:txBody>
                  <a:tcPr anchor="ctr" marT="50800" marB="50800">
                    <a:solidFill>
                      <a:srgbClr val="F8FAFC"/>
                    </a:solidFill>
                  </a:tcPr>
                </a:tc>
                <a:tc>
                  <a:txBody>
                    <a:bodyPr/>
                    <a:lstStyle/>
                    <a:p>
                      <a:pPr algn="ctr"/>
                      <a:r>
                        <a:rPr sz="1100">
                          <a:solidFill>
                            <a:srgbClr val="1F2937"/>
                          </a:solidFill>
                        </a:rPr>
                        <a:t>247.8 (frozen)</a:t>
                      </a:r>
                    </a:p>
                  </a:txBody>
                  <a:tcPr anchor="ctr" marT="50800" marB="50800">
                    <a:solidFill>
                      <a:srgbClr val="F8FAFC"/>
                    </a:solidFill>
                  </a:tcPr>
                </a:tc>
                <a:tc>
                  <a:txBody>
                    <a:bodyPr/>
                    <a:lstStyle/>
                    <a:p>
                      <a:pPr algn="ctr"/>
                      <a:r>
                        <a:rPr sz="1100">
                          <a:solidFill>
                            <a:srgbClr val="1F2937"/>
                          </a:solidFill>
                        </a:rPr>
                        <a:t>280.9</a:t>
                      </a:r>
                    </a:p>
                  </a:txBody>
                  <a:tcPr anchor="ctr" marT="50800" marB="50800">
                    <a:solidFill>
                      <a:srgbClr val="F8FAFC"/>
                    </a:solidFill>
                  </a:tcPr>
                </a:tc>
              </a:tr>
              <a:tr h="426720">
                <a:tc>
                  <a:txBody>
                    <a:bodyPr/>
                    <a:lstStyle/>
                    <a:p>
                      <a:pPr algn="l"/>
                      <a:r>
                        <a:rPr sz="1100">
                          <a:solidFill>
                            <a:srgbClr val="1F2937"/>
                          </a:solidFill>
                        </a:rPr>
                        <a:t>MLP prediction</a:t>
                      </a:r>
                    </a:p>
                  </a:txBody>
                  <a:tcPr anchor="ctr" marT="50800" marB="50800">
                    <a:solidFill>
                      <a:srgbClr val="FFFFFF"/>
                    </a:solidFill>
                  </a:tcPr>
                </a:tc>
                <a:tc>
                  <a:txBody>
                    <a:bodyPr/>
                    <a:lstStyle/>
                    <a:p>
                      <a:pPr algn="ctr"/>
                      <a:r>
                        <a:rPr sz="1100">
                          <a:solidFill>
                            <a:srgbClr val="1F2937"/>
                          </a:solidFill>
                        </a:rPr>
                        <a:t>234.8</a:t>
                      </a:r>
                    </a:p>
                  </a:txBody>
                  <a:tcPr anchor="ctr" marT="50800" marB="50800">
                    <a:solidFill>
                      <a:srgbClr val="FFFFFF"/>
                    </a:solidFill>
                  </a:tcPr>
                </a:tc>
                <a:tc>
                  <a:txBody>
                    <a:bodyPr/>
                    <a:lstStyle/>
                    <a:p>
                      <a:pPr algn="ctr"/>
                      <a:r>
                        <a:rPr sz="1100">
                          <a:solidFill>
                            <a:srgbClr val="1F2937"/>
                          </a:solidFill>
                        </a:rPr>
                        <a:t>245.8</a:t>
                      </a:r>
                    </a:p>
                  </a:txBody>
                  <a:tcPr anchor="ctr" marT="50800" marB="50800">
                    <a:solidFill>
                      <a:srgbClr val="FFFFFF"/>
                    </a:solidFill>
                  </a:tcPr>
                </a:tc>
                <a:tc>
                  <a:txBody>
                    <a:bodyPr/>
                    <a:lstStyle/>
                    <a:p>
                      <a:pPr algn="ctr"/>
                      <a:r>
                        <a:rPr sz="1100">
                          <a:solidFill>
                            <a:srgbClr val="1F2937"/>
                          </a:solidFill>
                        </a:rPr>
                        <a:t>336.5</a:t>
                      </a:r>
                    </a:p>
                  </a:txBody>
                  <a:tcPr anchor="ctr" marT="50800" marB="50800">
                    <a:solidFill>
                      <a:srgbClr val="FFFFFF"/>
                    </a:solidFill>
                  </a:tcPr>
                </a:tc>
                <a:tc>
                  <a:txBody>
                    <a:bodyPr/>
                    <a:lstStyle/>
                    <a:p>
                      <a:pPr algn="ctr"/>
                      <a:r>
                        <a:rPr sz="1100">
                          <a:solidFill>
                            <a:srgbClr val="1F2937"/>
                          </a:solidFill>
                        </a:rPr>
                        <a:t>521.2</a:t>
                      </a:r>
                    </a:p>
                  </a:txBody>
                  <a:tcPr anchor="ctr" marT="50800" marB="50800">
                    <a:solidFill>
                      <a:srgbClr val="FFFFFF"/>
                    </a:solidFill>
                  </a:tcPr>
                </a:tc>
                <a:tc>
                  <a:txBody>
                    <a:bodyPr/>
                    <a:lstStyle/>
                    <a:p>
                      <a:pPr algn="ctr"/>
                      <a:r>
                        <a:rPr sz="1100">
                          <a:solidFill>
                            <a:srgbClr val="1F2937"/>
                          </a:solidFill>
                        </a:rPr>
                        <a:t>280.9</a:t>
                      </a:r>
                    </a:p>
                  </a:txBody>
                  <a:tcPr anchor="ctr" marT="50800" marB="50800">
                    <a:solidFill>
                      <a:srgbClr val="FFFFFF"/>
                    </a:solidFill>
                  </a:tcPr>
                </a:tc>
              </a:tr>
            </a:tbl>
          </a:graphicData>
        </a:graphic>
      </p:graphicFrame>
      <p:sp>
        <p:nvSpPr>
          <p:cNvPr id="9" name="Rectangle 8"/>
          <p:cNvSpPr/>
          <p:nvPr/>
        </p:nvSpPr>
        <p:spPr>
          <a:xfrm>
            <a:off x="640080" y="3886200"/>
            <a:ext cx="10881360" cy="256032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23360"/>
            <a:ext cx="10332720" cy="2331720"/>
          </a:xfrm>
          <a:prstGeom prst="rect">
            <a:avLst/>
          </a:prstGeom>
          <a:noFill/>
        </p:spPr>
        <p:txBody>
          <a:bodyPr wrap="square" anchor="t" lIns="0" rIns="0" tIns="0" bIns="0">
            <a:spAutoFit/>
          </a:bodyPr>
          <a:lstStyle/>
          <a:p>
            <a:pPr algn="l"/>
            <a:r>
              <a:rPr sz="1300" b="0" i="0">
                <a:solidFill>
                  <a:srgbClr val="1F2937"/>
                </a:solidFill>
                <a:latin typeface="Calibri"/>
              </a:rPr>
              <a:t>Counter-intuitive result: the true DES output saturates at extreme overload (the same day-boundary censoring effect from Slide 7 — fewer patients finish within a day). GBR's frozen prediction happens to land close to that saturating value by coincidence (error ~33). The MLP keeps extrapolating the upward trend it learned near the training boundary and overshoots massively (error ~240, 7x worse) — n_patients and mean_total_minutes both hit exactly 0% coverage with the MLP by 2.0x severity, worse than GBR's 31.7%/4.7% at 3.0x. The ability to extrapolate is not automatically better than not being able to — confidently-wrong extrapolation is worse than frozen-but-plausible extrapolation here. Strengthens the exchangeability finding: the breakdown isn't one architecture's quirk.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PUBLICATION-RIGOR UPGRADE</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400" b="1" i="0">
                <a:solidFill>
                  <a:srgbClr val="1B2238"/>
                </a:solidFill>
                <a:latin typeface="Calibri"/>
              </a:rPr>
              <a:t>Generalizability: A Second Department</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18 / 21</a:t>
            </a:r>
          </a:p>
        </p:txBody>
      </p:sp>
      <p:sp>
        <p:nvSpPr>
          <p:cNvPr id="7" name="TextBox 6"/>
          <p:cNvSpPr txBox="1"/>
          <p:nvPr/>
        </p:nvSpPr>
        <p:spPr>
          <a:xfrm>
            <a:off x="640080" y="1463040"/>
            <a:ext cx="10881360" cy="822960"/>
          </a:xfrm>
          <a:prstGeom prst="rect">
            <a:avLst/>
          </a:prstGeom>
          <a:noFill/>
        </p:spPr>
        <p:txBody>
          <a:bodyPr wrap="square" anchor="t" lIns="0" rIns="0" tIns="0" bIns="0">
            <a:spAutoFit/>
          </a:bodyPr>
          <a:lstStyle/>
          <a:p>
            <a:pPr algn="l"/>
            <a:r>
              <a:rPr sz="1500" b="0" i="0">
                <a:solidFill>
                  <a:srgbClr val="1F2937"/>
                </a:solidFill>
                <a:latin typeface="Calibri"/>
              </a:rPr>
              <a:t>Recalibrated the entire pipeline — DES, surrogate, CP — on Department B (166,497 visits, roughly half A's volume, meaningfully different ESI acuity mix — a community rather than academic site) to test whether the core finding is specific to one department.</a:t>
            </a:r>
          </a:p>
        </p:txBody>
      </p:sp>
      <p:graphicFrame>
        <p:nvGraphicFramePr>
          <p:cNvPr id="8" name="Table 7"/>
          <p:cNvGraphicFramePr>
            <a:graphicFrameLocks noGrp="1"/>
          </p:cNvGraphicFramePr>
          <p:nvPr/>
        </p:nvGraphicFramePr>
        <p:xfrm>
          <a:off x="640080" y="2423160"/>
          <a:ext cx="10881360" cy="1554480"/>
        </p:xfrm>
        <a:graphic>
          <a:graphicData uri="http://schemas.openxmlformats.org/drawingml/2006/table">
            <a:tbl>
              <a:tblPr firstRow="1" bandRow="1">
                <a:tableStyleId>{5C22544A-7EE6-4342-B048-85BDC9FD1C3A}</a:tableStyleId>
              </a:tblPr>
              <a:tblGrid>
                <a:gridCol w="2743200"/>
                <a:gridCol w="2926080"/>
                <a:gridCol w="2286000"/>
                <a:gridCol w="2926080"/>
              </a:tblGrid>
              <a:tr h="388620">
                <a:tc>
                  <a:txBody>
                    <a:bodyPr/>
                    <a:lstStyle/>
                    <a:p>
                      <a:pPr algn="l"/>
                      <a:r>
                        <a:rPr sz="1200" b="1">
                          <a:solidFill>
                            <a:srgbClr val="FFFFFF"/>
                          </a:solidFill>
                        </a:rPr>
                        <a:t>Target</a:t>
                      </a:r>
                    </a:p>
                  </a:txBody>
                  <a:tcPr anchor="ctr" marT="50800" marB="50800">
                    <a:solidFill>
                      <a:srgbClr val="1E40AF"/>
                    </a:solidFill>
                  </a:tcPr>
                </a:tc>
                <a:tc>
                  <a:txBody>
                    <a:bodyPr/>
                    <a:lstStyle/>
                    <a:p>
                      <a:pPr algn="ctr"/>
                      <a:r>
                        <a:rPr sz="1200" b="1">
                          <a:solidFill>
                            <a:srgbClr val="FFFFFF"/>
                          </a:solidFill>
                        </a:rPr>
                        <a:t>Dept. B: pooled (worst category)</a:t>
                      </a:r>
                    </a:p>
                  </a:txBody>
                  <a:tcPr anchor="ctr" marT="50800" marB="50800">
                    <a:solidFill>
                      <a:srgbClr val="1E40AF"/>
                    </a:solidFill>
                  </a:tcPr>
                </a:tc>
                <a:tc>
                  <a:txBody>
                    <a:bodyPr/>
                    <a:lstStyle/>
                    <a:p>
                      <a:pPr algn="ctr"/>
                      <a:r>
                        <a:rPr sz="1200" b="1">
                          <a:solidFill>
                            <a:srgbClr val="FFFFFF"/>
                          </a:solidFill>
                        </a:rPr>
                        <a:t>Dept. B: Mondrian</a:t>
                      </a:r>
                    </a:p>
                  </a:txBody>
                  <a:tcPr anchor="ctr" marT="50800" marB="50800">
                    <a:solidFill>
                      <a:srgbClr val="1E40AF"/>
                    </a:solidFill>
                  </a:tcPr>
                </a:tc>
                <a:tc>
                  <a:txBody>
                    <a:bodyPr/>
                    <a:lstStyle/>
                    <a:p>
                      <a:pPr algn="ctr"/>
                      <a:r>
                        <a:rPr sz="1200" b="1">
                          <a:solidFill>
                            <a:srgbClr val="FFFFFF"/>
                          </a:solidFill>
                        </a:rPr>
                        <a:t>Dept. A (for comparison)</a:t>
                      </a:r>
                    </a:p>
                  </a:txBody>
                  <a:tcPr anchor="ctr" marT="50800" marB="50800">
                    <a:solidFill>
                      <a:srgbClr val="1E40AF"/>
                    </a:solidFill>
                  </a:tcPr>
                </a:tc>
              </a:tr>
              <a:tr h="388620">
                <a:tc>
                  <a:txBody>
                    <a:bodyPr/>
                    <a:lstStyle/>
                    <a:p>
                      <a:pPr algn="l"/>
                      <a:r>
                        <a:rPr sz="1200">
                          <a:solidFill>
                            <a:srgbClr val="1F2937"/>
                          </a:solidFill>
                        </a:rPr>
                        <a:t>mean_wait_minutes</a:t>
                      </a:r>
                    </a:p>
                  </a:txBody>
                  <a:tcPr anchor="ctr" marT="50800" marB="50800">
                    <a:solidFill>
                      <a:srgbClr val="F8FAFC"/>
                    </a:solidFill>
                  </a:tcPr>
                </a:tc>
                <a:tc>
                  <a:txBody>
                    <a:bodyPr/>
                    <a:lstStyle/>
                    <a:p>
                      <a:pPr algn="ctr"/>
                      <a:r>
                        <a:rPr sz="1200">
                          <a:solidFill>
                            <a:srgbClr val="1F2937"/>
                          </a:solidFill>
                        </a:rPr>
                        <a:t>76.2%</a:t>
                      </a:r>
                    </a:p>
                  </a:txBody>
                  <a:tcPr anchor="ctr" marT="50800" marB="50800">
                    <a:solidFill>
                      <a:srgbClr val="F8FAFC"/>
                    </a:solidFill>
                  </a:tcPr>
                </a:tc>
                <a:tc>
                  <a:txBody>
                    <a:bodyPr/>
                    <a:lstStyle/>
                    <a:p>
                      <a:pPr algn="ctr"/>
                      <a:r>
                        <a:rPr sz="1200">
                          <a:solidFill>
                            <a:srgbClr val="1F2937"/>
                          </a:solidFill>
                        </a:rPr>
                        <a:t>89.3%</a:t>
                      </a:r>
                    </a:p>
                  </a:txBody>
                  <a:tcPr anchor="ctr" marT="50800" marB="50800">
                    <a:solidFill>
                      <a:srgbClr val="F8FAFC"/>
                    </a:solidFill>
                  </a:tcPr>
                </a:tc>
                <a:tc>
                  <a:txBody>
                    <a:bodyPr/>
                    <a:lstStyle/>
                    <a:p>
                      <a:pPr algn="ctr"/>
                      <a:r>
                        <a:rPr sz="1200">
                          <a:solidFill>
                            <a:srgbClr val="1F2937"/>
                          </a:solidFill>
                        </a:rPr>
                        <a:t>68.2% -&gt; 90.9%</a:t>
                      </a:r>
                    </a:p>
                  </a:txBody>
                  <a:tcPr anchor="ctr" marT="50800" marB="50800">
                    <a:solidFill>
                      <a:srgbClr val="F8FAFC"/>
                    </a:solidFill>
                  </a:tcPr>
                </a:tc>
              </a:tr>
              <a:tr h="388620">
                <a:tc>
                  <a:txBody>
                    <a:bodyPr/>
                    <a:lstStyle/>
                    <a:p>
                      <a:pPr algn="l"/>
                      <a:r>
                        <a:rPr sz="1200">
                          <a:solidFill>
                            <a:srgbClr val="1F2937"/>
                          </a:solidFill>
                        </a:rPr>
                        <a:t>mean_total_minutes</a:t>
                      </a:r>
                    </a:p>
                  </a:txBody>
                  <a:tcPr anchor="ctr" marT="50800" marB="50800">
                    <a:solidFill>
                      <a:srgbClr val="FFFFFF"/>
                    </a:solidFill>
                  </a:tcPr>
                </a:tc>
                <a:tc>
                  <a:txBody>
                    <a:bodyPr/>
                    <a:lstStyle/>
                    <a:p>
                      <a:pPr algn="ctr"/>
                      <a:r>
                        <a:rPr sz="1200">
                          <a:solidFill>
                            <a:srgbClr val="1F2937"/>
                          </a:solidFill>
                        </a:rPr>
                        <a:t>81.0%</a:t>
                      </a:r>
                    </a:p>
                  </a:txBody>
                  <a:tcPr anchor="ctr" marT="50800" marB="50800">
                    <a:solidFill>
                      <a:srgbClr val="FFFFFF"/>
                    </a:solidFill>
                  </a:tcPr>
                </a:tc>
                <a:tc>
                  <a:txBody>
                    <a:bodyPr/>
                    <a:lstStyle/>
                    <a:p>
                      <a:pPr algn="ctr"/>
                      <a:r>
                        <a:rPr sz="1200">
                          <a:solidFill>
                            <a:srgbClr val="1F2937"/>
                          </a:solidFill>
                        </a:rPr>
                        <a:t>90.5%</a:t>
                      </a:r>
                    </a:p>
                  </a:txBody>
                  <a:tcPr anchor="ctr" marT="50800" marB="50800">
                    <a:solidFill>
                      <a:srgbClr val="FFFFFF"/>
                    </a:solidFill>
                  </a:tcPr>
                </a:tc>
                <a:tc>
                  <a:txBody>
                    <a:bodyPr/>
                    <a:lstStyle/>
                    <a:p>
                      <a:pPr algn="ctr"/>
                      <a:r>
                        <a:rPr sz="1200">
                          <a:solidFill>
                            <a:srgbClr val="1F2937"/>
                          </a:solidFill>
                        </a:rPr>
                        <a:t>80.7% -&gt; 92.0%</a:t>
                      </a:r>
                    </a:p>
                  </a:txBody>
                  <a:tcPr anchor="ctr" marT="50800" marB="50800">
                    <a:solidFill>
                      <a:srgbClr val="FFFFFF"/>
                    </a:solidFill>
                  </a:tcPr>
                </a:tc>
              </a:tr>
              <a:tr h="388620">
                <a:tc>
                  <a:txBody>
                    <a:bodyPr/>
                    <a:lstStyle/>
                    <a:p>
                      <a:pPr algn="l"/>
                      <a:r>
                        <a:rPr sz="1200">
                          <a:solidFill>
                            <a:srgbClr val="1F2937"/>
                          </a:solidFill>
                        </a:rPr>
                        <a:t>p95_wait_minutes</a:t>
                      </a:r>
                    </a:p>
                  </a:txBody>
                  <a:tcPr anchor="ctr" marT="50800" marB="50800">
                    <a:solidFill>
                      <a:srgbClr val="F8FAFC"/>
                    </a:solidFill>
                  </a:tcPr>
                </a:tc>
                <a:tc>
                  <a:txBody>
                    <a:bodyPr/>
                    <a:lstStyle/>
                    <a:p>
                      <a:pPr algn="ctr"/>
                      <a:r>
                        <a:rPr sz="1200">
                          <a:solidFill>
                            <a:srgbClr val="1F2937"/>
                          </a:solidFill>
                        </a:rPr>
                        <a:t>81.0%</a:t>
                      </a:r>
                    </a:p>
                  </a:txBody>
                  <a:tcPr anchor="ctr" marT="50800" marB="50800">
                    <a:solidFill>
                      <a:srgbClr val="F8FAFC"/>
                    </a:solidFill>
                  </a:tcPr>
                </a:tc>
                <a:tc>
                  <a:txBody>
                    <a:bodyPr/>
                    <a:lstStyle/>
                    <a:p>
                      <a:pPr algn="ctr"/>
                      <a:r>
                        <a:rPr sz="1200">
                          <a:solidFill>
                            <a:srgbClr val="1F2937"/>
                          </a:solidFill>
                        </a:rPr>
                        <a:t>86.9%</a:t>
                      </a:r>
                    </a:p>
                  </a:txBody>
                  <a:tcPr anchor="ctr" marT="50800" marB="50800">
                    <a:solidFill>
                      <a:srgbClr val="F8FAFC"/>
                    </a:solidFill>
                  </a:tcPr>
                </a:tc>
                <a:tc>
                  <a:txBody>
                    <a:bodyPr/>
                    <a:lstStyle/>
                    <a:p>
                      <a:pPr algn="ctr"/>
                      <a:r>
                        <a:rPr sz="1200">
                          <a:solidFill>
                            <a:srgbClr val="1F2937"/>
                          </a:solidFill>
                        </a:rPr>
                        <a:t>72.7% -&gt; 92.0%</a:t>
                      </a:r>
                    </a:p>
                  </a:txBody>
                  <a:tcPr anchor="ctr" marT="50800" marB="50800">
                    <a:solidFill>
                      <a:srgbClr val="F8FAFC"/>
                    </a:solidFill>
                  </a:tcPr>
                </a:tc>
              </a:tr>
            </a:tbl>
          </a:graphicData>
        </a:graphic>
      </p:graphicFrame>
      <p:sp>
        <p:nvSpPr>
          <p:cNvPr id="9" name="Rectangle 8"/>
          <p:cNvSpPr/>
          <p:nvPr/>
        </p:nvSpPr>
        <p:spPr>
          <a:xfrm>
            <a:off x="640080" y="4251960"/>
            <a:ext cx="10881360" cy="219456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389120"/>
            <a:ext cx="10332720" cy="1965960"/>
          </a:xfrm>
          <a:prstGeom prst="rect">
            <a:avLst/>
          </a:prstGeom>
          <a:noFill/>
        </p:spPr>
        <p:txBody>
          <a:bodyPr wrap="square" anchor="t" lIns="0" rIns="0" tIns="0" bIns="0">
            <a:spAutoFit/>
          </a:bodyPr>
          <a:lstStyle/>
          <a:p>
            <a:pPr algn="l"/>
            <a:r>
              <a:rPr sz="1300" b="0" i="0">
                <a:solidFill>
                  <a:srgbClr val="1F2937"/>
                </a:solidFill>
                <a:latin typeface="Calibri"/>
              </a:rPr>
              <a:t>Same worst category (understaffed + high demand) in both independent sites, similar correction magnitude from Mondrian CP, same wasted-width pattern on the easy category. Honest difference worth keeping: n_patients behaves differently between sites — a real conditional gap appears in Department B that wasn't present in A, and Mondrian helps there this time. That's disclosed, not smoothed over — and it's part of what makes the replication credible rather than suspiciously perfect.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SUMMARY</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What We Accomplished</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19 / 21</a:t>
            </a:r>
          </a:p>
        </p:txBody>
      </p:sp>
      <p:sp>
        <p:nvSpPr>
          <p:cNvPr id="7" name="TextBox 6"/>
          <p:cNvSpPr txBox="1"/>
          <p:nvPr/>
        </p:nvSpPr>
        <p:spPr>
          <a:xfrm>
            <a:off x="640080" y="1600200"/>
            <a:ext cx="10881360" cy="4572000"/>
          </a:xfrm>
          <a:prstGeom prst="rect">
            <a:avLst/>
          </a:prstGeom>
          <a:noFill/>
        </p:spPr>
        <p:txBody>
          <a:bodyPr wrap="square">
            <a:spAutoFit/>
          </a:bodyPr>
          <a:lstStyle/>
          <a:p>
            <a:pPr>
              <a:spcAft>
                <a:spcPts val="1100"/>
              </a:spcAft>
            </a:pPr>
            <a:r>
              <a:rPr sz="1500">
                <a:solidFill>
                  <a:srgbClr val="1F2937"/>
                </a:solidFill>
                <a:latin typeface="Calibri"/>
              </a:rPr>
              <a:t>•  Built and validated an ER discrete-event simulation (SimPy) calibrated on real hospital arrival data — 91.0% match to real daily patient volume.</a:t>
            </a:r>
          </a:p>
          <a:p>
            <a:pPr>
              <a:spcAft>
                <a:spcPts val="1100"/>
              </a:spcAft>
            </a:pPr>
            <a:r>
              <a:rPr sz="1500">
                <a:solidFill>
                  <a:srgbClr val="1F2937"/>
                </a:solidFill>
                <a:latin typeface="Calibri"/>
              </a:rPr>
              <a:t>•  Generated a 5000-scenario training sweep and trained a surrogate model with strong accuracy on 3 of 4 targets (R² 0.76–0.93).</a:t>
            </a:r>
          </a:p>
          <a:p>
            <a:pPr>
              <a:spcAft>
                <a:spcPts val="1100"/>
              </a:spcAft>
            </a:pPr>
            <a:r>
              <a:rPr sz="1500">
                <a:solidFill>
                  <a:srgbClr val="1F2937"/>
                </a:solidFill>
                <a:latin typeface="Calibri"/>
              </a:rPr>
              <a:t>•  Implemented and compared 5 UQ methods — GP baseline, standard CP, Mondrian CP, CQR, and Mondrian CQR — all on the same test data and target coverage.</a:t>
            </a:r>
          </a:p>
          <a:p>
            <a:pPr>
              <a:spcAft>
                <a:spcPts val="1100"/>
              </a:spcAft>
            </a:pPr>
            <a:r>
              <a:rPr sz="1500">
                <a:solidFill>
                  <a:srgbClr val="1F2937"/>
                </a:solidFill>
                <a:latin typeface="Calibri"/>
              </a:rPr>
              <a:t>•  Demonstrated Mondrian CP closing a real marginal-vs-conditional coverage gap (68–81% pooled coverage in the hardest category, corrected to 91–92%), validated with paired significance tests (p &lt; 0.001) across 30 independent repeats, not a single lucky split.</a:t>
            </a:r>
          </a:p>
          <a:p>
            <a:pPr>
              <a:spcAft>
                <a:spcPts val="1100"/>
              </a:spcAft>
            </a:pPr>
            <a:r>
              <a:rPr sz="1500">
                <a:solidFill>
                  <a:srgbClr val="1F2937"/>
                </a:solidFill>
                <a:latin typeface="Calibri"/>
              </a:rPr>
              <a:t>•  Ran an exchangeability stress test across 8 severity levels with two structurally different surrogate architectures, and root-caused the coverage collapse to a specific, verified mechanism in each case, not just "it broke."</a:t>
            </a:r>
          </a:p>
          <a:p>
            <a:pPr>
              <a:spcAft>
                <a:spcPts val="1100"/>
              </a:spcAft>
            </a:pPr>
            <a:r>
              <a:rPr sz="1500">
                <a:solidFill>
                  <a:srgbClr val="1F2937"/>
                </a:solidFill>
                <a:latin typeface="Calibri"/>
              </a:rPr>
              <a:t>•  Replicated the core finding at a second, independent department with different volume and acuity mix — the marginal-vs-conditional gap Mondrian CP closes is not a one-site artifact.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VERDICT</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400" b="1" i="0">
                <a:solidFill>
                  <a:srgbClr val="1B2238"/>
                </a:solidFill>
                <a:latin typeface="Calibri"/>
              </a:rPr>
              <a:t>Did We Meet Our Novelty Target?</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20 / 21</a:t>
            </a:r>
          </a:p>
        </p:txBody>
      </p:sp>
      <p:sp>
        <p:nvSpPr>
          <p:cNvPr id="7" name="TextBox 6"/>
          <p:cNvSpPr txBox="1"/>
          <p:nvPr/>
        </p:nvSpPr>
        <p:spPr>
          <a:xfrm>
            <a:off x="640080" y="1554480"/>
            <a:ext cx="10881360" cy="1005840"/>
          </a:xfrm>
          <a:prstGeom prst="rect">
            <a:avLst/>
          </a:prstGeom>
          <a:noFill/>
        </p:spPr>
        <p:txBody>
          <a:bodyPr wrap="square" anchor="t" lIns="0" rIns="0" tIns="0" bIns="0">
            <a:spAutoFit/>
          </a:bodyPr>
          <a:lstStyle/>
          <a:p>
            <a:pPr algn="l"/>
            <a:r>
              <a:rPr sz="1600" b="0" i="0">
                <a:solidFill>
                  <a:srgbClr val="1F2937"/>
                </a:solidFill>
                <a:latin typeface="Calibri"/>
              </a:rPr>
              <a:t>The claim was to test Gopakumar et al. (2026)'s two stated CP limitations — marginal coverage, exchangeability — outside the physics domains they validated CP in, using a discrete-event / queueing simulation surrogate instead.</a:t>
            </a:r>
          </a:p>
        </p:txBody>
      </p:sp>
      <p:sp>
        <p:nvSpPr>
          <p:cNvPr id="8" name="Rectangle 7"/>
          <p:cNvSpPr/>
          <p:nvPr/>
        </p:nvSpPr>
        <p:spPr>
          <a:xfrm>
            <a:off x="640080" y="2743200"/>
            <a:ext cx="10881360" cy="2286000"/>
          </a:xfrm>
          <a:prstGeom prst="rect">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926080"/>
            <a:ext cx="10332720" cy="2011680"/>
          </a:xfrm>
          <a:prstGeom prst="rect">
            <a:avLst/>
          </a:prstGeom>
          <a:noFill/>
        </p:spPr>
        <p:txBody>
          <a:bodyPr wrap="square">
            <a:spAutoFit/>
          </a:bodyPr>
          <a:lstStyle/>
          <a:p>
            <a:pPr>
              <a:spcAft>
                <a:spcPts val="1000"/>
              </a:spcAft>
            </a:pPr>
            <a:r>
              <a:rPr sz="1500">
                <a:solidFill>
                  <a:srgbClr val="1F2937"/>
                </a:solidFill>
                <a:latin typeface="Calibri"/>
              </a:rPr>
              <a:t>•  Marginal coverage limitation: tested, and now statistically validated (p &lt; 0.001, 30 repeats) and replicated at a second, independent site.</a:t>
            </a:r>
          </a:p>
          <a:p>
            <a:pPr>
              <a:spcAft>
                <a:spcPts val="1000"/>
              </a:spcAft>
            </a:pPr>
            <a:r>
              <a:rPr sz="1500">
                <a:solidFill>
                  <a:srgbClr val="1F2937"/>
                </a:solidFill>
                <a:latin typeface="Calibri"/>
              </a:rPr>
              <a:t>•  Exchangeability limitation: tested with two structurally different surrogate architectures — confirmed to break down outside the training distribution regardless of architecture, with a specific, verified root cause in each case rather than a generic "performance degrades" claim.</a:t>
            </a:r>
          </a:p>
        </p:txBody>
      </p:sp>
      <p:sp>
        <p:nvSpPr>
          <p:cNvPr id="10" name="TextBox 9"/>
          <p:cNvSpPr txBox="1"/>
          <p:nvPr/>
        </p:nvSpPr>
        <p:spPr>
          <a:xfrm>
            <a:off x="640080" y="5257800"/>
            <a:ext cx="10881360" cy="1097280"/>
          </a:xfrm>
          <a:prstGeom prst="rect">
            <a:avLst/>
          </a:prstGeom>
          <a:noFill/>
        </p:spPr>
        <p:txBody>
          <a:bodyPr wrap="square" anchor="t" lIns="0" rIns="0" tIns="0" bIns="0">
            <a:spAutoFit/>
          </a:bodyPr>
          <a:lstStyle/>
          <a:p>
            <a:pPr algn="l"/>
            <a:r>
              <a:rPr sz="1600" b="1" i="0">
                <a:solidFill>
                  <a:srgbClr val="16A34A"/>
                </a:solidFill>
                <a:latin typeface="Calibri"/>
              </a:rPr>
              <a:t>Yes — both limitations were tested in a domain they hadn't been tested in before, with concrete, statistically validated, cross-architecture and cross-site answers, not just a single replication of the base paper's physics-domain results.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515600" cy="320040"/>
          </a:xfrm>
          <a:prstGeom prst="rect">
            <a:avLst/>
          </a:prstGeom>
          <a:noFill/>
        </p:spPr>
        <p:txBody>
          <a:bodyPr wrap="square" anchor="t" lIns="0" rIns="0" tIns="0" bIns="0">
            <a:spAutoFit/>
          </a:bodyPr>
          <a:lstStyle/>
          <a:p>
            <a:pPr algn="l"/>
            <a:r>
              <a:rPr sz="1300" b="1" i="0">
                <a:solidFill>
                  <a:srgbClr val="3B82F6"/>
                </a:solidFill>
                <a:latin typeface="Calibri"/>
              </a:rPr>
              <a:t>HONESTY CHECK</a:t>
            </a:r>
          </a:p>
        </p:txBody>
      </p:sp>
      <p:sp>
        <p:nvSpPr>
          <p:cNvPr id="4" name="TextBox 3"/>
          <p:cNvSpPr txBox="1"/>
          <p:nvPr/>
        </p:nvSpPr>
        <p:spPr>
          <a:xfrm>
            <a:off x="548640" y="566928"/>
            <a:ext cx="10881360" cy="640080"/>
          </a:xfrm>
          <a:prstGeom prst="rect">
            <a:avLst/>
          </a:prstGeom>
          <a:noFill/>
        </p:spPr>
        <p:txBody>
          <a:bodyPr wrap="square" anchor="t" lIns="0" rIns="0" tIns="0" bIns="0">
            <a:spAutoFit/>
          </a:bodyPr>
          <a:lstStyle/>
          <a:p>
            <a:pPr algn="l"/>
            <a:r>
              <a:rPr sz="2600" b="1" i="0">
                <a:solidFill>
                  <a:srgbClr val="1B2238"/>
                </a:solidFill>
                <a:latin typeface="Calibri"/>
              </a:rPr>
              <a:t>Limitations &amp; What's Left</a:t>
            </a:r>
          </a:p>
        </p:txBody>
      </p:sp>
      <p:sp>
        <p:nvSpPr>
          <p:cNvPr id="5" name="Rectangle 4"/>
          <p:cNvSpPr/>
          <p:nvPr/>
        </p:nvSpPr>
        <p:spPr>
          <a:xfrm>
            <a:off x="548640" y="1170432"/>
            <a:ext cx="1005840" cy="3810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446520"/>
            <a:ext cx="822960" cy="320040"/>
          </a:xfrm>
          <a:prstGeom prst="rect">
            <a:avLst/>
          </a:prstGeom>
          <a:noFill/>
        </p:spPr>
        <p:txBody>
          <a:bodyPr wrap="square" anchor="t" lIns="0" rIns="0" tIns="0" bIns="0">
            <a:spAutoFit/>
          </a:bodyPr>
          <a:lstStyle/>
          <a:p>
            <a:pPr algn="r"/>
            <a:r>
              <a:rPr sz="1100" b="0" i="0">
                <a:solidFill>
                  <a:srgbClr val="6B7280"/>
                </a:solidFill>
                <a:latin typeface="Calibri"/>
              </a:rPr>
              <a:t>21 / 21</a:t>
            </a:r>
          </a:p>
        </p:txBody>
      </p:sp>
      <p:sp>
        <p:nvSpPr>
          <p:cNvPr id="7" name="TextBox 6"/>
          <p:cNvSpPr txBox="1"/>
          <p:nvPr/>
        </p:nvSpPr>
        <p:spPr>
          <a:xfrm>
            <a:off x="640080" y="1600200"/>
            <a:ext cx="10881360" cy="4572000"/>
          </a:xfrm>
          <a:prstGeom prst="rect">
            <a:avLst/>
          </a:prstGeom>
          <a:noFill/>
        </p:spPr>
        <p:txBody>
          <a:bodyPr wrap="square">
            <a:spAutoFit/>
          </a:bodyPr>
          <a:lstStyle/>
          <a:p>
            <a:pPr>
              <a:spcAft>
                <a:spcPts val="1400"/>
              </a:spcAft>
            </a:pPr>
            <a:r>
              <a:rPr sz="1600">
                <a:solidFill>
                  <a:srgbClr val="1F2937"/>
                </a:solidFill>
                <a:latin typeface="Calibri"/>
              </a:rPr>
              <a:t>•  Service/treatment time is literature-calibrated, not derived from the dataset — the dataset has no discharge timestamp. Disclosed explicitly throughout, not blended silently into the "real data" story.</a:t>
            </a:r>
          </a:p>
          <a:p>
            <a:pPr>
              <a:spcAft>
                <a:spcPts val="1400"/>
              </a:spcAft>
            </a:pPr>
            <a:r>
              <a:rPr sz="1600">
                <a:solidFill>
                  <a:srgbClr val="1F2937"/>
                </a:solidFill>
                <a:latin typeface="Calibri"/>
              </a:rPr>
              <a:t>•  Generalizability tested across 2 of the dataset's 3 departments (one academic, one community) — both replicate the core finding, but the third department and other health systems entirely are still untested.</a:t>
            </a:r>
          </a:p>
          <a:p>
            <a:pPr>
              <a:spcAft>
                <a:spcPts val="1400"/>
              </a:spcAft>
            </a:pPr>
            <a:r>
              <a:rPr sz="1600">
                <a:solidFill>
                  <a:srgbClr val="1F2937"/>
                </a:solidFill>
                <a:latin typeface="Calibri"/>
              </a:rPr>
              <a:t>•  The exchangeability breakdown was tested with 2 surrogate architectures (gradient boosting, MLP) — both fail outside the training range, via different mechanisms. Other architecture families (e.g. a GP-as-surrogate) are untested.</a:t>
            </a:r>
          </a:p>
          <a:p>
            <a:pPr>
              <a:spcAft>
                <a:spcPts val="1400"/>
              </a:spcAft>
            </a:pPr>
            <a:r>
              <a:rPr sz="1600">
                <a:solidFill>
                  <a:srgbClr val="1F2937"/>
                </a:solidFill>
                <a:latin typeface="Calibri"/>
              </a:rPr>
              <a:t>•  Literature review (30 papers, 3 in depth) still in progress.</a:t>
            </a:r>
          </a:p>
          <a:p>
            <a:pPr>
              <a:spcAft>
                <a:spcPts val="1400"/>
              </a:spcAft>
            </a:pPr>
            <a:r>
              <a:rPr sz="1600">
                <a:solidFill>
                  <a:srgbClr val="1F2937"/>
                </a:solidFill>
                <a:latin typeface="Calibri"/>
              </a:rPr>
              <a:t>•  This is a working results deck, not the final end-sem PPT — that will follow the instructor's specific guidelines once shared.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