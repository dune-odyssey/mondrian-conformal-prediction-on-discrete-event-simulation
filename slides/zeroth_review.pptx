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332720" cy="1828800"/>
          </a:xfrm>
          <a:prstGeom prst="rect">
            <a:avLst/>
          </a:prstGeom>
          <a:noFill/>
        </p:spPr>
        <p:txBody>
          <a:bodyPr wrap="square" anchor="t" lIns="0" rIns="0" tIns="0" bIns="0">
            <a:spAutoFit/>
          </a:bodyPr>
          <a:lstStyle/>
          <a:p>
            <a:pPr algn="ctr"/>
            <a:r>
              <a:rPr sz="3200" b="1" i="0">
                <a:solidFill>
                  <a:srgbClr val="FFFFFF"/>
                </a:solidFill>
                <a:latin typeface="Calibri"/>
              </a:rPr>
              <a:t>Mondrian Conformal Prediction for Uncertainty</a:t>
            </a:r>
          </a:p>
          <a:p>
            <a:pPr algn="ctr"/>
            <a:r>
              <a:rPr sz="3200" b="1" i="0">
                <a:solidFill>
                  <a:srgbClr val="FFFFFF"/>
                </a:solidFill>
                <a:latin typeface="Calibri"/>
              </a:rPr>
              <a:t>Quantification in ER Discrete-Event Simulation Surrogates</a:t>
            </a:r>
          </a:p>
        </p:txBody>
      </p:sp>
      <p:sp>
        <p:nvSpPr>
          <p:cNvPr id="5" name="TextBox 4"/>
          <p:cNvSpPr txBox="1"/>
          <p:nvPr/>
        </p:nvSpPr>
        <p:spPr>
          <a:xfrm>
            <a:off x="914400" y="3063240"/>
            <a:ext cx="10332720" cy="457200"/>
          </a:xfrm>
          <a:prstGeom prst="rect">
            <a:avLst/>
          </a:prstGeom>
          <a:noFill/>
        </p:spPr>
        <p:txBody>
          <a:bodyPr wrap="square" anchor="t" lIns="0" rIns="0" tIns="0" bIns="0">
            <a:spAutoFit/>
          </a:bodyPr>
          <a:lstStyle/>
          <a:p>
            <a:pPr algn="ctr"/>
            <a:r>
              <a:rPr sz="1800" b="0" i="1">
                <a:solidFill>
                  <a:srgbClr val="93C5FD"/>
                </a:solidFill>
                <a:latin typeface="Calibri"/>
              </a:rPr>
              <a:t>Zeroth Review</a:t>
            </a:r>
          </a:p>
        </p:txBody>
      </p:sp>
      <p:sp>
        <p:nvSpPr>
          <p:cNvPr id="6" name="TextBox 5"/>
          <p:cNvSpPr txBox="1"/>
          <p:nvPr/>
        </p:nvSpPr>
        <p:spPr>
          <a:xfrm>
            <a:off x="914400" y="4892040"/>
            <a:ext cx="10332720" cy="731520"/>
          </a:xfrm>
          <a:prstGeom prst="rect">
            <a:avLst/>
          </a:prstGeom>
          <a:noFill/>
        </p:spPr>
        <p:txBody>
          <a:bodyPr wrap="square" anchor="t" lIns="0" rIns="0" tIns="0" bIns="0">
            <a:spAutoFit/>
          </a:bodyPr>
          <a:lstStyle/>
          <a:p>
            <a:pPr algn="ctr"/>
            <a:r>
              <a:rPr sz="1300" b="0" i="0">
                <a:solidFill>
                  <a:srgbClr val="FFFFFF"/>
                </a:solidFill>
                <a:latin typeface="Calibri"/>
              </a:rPr>
              <a:t>G Venugopalan (CB.AI.U4AID25115)   |   Vipin Sudhakar (CB.AI.U4AID25166)   |   Rithvik Arulprakash (CB.AI.U4AID25148)   |   Harshith Kv (CB.AI.U4AID25119)</a:t>
            </a:r>
          </a:p>
        </p:txBody>
      </p:sp>
      <p:sp>
        <p:nvSpPr>
          <p:cNvPr id="7" name="TextBox 6"/>
          <p:cNvSpPr txBox="1"/>
          <p:nvPr/>
        </p:nvSpPr>
        <p:spPr>
          <a:xfrm>
            <a:off x="914400" y="5349240"/>
            <a:ext cx="10332720" cy="365760"/>
          </a:xfrm>
          <a:prstGeom prst="rect">
            <a:avLst/>
          </a:prstGeom>
          <a:noFill/>
        </p:spPr>
        <p:txBody>
          <a:bodyPr wrap="square" anchor="t" lIns="0" rIns="0" tIns="0" bIns="0">
            <a:spAutoFit/>
          </a:bodyPr>
          <a:lstStyle/>
          <a:p>
            <a:pPr algn="ctr"/>
            <a:r>
              <a:rPr sz="1300" b="0" i="0">
                <a:solidFill>
                  <a:srgbClr val="93C5FD"/>
                </a:solidFill>
                <a:latin typeface="Calibri"/>
              </a:rPr>
              <a:t>Course: 23AID201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OVERVIEW</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800" b="1" i="0">
                <a:solidFill>
                  <a:srgbClr val="1B2238"/>
                </a:solidFill>
                <a:latin typeface="Calibri"/>
              </a:rPr>
              <a:t>Abstract</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2 / 9</a:t>
            </a:r>
          </a:p>
        </p:txBody>
      </p:sp>
      <p:sp>
        <p:nvSpPr>
          <p:cNvPr id="7" name="Rectangle 6"/>
          <p:cNvSpPr/>
          <p:nvPr/>
        </p:nvSpPr>
        <p:spPr>
          <a:xfrm>
            <a:off x="640080" y="1554480"/>
            <a:ext cx="10881360" cy="438912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10332720" cy="3840480"/>
          </a:xfrm>
          <a:prstGeom prst="rect">
            <a:avLst/>
          </a:prstGeom>
          <a:noFill/>
        </p:spPr>
        <p:txBody>
          <a:bodyPr wrap="square" anchor="t" lIns="0" rIns="0" tIns="0" bIns="0">
            <a:spAutoFit/>
          </a:bodyPr>
          <a:lstStyle/>
          <a:p>
            <a:pPr algn="l"/>
            <a:r>
              <a:rPr sz="1600" b="0" i="0">
                <a:solidFill>
                  <a:srgbClr val="1F2937"/>
                </a:solidFill>
                <a:latin typeface="Calibri"/>
              </a:rPr>
              <a:t>Surrogate models are increasingly used to approximate expensive simulations and guide decisions in stochastic service systems such as emergency room staffing. However, reliable uncertainty quantification (UQ) for these surrogates remains an open problem: Gaussian Processes are costly and rely on distributional assumptions, while Conformal Prediction (CP) offers a distribution-free, finite-sample coverage guarantee but has only been validated for surrogate models in physics domains (PDEs, magnetohydrodynamics, weather, fusion).</a:t>
            </a:r>
          </a:p>
          <a:p>
            <a:pPr algn="l"/>
            <a:r>
              <a:rPr sz="1600" b="0" i="0">
                <a:solidFill>
                  <a:srgbClr val="1F2937"/>
                </a:solidFill>
                <a:latin typeface="Calibri"/>
              </a:rPr>
              <a:t/>
            </a:r>
          </a:p>
          <a:p>
            <a:pPr algn="l"/>
            <a:r>
              <a:rPr sz="1600" b="0" i="0">
                <a:solidFill>
                  <a:srgbClr val="1F2937"/>
                </a:solidFill>
                <a:latin typeface="Calibri"/>
              </a:rPr>
              <a:t>This project builds a discrete-event simulation (DES) of an emergency room, calibrated on real hospital data, trains a surrogate model on it, and applies standard and Mondrian Conformal Prediction to quantify uncertainty in the surrogate's predictions. The goal is to test whether two limitations explicitly noted in prior work — marginal-only coverage and an untested exchangeability assumption — hold up in a discrete-event / queueing domain that has not been studied before in this context.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MOTIVATION</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800" b="1" i="0">
                <a:solidFill>
                  <a:srgbClr val="1B2238"/>
                </a:solidFill>
                <a:latin typeface="Calibri"/>
              </a:rPr>
              <a:t>Problem Statement</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3 / 9</a:t>
            </a:r>
          </a:p>
        </p:txBody>
      </p:sp>
      <p:sp>
        <p:nvSpPr>
          <p:cNvPr id="7" name="TextBox 6"/>
          <p:cNvSpPr txBox="1"/>
          <p:nvPr/>
        </p:nvSpPr>
        <p:spPr>
          <a:xfrm>
            <a:off x="640080" y="1600200"/>
            <a:ext cx="10881360" cy="4572000"/>
          </a:xfrm>
          <a:prstGeom prst="rect">
            <a:avLst/>
          </a:prstGeom>
          <a:noFill/>
        </p:spPr>
        <p:txBody>
          <a:bodyPr wrap="square">
            <a:spAutoFit/>
          </a:bodyPr>
          <a:lstStyle/>
          <a:p>
            <a:pPr>
              <a:spcAft>
                <a:spcPts val="1600"/>
              </a:spcAft>
            </a:pPr>
            <a:r>
              <a:rPr sz="1800">
                <a:solidFill>
                  <a:srgbClr val="1F2937"/>
                </a:solidFill>
                <a:latin typeface="Calibri"/>
              </a:rPr>
              <a:t>•  Surrogate models are fast, learned approximations of expensive simulations, increasingly used to guide decisions in stochastic service systems - ER staffing, queueing networks, etc.</a:t>
            </a:r>
          </a:p>
          <a:p>
            <a:pPr>
              <a:spcAft>
                <a:spcPts val="1600"/>
              </a:spcAft>
            </a:pPr>
            <a:r>
              <a:rPr sz="1800">
                <a:solidFill>
                  <a:srgbClr val="1F2937"/>
                </a:solidFill>
                <a:latin typeface="Calibri"/>
              </a:rPr>
              <a:t>•  A point prediction alone isn't enough for a decision like "will adding 2 more doctors bring wait time down enough?" - that needs a calibrated interval, not just a number.</a:t>
            </a:r>
          </a:p>
          <a:p>
            <a:pPr>
              <a:spcAft>
                <a:spcPts val="1600"/>
              </a:spcAft>
            </a:pPr>
            <a:r>
              <a:rPr sz="1800">
                <a:solidFill>
                  <a:srgbClr val="1F2937"/>
                </a:solidFill>
                <a:latin typeface="Calibri"/>
              </a:rPr>
              <a:t>•  Gaussian Processes are the established way to get one, but are expensive to train and rely on distributional assumptions rather than a finite-sample guarantee.</a:t>
            </a:r>
          </a:p>
          <a:p>
            <a:pPr>
              <a:spcAft>
                <a:spcPts val="1600"/>
              </a:spcAft>
            </a:pPr>
            <a:r>
              <a:rPr sz="1800">
                <a:solidFill>
                  <a:srgbClr val="1F2937"/>
                </a:solidFill>
                <a:latin typeface="Calibri"/>
              </a:rPr>
              <a:t>•  Conformal Prediction (CP) is distribution-free with a finite-sample coverage guarantee and is cheap to calibrate - but it's only been validated for surrogate models in a narrow set of domains so far.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BACKGROUND</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800" b="1" i="0">
                <a:solidFill>
                  <a:srgbClr val="1B2238"/>
                </a:solidFill>
                <a:latin typeface="Calibri"/>
              </a:rPr>
              <a:t>Literature Review</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4 / 9</a:t>
            </a:r>
          </a:p>
        </p:txBody>
      </p:sp>
      <p:sp>
        <p:nvSpPr>
          <p:cNvPr id="7" name="TextBox 6"/>
          <p:cNvSpPr txBox="1"/>
          <p:nvPr/>
        </p:nvSpPr>
        <p:spPr>
          <a:xfrm>
            <a:off x="640080" y="1508760"/>
            <a:ext cx="10881360" cy="548640"/>
          </a:xfrm>
          <a:prstGeom prst="rect">
            <a:avLst/>
          </a:prstGeom>
          <a:noFill/>
        </p:spPr>
        <p:txBody>
          <a:bodyPr wrap="square" anchor="t" lIns="0" rIns="0" tIns="0" bIns="0">
            <a:spAutoFit/>
          </a:bodyPr>
          <a:lstStyle/>
          <a:p>
            <a:pPr algn="l"/>
            <a:r>
              <a:rPr sz="1600" b="0" i="0">
                <a:solidFill>
                  <a:srgbClr val="1F2937"/>
                </a:solidFill>
                <a:latin typeface="Calibri"/>
              </a:rPr>
              <a:t>Review is organized around the base paper and three supporting research areas:</a:t>
            </a:r>
          </a:p>
        </p:txBody>
      </p:sp>
      <p:sp>
        <p:nvSpPr>
          <p:cNvPr id="8" name="Rectangle 7"/>
          <p:cNvSpPr/>
          <p:nvPr/>
        </p:nvSpPr>
        <p:spPr>
          <a:xfrm>
            <a:off x="640080" y="2103120"/>
            <a:ext cx="10881360" cy="91440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0280"/>
            <a:ext cx="10332720" cy="685800"/>
          </a:xfrm>
          <a:prstGeom prst="rect">
            <a:avLst/>
          </a:prstGeom>
          <a:noFill/>
        </p:spPr>
        <p:txBody>
          <a:bodyPr wrap="square" anchor="t" lIns="0" rIns="0" tIns="0" bIns="0">
            <a:spAutoFit/>
          </a:bodyPr>
          <a:lstStyle/>
          <a:p>
            <a:pPr algn="l"/>
            <a:r>
              <a:rPr sz="1400" b="0" i="0">
                <a:solidFill>
                  <a:srgbClr val="1F2937"/>
                </a:solidFill>
                <a:latin typeface="Calibri"/>
              </a:rPr>
              <a:t>Base paper: Gopakumar et al. (2026) validate Conformal Prediction for surrogate-model UQ in physics domains (PDEs, MHD, weather, fusion), and explicitly flag two untested limitations - marginal coverage and the exchangeability assumption.</a:t>
            </a:r>
          </a:p>
        </p:txBody>
      </p:sp>
      <p:sp>
        <p:nvSpPr>
          <p:cNvPr id="10" name="Rectangle 9"/>
          <p:cNvSpPr/>
          <p:nvPr/>
        </p:nvSpPr>
        <p:spPr>
          <a:xfrm>
            <a:off x="640080" y="3246120"/>
            <a:ext cx="3429000" cy="2651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246120"/>
            <a:ext cx="3429000" cy="6858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37560"/>
            <a:ext cx="3154680" cy="548640"/>
          </a:xfrm>
          <a:prstGeom prst="rect">
            <a:avLst/>
          </a:prstGeom>
          <a:noFill/>
        </p:spPr>
        <p:txBody>
          <a:bodyPr wrap="square" anchor="t" lIns="0" rIns="0" tIns="0" bIns="0">
            <a:spAutoFit/>
          </a:bodyPr>
          <a:lstStyle/>
          <a:p>
            <a:pPr algn="ctr"/>
            <a:r>
              <a:rPr sz="1400" b="1" i="0">
                <a:solidFill>
                  <a:srgbClr val="FFFFFF"/>
                </a:solidFill>
                <a:latin typeface="Calibri"/>
              </a:rPr>
              <a:t>Conformal Prediction</a:t>
            </a:r>
          </a:p>
          <a:p>
            <a:pPr algn="ctr"/>
            <a:r>
              <a:rPr sz="1400" b="1" i="0">
                <a:solidFill>
                  <a:srgbClr val="FFFFFF"/>
                </a:solidFill>
                <a:latin typeface="Calibri"/>
              </a:rPr>
              <a:t>Foundations</a:t>
            </a:r>
          </a:p>
        </p:txBody>
      </p:sp>
      <p:sp>
        <p:nvSpPr>
          <p:cNvPr id="13" name="TextBox 12"/>
          <p:cNvSpPr txBox="1"/>
          <p:nvPr/>
        </p:nvSpPr>
        <p:spPr>
          <a:xfrm>
            <a:off x="822960" y="4114800"/>
            <a:ext cx="3063240" cy="1645920"/>
          </a:xfrm>
          <a:prstGeom prst="rect">
            <a:avLst/>
          </a:prstGeom>
          <a:noFill/>
        </p:spPr>
        <p:txBody>
          <a:bodyPr wrap="square" anchor="t" lIns="0" rIns="0" tIns="0" bIns="0">
            <a:spAutoFit/>
          </a:bodyPr>
          <a:lstStyle/>
          <a:p>
            <a:pPr algn="l"/>
            <a:r>
              <a:rPr sz="1250" b="0" i="0">
                <a:solidFill>
                  <a:srgbClr val="1F2937"/>
                </a:solidFill>
                <a:latin typeface="Calibri"/>
              </a:rPr>
              <a:t>Split conformal prediction, coverage guarantees, and category-conditional (Mondrian) variants of CP.</a:t>
            </a:r>
          </a:p>
        </p:txBody>
      </p:sp>
      <p:sp>
        <p:nvSpPr>
          <p:cNvPr id="14" name="Rectangle 13"/>
          <p:cNvSpPr/>
          <p:nvPr/>
        </p:nvSpPr>
        <p:spPr>
          <a:xfrm>
            <a:off x="4206240" y="3246120"/>
            <a:ext cx="3429000" cy="2651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06240" y="3246120"/>
            <a:ext cx="3429000" cy="6858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3337560"/>
            <a:ext cx="3154680" cy="548640"/>
          </a:xfrm>
          <a:prstGeom prst="rect">
            <a:avLst/>
          </a:prstGeom>
          <a:noFill/>
        </p:spPr>
        <p:txBody>
          <a:bodyPr wrap="square" anchor="t" lIns="0" rIns="0" tIns="0" bIns="0">
            <a:spAutoFit/>
          </a:bodyPr>
          <a:lstStyle/>
          <a:p>
            <a:pPr algn="ctr"/>
            <a:r>
              <a:rPr sz="1400" b="1" i="0">
                <a:solidFill>
                  <a:srgbClr val="FFFFFF"/>
                </a:solidFill>
                <a:latin typeface="Calibri"/>
              </a:rPr>
              <a:t>Surrogate Modeling</a:t>
            </a:r>
          </a:p>
        </p:txBody>
      </p:sp>
      <p:sp>
        <p:nvSpPr>
          <p:cNvPr id="17" name="TextBox 16"/>
          <p:cNvSpPr txBox="1"/>
          <p:nvPr/>
        </p:nvSpPr>
        <p:spPr>
          <a:xfrm>
            <a:off x="4389120" y="4114800"/>
            <a:ext cx="3063240" cy="1645920"/>
          </a:xfrm>
          <a:prstGeom prst="rect">
            <a:avLst/>
          </a:prstGeom>
          <a:noFill/>
        </p:spPr>
        <p:txBody>
          <a:bodyPr wrap="square" anchor="t" lIns="0" rIns="0" tIns="0" bIns="0">
            <a:spAutoFit/>
          </a:bodyPr>
          <a:lstStyle/>
          <a:p>
            <a:pPr algn="l"/>
            <a:r>
              <a:rPr sz="1250" b="0" i="0">
                <a:solidFill>
                  <a:srgbClr val="1F2937"/>
                </a:solidFill>
                <a:latin typeface="Calibri"/>
              </a:rPr>
              <a:t>Learned approximations (gradient boosting, GP, neural nets) for expensive simulations, and their use in decision-making.</a:t>
            </a:r>
          </a:p>
        </p:txBody>
      </p:sp>
      <p:sp>
        <p:nvSpPr>
          <p:cNvPr id="18" name="Rectangle 17"/>
          <p:cNvSpPr/>
          <p:nvPr/>
        </p:nvSpPr>
        <p:spPr>
          <a:xfrm>
            <a:off x="7772400" y="3246120"/>
            <a:ext cx="3429000" cy="2651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3246120"/>
            <a:ext cx="3429000" cy="6858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3337560"/>
            <a:ext cx="3154680" cy="548640"/>
          </a:xfrm>
          <a:prstGeom prst="rect">
            <a:avLst/>
          </a:prstGeom>
          <a:noFill/>
        </p:spPr>
        <p:txBody>
          <a:bodyPr wrap="square" anchor="t" lIns="0" rIns="0" tIns="0" bIns="0">
            <a:spAutoFit/>
          </a:bodyPr>
          <a:lstStyle/>
          <a:p>
            <a:pPr algn="ctr"/>
            <a:r>
              <a:rPr sz="1400" b="1" i="0">
                <a:solidFill>
                  <a:srgbClr val="FFFFFF"/>
                </a:solidFill>
                <a:latin typeface="Calibri"/>
              </a:rPr>
              <a:t>Queueing Theory /</a:t>
            </a:r>
          </a:p>
          <a:p>
            <a:pPr algn="ctr"/>
            <a:r>
              <a:rPr sz="1400" b="1" i="0">
                <a:solidFill>
                  <a:srgbClr val="FFFFFF"/>
                </a:solidFill>
                <a:latin typeface="Calibri"/>
              </a:rPr>
              <a:t>Discrete-Event Simulation</a:t>
            </a:r>
          </a:p>
        </p:txBody>
      </p:sp>
      <p:sp>
        <p:nvSpPr>
          <p:cNvPr id="21" name="TextBox 20"/>
          <p:cNvSpPr txBox="1"/>
          <p:nvPr/>
        </p:nvSpPr>
        <p:spPr>
          <a:xfrm>
            <a:off x="7955280" y="4114800"/>
            <a:ext cx="3063240" cy="1645920"/>
          </a:xfrm>
          <a:prstGeom prst="rect">
            <a:avLst/>
          </a:prstGeom>
          <a:noFill/>
        </p:spPr>
        <p:txBody>
          <a:bodyPr wrap="square" anchor="t" lIns="0" rIns="0" tIns="0" bIns="0">
            <a:spAutoFit/>
          </a:bodyPr>
          <a:lstStyle/>
          <a:p>
            <a:pPr algn="l"/>
            <a:r>
              <a:rPr sz="1250" b="0" i="0">
                <a:solidFill>
                  <a:srgbClr val="1F2937"/>
                </a:solidFill>
                <a:latin typeface="Calibri"/>
              </a:rPr>
              <a:t>Discrete-event simulation of service systems, particularly emergency department queueing and staffing models.</a:t>
            </a:r>
          </a:p>
        </p:txBody>
      </p:sp>
      <p:sp>
        <p:nvSpPr>
          <p:cNvPr id="22" name="TextBox 21"/>
          <p:cNvSpPr txBox="1"/>
          <p:nvPr/>
        </p:nvSpPr>
        <p:spPr>
          <a:xfrm>
            <a:off x="640080" y="6080760"/>
            <a:ext cx="10881360" cy="457200"/>
          </a:xfrm>
          <a:prstGeom prst="rect">
            <a:avLst/>
          </a:prstGeom>
          <a:noFill/>
        </p:spPr>
        <p:txBody>
          <a:bodyPr wrap="square" anchor="t" lIns="0" rIns="0" tIns="0" bIns="0">
            <a:spAutoFit/>
          </a:bodyPr>
          <a:lstStyle/>
          <a:p>
            <a:pPr algn="l"/>
            <a:r>
              <a:rPr sz="1300" b="0" i="1">
                <a:solidFill>
                  <a:srgbClr val="6B7280"/>
                </a:solidFill>
                <a:latin typeface="Calibri"/>
              </a:rPr>
              <a:t>Target: 30 papers total, 3 core papers reviewed in depth. In progress.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LITERATURE</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800" b="1" i="0">
                <a:solidFill>
                  <a:srgbClr val="1B2238"/>
                </a:solidFill>
                <a:latin typeface="Calibri"/>
              </a:rPr>
              <a:t>Research Gap</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5 / 9</a:t>
            </a:r>
          </a:p>
        </p:txBody>
      </p:sp>
      <p:sp>
        <p:nvSpPr>
          <p:cNvPr id="7" name="TextBox 6"/>
          <p:cNvSpPr txBox="1"/>
          <p:nvPr/>
        </p:nvSpPr>
        <p:spPr>
          <a:xfrm>
            <a:off x="640080" y="1508760"/>
            <a:ext cx="10881360" cy="457200"/>
          </a:xfrm>
          <a:prstGeom prst="rect">
            <a:avLst/>
          </a:prstGeom>
          <a:noFill/>
        </p:spPr>
        <p:txBody>
          <a:bodyPr wrap="square" anchor="t" lIns="0" rIns="0" tIns="0" bIns="0">
            <a:spAutoFit/>
          </a:bodyPr>
          <a:lstStyle/>
          <a:p>
            <a:pPr algn="l"/>
            <a:r>
              <a:rPr sz="1800" b="1" i="0">
                <a:solidFill>
                  <a:srgbClr val="1F2937"/>
                </a:solidFill>
                <a:latin typeface="Calibri"/>
              </a:rPr>
              <a:t>Gopakumar et al. (2026) validate Conformal Prediction for surrogate-model UQ —</a:t>
            </a:r>
          </a:p>
        </p:txBody>
      </p:sp>
      <p:sp>
        <p:nvSpPr>
          <p:cNvPr id="8" name="TextBox 7"/>
          <p:cNvSpPr txBox="1"/>
          <p:nvPr/>
        </p:nvSpPr>
        <p:spPr>
          <a:xfrm>
            <a:off x="640080" y="1920240"/>
            <a:ext cx="10881360" cy="457200"/>
          </a:xfrm>
          <a:prstGeom prst="rect">
            <a:avLst/>
          </a:prstGeom>
          <a:noFill/>
        </p:spPr>
        <p:txBody>
          <a:bodyPr wrap="square" anchor="t" lIns="0" rIns="0" tIns="0" bIns="0">
            <a:spAutoFit/>
          </a:bodyPr>
          <a:lstStyle/>
          <a:p>
            <a:pPr algn="l"/>
            <a:r>
              <a:rPr sz="1800" b="1" i="0">
                <a:solidFill>
                  <a:srgbClr val="1E40AF"/>
                </a:solidFill>
                <a:latin typeface="Calibri"/>
              </a:rPr>
              <a:t>but only in physics domains: PDEs, magnetohydrodynamics (MHD), weather, fusion.</a:t>
            </a:r>
          </a:p>
        </p:txBody>
      </p:sp>
      <p:sp>
        <p:nvSpPr>
          <p:cNvPr id="9" name="Rectangle 8"/>
          <p:cNvSpPr/>
          <p:nvPr/>
        </p:nvSpPr>
        <p:spPr>
          <a:xfrm>
            <a:off x="640080" y="2697480"/>
            <a:ext cx="10881360" cy="182880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80360"/>
            <a:ext cx="10332720" cy="365760"/>
          </a:xfrm>
          <a:prstGeom prst="rect">
            <a:avLst/>
          </a:prstGeom>
          <a:noFill/>
        </p:spPr>
        <p:txBody>
          <a:bodyPr wrap="square" anchor="t" lIns="0" rIns="0" tIns="0" bIns="0">
            <a:spAutoFit/>
          </a:bodyPr>
          <a:lstStyle/>
          <a:p>
            <a:pPr algn="l"/>
            <a:r>
              <a:rPr sz="1500" b="1" i="0">
                <a:solidFill>
                  <a:srgbClr val="1F2937"/>
                </a:solidFill>
                <a:latin typeface="Calibri"/>
              </a:rPr>
              <a:t>The paper states two explicit limitations:</a:t>
            </a:r>
          </a:p>
        </p:txBody>
      </p:sp>
      <p:sp>
        <p:nvSpPr>
          <p:cNvPr id="11" name="TextBox 10"/>
          <p:cNvSpPr txBox="1"/>
          <p:nvPr/>
        </p:nvSpPr>
        <p:spPr>
          <a:xfrm>
            <a:off x="914400" y="3337560"/>
            <a:ext cx="10241280" cy="1097280"/>
          </a:xfrm>
          <a:prstGeom prst="rect">
            <a:avLst/>
          </a:prstGeom>
          <a:noFill/>
        </p:spPr>
        <p:txBody>
          <a:bodyPr wrap="square">
            <a:spAutoFit/>
          </a:bodyPr>
          <a:lstStyle/>
          <a:p>
            <a:pPr>
              <a:spcAft>
                <a:spcPts val="1000"/>
              </a:spcAft>
            </a:pPr>
            <a:r>
              <a:rPr sz="1500">
                <a:solidFill>
                  <a:srgbClr val="1F2937"/>
                </a:solidFill>
                <a:latin typeface="Calibri"/>
              </a:rPr>
              <a:t>•  Marginal coverage only — no guarantee of coverage within specific subgroups/conditions.</a:t>
            </a:r>
          </a:p>
          <a:p>
            <a:pPr>
              <a:spcAft>
                <a:spcPts val="1000"/>
              </a:spcAft>
            </a:pPr>
            <a:r>
              <a:rPr sz="1500">
                <a:solidFill>
                  <a:srgbClr val="1F2937"/>
                </a:solidFill>
                <a:latin typeface="Calibri"/>
              </a:rPr>
              <a:t>•  Relies on an exchangeability assumption between calibration and test data — untested under distribution shift.</a:t>
            </a:r>
          </a:p>
        </p:txBody>
      </p:sp>
      <p:sp>
        <p:nvSpPr>
          <p:cNvPr id="12" name="TextBox 11"/>
          <p:cNvSpPr txBox="1"/>
          <p:nvPr/>
        </p:nvSpPr>
        <p:spPr>
          <a:xfrm>
            <a:off x="640080" y="4800600"/>
            <a:ext cx="10881360" cy="1280160"/>
          </a:xfrm>
          <a:prstGeom prst="rect">
            <a:avLst/>
          </a:prstGeom>
          <a:noFill/>
        </p:spPr>
        <p:txBody>
          <a:bodyPr wrap="square" anchor="t" lIns="0" rIns="0" tIns="0" bIns="0">
            <a:spAutoFit/>
          </a:bodyPr>
          <a:lstStyle/>
          <a:p>
            <a:pPr algn="l"/>
            <a:r>
              <a:rPr sz="1600" b="0" i="0">
                <a:solidFill>
                  <a:srgbClr val="1F2937"/>
                </a:solidFill>
                <a:latin typeface="Calibri"/>
              </a:rPr>
              <a:t>Neither limitation has been tested outside physics simulation. Discrete-event / queueing systems are a fundamentally different domain — stochastic discrete arrivals and departures, resource contention, priority scheduling — not continuous PDE fields. This is the gap this project addresses.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CONTRIBUTION</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Bridging the Gap: Our Novelty</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6 / 9</a:t>
            </a:r>
          </a:p>
        </p:txBody>
      </p:sp>
      <p:sp>
        <p:nvSpPr>
          <p:cNvPr id="7" name="TextBox 6"/>
          <p:cNvSpPr txBox="1"/>
          <p:nvPr/>
        </p:nvSpPr>
        <p:spPr>
          <a:xfrm>
            <a:off x="640080" y="1600200"/>
            <a:ext cx="10881360" cy="4389120"/>
          </a:xfrm>
          <a:prstGeom prst="rect">
            <a:avLst/>
          </a:prstGeom>
          <a:noFill/>
        </p:spPr>
        <p:txBody>
          <a:bodyPr wrap="square">
            <a:spAutoFit/>
          </a:bodyPr>
          <a:lstStyle/>
          <a:p>
            <a:pPr>
              <a:spcAft>
                <a:spcPts val="1400"/>
              </a:spcAft>
            </a:pPr>
            <a:r>
              <a:rPr sz="1700">
                <a:solidFill>
                  <a:srgbClr val="1F2937"/>
                </a:solidFill>
                <a:latin typeface="Calibri"/>
              </a:rPr>
              <a:t>•  Apply Conformal Prediction — standard and Mondrian CP — to a surrogate model of a discrete-event ER queueing simulation, a domain never tested against these limitations before.</a:t>
            </a:r>
          </a:p>
          <a:p>
            <a:pPr lvl="1">
              <a:spcAft>
                <a:spcPts val="1400"/>
              </a:spcAft>
            </a:pPr>
            <a:r>
              <a:rPr sz="1500">
                <a:solidFill>
                  <a:srgbClr val="1F2937"/>
                </a:solidFill>
                <a:latin typeface="Calibri"/>
              </a:rPr>
              <a:t>‒  Marginal coverage limitation: addressed with Mondrian CP, which calibrates separately per category (staffing level x arrival-rate regime) instead of one pooled quantile — targets conditional coverage, not just an average.</a:t>
            </a:r>
          </a:p>
          <a:p>
            <a:pPr lvl="1">
              <a:spcAft>
                <a:spcPts val="1400"/>
              </a:spcAft>
            </a:pPr>
            <a:r>
              <a:rPr sz="1500">
                <a:solidFill>
                  <a:srgbClr val="1F2937"/>
                </a:solidFill>
                <a:latin typeface="Calibri"/>
              </a:rPr>
              <a:t>‒  Exchangeability limitation: addressed with a stress test that pushes the evaluation data outside the training distribution (an out-of-distribution "surge day" scenario) to see where the coverage guarantee actually breaks down.</a:t>
            </a:r>
          </a:p>
          <a:p>
            <a:pPr>
              <a:spcAft>
                <a:spcPts val="1400"/>
              </a:spcAft>
            </a:pPr>
            <a:r>
              <a:rPr sz="1700">
                <a:solidFill>
                  <a:srgbClr val="1F2937"/>
                </a:solidFill>
                <a:latin typeface="Calibri"/>
              </a:rPr>
              <a:t>•  Novelty: this is the first empirical test of Conformal Prediction's stated physics-domain limitations in a discrete-event / queueing simulation setting — a direct bridge between the base paper's open questions and a new application domain.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GOAL</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800" b="1" i="0">
                <a:solidFill>
                  <a:srgbClr val="1B2238"/>
                </a:solidFill>
                <a:latin typeface="Calibri"/>
              </a:rPr>
              <a:t>Aim &amp; Objectives</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7 / 9</a:t>
            </a:r>
          </a:p>
        </p:txBody>
      </p:sp>
      <p:sp>
        <p:nvSpPr>
          <p:cNvPr id="7" name="Rectangle 6"/>
          <p:cNvSpPr/>
          <p:nvPr/>
        </p:nvSpPr>
        <p:spPr>
          <a:xfrm>
            <a:off x="640080" y="1508760"/>
            <a:ext cx="10881360" cy="100584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777240"/>
          </a:xfrm>
          <a:prstGeom prst="rect">
            <a:avLst/>
          </a:prstGeom>
          <a:noFill/>
        </p:spPr>
        <p:txBody>
          <a:bodyPr wrap="square" anchor="t" lIns="0" rIns="0" tIns="0" bIns="0">
            <a:spAutoFit/>
          </a:bodyPr>
          <a:lstStyle/>
          <a:p>
            <a:pPr algn="l"/>
            <a:r>
              <a:rPr sz="1500" b="1" i="0">
                <a:solidFill>
                  <a:srgbClr val="1F2937"/>
                </a:solidFill>
                <a:latin typeface="Calibri"/>
              </a:rPr>
              <a:t>Aim: to evaluate whether Conformal Prediction — specifically Mondrian CP — provides reliable, well-calibrated uncertainty quantification for surrogate models of discrete-event simulations, and whether Gopakumar et al.'s stated physics-domain limitations hold in this new domain.</a:t>
            </a:r>
          </a:p>
        </p:txBody>
      </p:sp>
      <p:sp>
        <p:nvSpPr>
          <p:cNvPr id="9" name="TextBox 8"/>
          <p:cNvSpPr txBox="1"/>
          <p:nvPr/>
        </p:nvSpPr>
        <p:spPr>
          <a:xfrm>
            <a:off x="640080" y="2788920"/>
            <a:ext cx="10881360" cy="3657600"/>
          </a:xfrm>
          <a:prstGeom prst="rect">
            <a:avLst/>
          </a:prstGeom>
          <a:noFill/>
        </p:spPr>
        <p:txBody>
          <a:bodyPr wrap="square">
            <a:spAutoFit/>
          </a:bodyPr>
          <a:lstStyle/>
          <a:p>
            <a:pPr>
              <a:spcAft>
                <a:spcPts val="1000"/>
              </a:spcAft>
            </a:pPr>
            <a:r>
              <a:rPr sz="1600">
                <a:solidFill>
                  <a:srgbClr val="1F2937"/>
                </a:solidFill>
                <a:latin typeface="Calibri"/>
              </a:rPr>
              <a:t>•  Build and validate a discrete-event ER simulation calibrated on real hospital arrival data.</a:t>
            </a:r>
          </a:p>
          <a:p>
            <a:pPr>
              <a:spcAft>
                <a:spcPts val="1000"/>
              </a:spcAft>
            </a:pPr>
            <a:r>
              <a:rPr sz="1600">
                <a:solidFill>
                  <a:srgbClr val="1F2937"/>
                </a:solidFill>
                <a:latin typeface="Calibri"/>
              </a:rPr>
              <a:t>•  Train a surrogate model to approximate the simulation's outputs.</a:t>
            </a:r>
          </a:p>
          <a:p>
            <a:pPr>
              <a:spcAft>
                <a:spcPts val="1000"/>
              </a:spcAft>
            </a:pPr>
            <a:r>
              <a:rPr sz="1600">
                <a:solidFill>
                  <a:srgbClr val="1F2937"/>
                </a:solidFill>
                <a:latin typeface="Calibri"/>
              </a:rPr>
              <a:t>•  Implement a Gaussian Process baseline and standard / Mondrian Conformal Prediction for UQ.</a:t>
            </a:r>
          </a:p>
          <a:p>
            <a:pPr>
              <a:spcAft>
                <a:spcPts val="1000"/>
              </a:spcAft>
            </a:pPr>
            <a:r>
              <a:rPr sz="1600">
                <a:solidFill>
                  <a:srgbClr val="1F2937"/>
                </a:solidFill>
                <a:latin typeface="Calibri"/>
              </a:rPr>
              <a:t>•  Test marginal vs. conditional coverage — does Mondrian CP close the gap standard CP leaves open?</a:t>
            </a:r>
          </a:p>
          <a:p>
            <a:pPr>
              <a:spcAft>
                <a:spcPts val="1000"/>
              </a:spcAft>
            </a:pPr>
            <a:r>
              <a:rPr sz="1600">
                <a:solidFill>
                  <a:srgbClr val="1F2937"/>
                </a:solidFill>
                <a:latin typeface="Calibri"/>
              </a:rPr>
              <a:t>•  Stress-test the exchangeability assumption under distribution shift.</a:t>
            </a:r>
          </a:p>
          <a:p>
            <a:pPr>
              <a:spcAft>
                <a:spcPts val="1000"/>
              </a:spcAft>
            </a:pPr>
            <a:r>
              <a:rPr sz="1600">
                <a:solidFill>
                  <a:srgbClr val="1F2937"/>
                </a:solidFill>
                <a:latin typeface="Calibri"/>
              </a:rPr>
              <a:t>•  Compare all methods on coverage, interval width, and computational cost.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APPROACH</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800" b="1" i="0">
                <a:solidFill>
                  <a:srgbClr val="1B2238"/>
                </a:solidFill>
                <a:latin typeface="Calibri"/>
              </a:rPr>
              <a:t>Methodology / Workflow</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8 / 9</a:t>
            </a:r>
          </a:p>
        </p:txBody>
      </p:sp>
      <p:sp>
        <p:nvSpPr>
          <p:cNvPr id="7" name="Rounded Rectangle 6"/>
          <p:cNvSpPr/>
          <p:nvPr/>
        </p:nvSpPr>
        <p:spPr>
          <a:xfrm>
            <a:off x="502920" y="1920240"/>
            <a:ext cx="3291840" cy="1188720"/>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Discrete-Event
Simulation</a:t>
            </a:r>
          </a:p>
          <a:p>
            <a:pPr algn="ctr"/>
            <a:r>
              <a:rPr sz="1150">
                <a:solidFill>
                  <a:srgbClr val="FFFFFF"/>
                </a:solidFill>
              </a:rPr>
              <a:t>SimPy, calibrated on
real ED data</a:t>
            </a:r>
          </a:p>
        </p:txBody>
      </p:sp>
      <p:sp>
        <p:nvSpPr>
          <p:cNvPr id="8" name="Rounded Rectangle 7"/>
          <p:cNvSpPr/>
          <p:nvPr/>
        </p:nvSpPr>
        <p:spPr>
          <a:xfrm>
            <a:off x="4206240" y="1920240"/>
            <a:ext cx="3291840" cy="1188720"/>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Surrogate Model</a:t>
            </a:r>
          </a:p>
          <a:p>
            <a:pPr algn="ctr"/>
            <a:r>
              <a:rPr sz="1150">
                <a:solidFill>
                  <a:srgbClr val="FFFFFF"/>
                </a:solidFill>
              </a:rPr>
              <a:t>Learned approximation of
the simulation</a:t>
            </a:r>
          </a:p>
        </p:txBody>
      </p:sp>
      <p:sp>
        <p:nvSpPr>
          <p:cNvPr id="9" name="Rounded Rectangle 8"/>
          <p:cNvSpPr/>
          <p:nvPr/>
        </p:nvSpPr>
        <p:spPr>
          <a:xfrm>
            <a:off x="7909560" y="1920240"/>
            <a:ext cx="3291840" cy="1188720"/>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Uncertainty
Quantification</a:t>
            </a:r>
          </a:p>
          <a:p>
            <a:pPr algn="ctr"/>
            <a:r>
              <a:rPr sz="1150">
                <a:solidFill>
                  <a:srgbClr val="FFFFFF"/>
                </a:solidFill>
              </a:rPr>
              <a:t>GP baseline vs. standard CP
vs. Mondrian CP</a:t>
            </a:r>
          </a:p>
        </p:txBody>
      </p:sp>
      <p:sp>
        <p:nvSpPr>
          <p:cNvPr id="10" name="Right Arrow 9"/>
          <p:cNvSpPr/>
          <p:nvPr/>
        </p:nvSpPr>
        <p:spPr>
          <a:xfrm>
            <a:off x="3794760" y="2331720"/>
            <a:ext cx="41148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498080" y="2331720"/>
            <a:ext cx="41148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657600"/>
            <a:ext cx="11155680" cy="365760"/>
          </a:xfrm>
          <a:prstGeom prst="rect">
            <a:avLst/>
          </a:prstGeom>
          <a:noFill/>
        </p:spPr>
        <p:txBody>
          <a:bodyPr wrap="square" anchor="t" lIns="0" rIns="0" tIns="0" bIns="0">
            <a:spAutoFit/>
          </a:bodyPr>
          <a:lstStyle/>
          <a:p>
            <a:pPr algn="l"/>
            <a:r>
              <a:rPr sz="1400" b="0" i="1">
                <a:solidFill>
                  <a:srgbClr val="6B7280"/>
                </a:solidFill>
                <a:latin typeface="Calibri"/>
              </a:rPr>
              <a:t>Each stage validated against the previous before moving on:</a:t>
            </a:r>
          </a:p>
        </p:txBody>
      </p:sp>
      <p:sp>
        <p:nvSpPr>
          <p:cNvPr id="13" name="TextBox 12"/>
          <p:cNvSpPr txBox="1"/>
          <p:nvPr/>
        </p:nvSpPr>
        <p:spPr>
          <a:xfrm>
            <a:off x="640080" y="4069080"/>
            <a:ext cx="10698480" cy="2194560"/>
          </a:xfrm>
          <a:prstGeom prst="rect">
            <a:avLst/>
          </a:prstGeom>
          <a:noFill/>
        </p:spPr>
        <p:txBody>
          <a:bodyPr wrap="square">
            <a:spAutoFit/>
          </a:bodyPr>
          <a:lstStyle/>
          <a:p>
            <a:pPr>
              <a:spcAft>
                <a:spcPts val="1000"/>
              </a:spcAft>
            </a:pPr>
            <a:r>
              <a:rPr sz="1500">
                <a:solidFill>
                  <a:srgbClr val="1F2937"/>
                </a:solidFill>
                <a:latin typeface="Calibri"/>
              </a:rPr>
              <a:t>•  DES output validated against real aggregated ED statistics before being trusted as a data source.</a:t>
            </a:r>
          </a:p>
          <a:p>
            <a:pPr>
              <a:spcAft>
                <a:spcPts val="1000"/>
              </a:spcAft>
            </a:pPr>
            <a:r>
              <a:rPr sz="1500">
                <a:solidFill>
                  <a:srgbClr val="1F2937"/>
                </a:solidFill>
                <a:latin typeface="Calibri"/>
              </a:rPr>
              <a:t>•  Surrogate accuracy validated against DES outputs held out from training.</a:t>
            </a:r>
          </a:p>
          <a:p>
            <a:pPr>
              <a:spcAft>
                <a:spcPts val="1000"/>
              </a:spcAft>
            </a:pPr>
            <a:r>
              <a:rPr sz="1500">
                <a:solidFill>
                  <a:srgbClr val="1F2937"/>
                </a:solidFill>
                <a:latin typeface="Calibri"/>
              </a:rPr>
              <a:t>•  Every UQ method evaluated on the same test data and the same target coverage level, so results are directly comparable across methods.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PLAN</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800" b="1" i="0">
                <a:solidFill>
                  <a:srgbClr val="1B2238"/>
                </a:solidFill>
                <a:latin typeface="Calibri"/>
              </a:rPr>
              <a:t>Project Roadmap</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9 / 9</a:t>
            </a:r>
          </a:p>
        </p:txBody>
      </p:sp>
      <p:sp>
        <p:nvSpPr>
          <p:cNvPr id="7" name="Rectangle 6"/>
          <p:cNvSpPr/>
          <p:nvPr/>
        </p:nvSpPr>
        <p:spPr>
          <a:xfrm>
            <a:off x="640080" y="1508760"/>
            <a:ext cx="5257800" cy="45720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08760"/>
            <a:ext cx="5257800" cy="5029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18488"/>
            <a:ext cx="4800600" cy="365760"/>
          </a:xfrm>
          <a:prstGeom prst="rect">
            <a:avLst/>
          </a:prstGeom>
          <a:noFill/>
        </p:spPr>
        <p:txBody>
          <a:bodyPr wrap="square" anchor="t" lIns="0" rIns="0" tIns="0" bIns="0">
            <a:spAutoFit/>
          </a:bodyPr>
          <a:lstStyle/>
          <a:p>
            <a:pPr algn="l"/>
            <a:r>
              <a:rPr sz="1500" b="1" i="0">
                <a:solidFill>
                  <a:srgbClr val="FFFFFF"/>
                </a:solidFill>
                <a:latin typeface="Calibri"/>
              </a:rPr>
              <a:t>Phase 1 — Mid-Semester</a:t>
            </a:r>
          </a:p>
        </p:txBody>
      </p:sp>
      <p:sp>
        <p:nvSpPr>
          <p:cNvPr id="10" name="TextBox 9"/>
          <p:cNvSpPr txBox="1"/>
          <p:nvPr/>
        </p:nvSpPr>
        <p:spPr>
          <a:xfrm>
            <a:off x="868680" y="2194560"/>
            <a:ext cx="4800600" cy="3749039"/>
          </a:xfrm>
          <a:prstGeom prst="rect">
            <a:avLst/>
          </a:prstGeom>
          <a:noFill/>
        </p:spPr>
        <p:txBody>
          <a:bodyPr wrap="square">
            <a:spAutoFit/>
          </a:bodyPr>
          <a:lstStyle/>
          <a:p>
            <a:pPr>
              <a:spcAft>
                <a:spcPts val="1300"/>
              </a:spcAft>
            </a:pPr>
            <a:r>
              <a:rPr sz="1400">
                <a:solidFill>
                  <a:srgbClr val="1F2937"/>
                </a:solidFill>
                <a:latin typeface="Calibri"/>
              </a:rPr>
              <a:t>•  Literature review + environment setup</a:t>
            </a:r>
          </a:p>
          <a:p>
            <a:pPr>
              <a:spcAft>
                <a:spcPts val="1300"/>
              </a:spcAft>
            </a:pPr>
            <a:r>
              <a:rPr sz="1400">
                <a:solidFill>
                  <a:srgbClr val="1F2937"/>
                </a:solidFill>
                <a:latin typeface="Calibri"/>
              </a:rPr>
              <a:t>•  Explore real hospital dataset, extract calibration distributions</a:t>
            </a:r>
          </a:p>
          <a:p>
            <a:pPr>
              <a:spcAft>
                <a:spcPts val="1300"/>
              </a:spcAft>
            </a:pPr>
            <a:r>
              <a:rPr sz="1400">
                <a:solidFill>
                  <a:srgbClr val="1F2937"/>
                </a:solidFill>
                <a:latin typeface="Calibri"/>
              </a:rPr>
              <a:t>•  Build and validate the discrete-event ER simulation</a:t>
            </a:r>
          </a:p>
          <a:p>
            <a:pPr>
              <a:spcAft>
                <a:spcPts val="1300"/>
              </a:spcAft>
            </a:pPr>
            <a:r>
              <a:rPr sz="1400">
                <a:solidFill>
                  <a:srgbClr val="1F2937"/>
                </a:solidFill>
                <a:latin typeface="Calibri"/>
              </a:rPr>
              <a:t>•  Generate training data and train the surrogate model</a:t>
            </a:r>
          </a:p>
          <a:p>
            <a:pPr>
              <a:spcAft>
                <a:spcPts val="1300"/>
              </a:spcAft>
            </a:pPr>
            <a:r>
              <a:rPr sz="1400">
                <a:solidFill>
                  <a:srgbClr val="1F2937"/>
                </a:solidFill>
                <a:latin typeface="Calibri"/>
              </a:rPr>
              <a:t>•  Implement Gaussian Process baseline for UQ</a:t>
            </a:r>
          </a:p>
        </p:txBody>
      </p:sp>
      <p:sp>
        <p:nvSpPr>
          <p:cNvPr id="11" name="Rectangle 10"/>
          <p:cNvSpPr/>
          <p:nvPr/>
        </p:nvSpPr>
        <p:spPr>
          <a:xfrm>
            <a:off x="6309360" y="1508760"/>
            <a:ext cx="5257800" cy="45720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508760"/>
            <a:ext cx="5257800" cy="5029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618488"/>
            <a:ext cx="4800600" cy="365760"/>
          </a:xfrm>
          <a:prstGeom prst="rect">
            <a:avLst/>
          </a:prstGeom>
          <a:noFill/>
        </p:spPr>
        <p:txBody>
          <a:bodyPr wrap="square" anchor="t" lIns="0" rIns="0" tIns="0" bIns="0">
            <a:spAutoFit/>
          </a:bodyPr>
          <a:lstStyle/>
          <a:p>
            <a:pPr algn="l"/>
            <a:r>
              <a:rPr sz="1500" b="1" i="0">
                <a:solidFill>
                  <a:srgbClr val="FFFFFF"/>
                </a:solidFill>
                <a:latin typeface="Calibri"/>
              </a:rPr>
              <a:t>Phase 2 — End-Semester</a:t>
            </a:r>
          </a:p>
        </p:txBody>
      </p:sp>
      <p:sp>
        <p:nvSpPr>
          <p:cNvPr id="14" name="TextBox 13"/>
          <p:cNvSpPr txBox="1"/>
          <p:nvPr/>
        </p:nvSpPr>
        <p:spPr>
          <a:xfrm>
            <a:off x="6537960" y="2194560"/>
            <a:ext cx="4800600" cy="3749039"/>
          </a:xfrm>
          <a:prstGeom prst="rect">
            <a:avLst/>
          </a:prstGeom>
          <a:noFill/>
        </p:spPr>
        <p:txBody>
          <a:bodyPr wrap="square">
            <a:spAutoFit/>
          </a:bodyPr>
          <a:lstStyle/>
          <a:p>
            <a:pPr>
              <a:spcAft>
                <a:spcPts val="1300"/>
              </a:spcAft>
            </a:pPr>
            <a:r>
              <a:rPr sz="1400">
                <a:solidFill>
                  <a:srgbClr val="1F2937"/>
                </a:solidFill>
                <a:latin typeface="Calibri"/>
              </a:rPr>
              <a:t>•  Implement standard Conformal Prediction on surrogate residuals</a:t>
            </a:r>
          </a:p>
          <a:p>
            <a:pPr>
              <a:spcAft>
                <a:spcPts val="1300"/>
              </a:spcAft>
            </a:pPr>
            <a:r>
              <a:rPr sz="1400">
                <a:solidFill>
                  <a:srgbClr val="1F2937"/>
                </a:solidFill>
                <a:latin typeface="Calibri"/>
              </a:rPr>
              <a:t>•  Implement Mondrian CP — per-category calibration and coverage</a:t>
            </a:r>
          </a:p>
          <a:p>
            <a:pPr>
              <a:spcAft>
                <a:spcPts val="1300"/>
              </a:spcAft>
            </a:pPr>
            <a:r>
              <a:rPr sz="1400">
                <a:solidFill>
                  <a:srgbClr val="1F2937"/>
                </a:solidFill>
                <a:latin typeface="Calibri"/>
              </a:rPr>
              <a:t>•  Stress-test the exchangeability assumption (out-of-distribution scenario)</a:t>
            </a:r>
          </a:p>
          <a:p>
            <a:pPr>
              <a:spcAft>
                <a:spcPts val="1300"/>
              </a:spcAft>
            </a:pPr>
            <a:r>
              <a:rPr sz="1400">
                <a:solidFill>
                  <a:srgbClr val="1F2937"/>
                </a:solidFill>
                <a:latin typeface="Calibri"/>
              </a:rPr>
              <a:t>•  Full comparison: GP vs. standard CP vs. Mondrian CP</a:t>
            </a:r>
          </a:p>
          <a:p>
            <a:pPr>
              <a:spcAft>
                <a:spcPts val="1300"/>
              </a:spcAft>
            </a:pPr>
            <a:r>
              <a:rPr sz="1400">
                <a:solidFill>
                  <a:srgbClr val="1F2937"/>
                </a:solidFill>
                <a:latin typeface="Calibri"/>
              </a:rPr>
              <a:t>•  Final report and end-semester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