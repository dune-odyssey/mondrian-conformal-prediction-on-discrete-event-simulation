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9320"/>
            <a:ext cx="12191695" cy="109728"/>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960120"/>
            <a:ext cx="10332720" cy="1828800"/>
          </a:xfrm>
          <a:prstGeom prst="rect">
            <a:avLst/>
          </a:prstGeom>
          <a:noFill/>
        </p:spPr>
        <p:txBody>
          <a:bodyPr wrap="square" anchor="t" lIns="0" rIns="0" tIns="0" bIns="0">
            <a:spAutoFit/>
          </a:bodyPr>
          <a:lstStyle/>
          <a:p>
            <a:pPr algn="ctr"/>
            <a:r>
              <a:rPr sz="3000" b="1" i="0">
                <a:solidFill>
                  <a:srgbClr val="FFFFFF"/>
                </a:solidFill>
                <a:latin typeface="Calibri"/>
              </a:rPr>
              <a:t>Mondrian Conformal Prediction for Uncertainty</a:t>
            </a:r>
          </a:p>
          <a:p>
            <a:pPr algn="ctr"/>
            <a:r>
              <a:rPr sz="3000" b="1" i="0">
                <a:solidFill>
                  <a:srgbClr val="FFFFFF"/>
                </a:solidFill>
                <a:latin typeface="Calibri"/>
              </a:rPr>
              <a:t>Quantification in ER Discrete-Event Simulation Surrogates</a:t>
            </a:r>
          </a:p>
        </p:txBody>
      </p:sp>
      <p:sp>
        <p:nvSpPr>
          <p:cNvPr id="5" name="TextBox 4"/>
          <p:cNvSpPr txBox="1"/>
          <p:nvPr/>
        </p:nvSpPr>
        <p:spPr>
          <a:xfrm>
            <a:off x="914400" y="2788920"/>
            <a:ext cx="10332720" cy="457200"/>
          </a:xfrm>
          <a:prstGeom prst="rect">
            <a:avLst/>
          </a:prstGeom>
          <a:noFill/>
        </p:spPr>
        <p:txBody>
          <a:bodyPr wrap="square" anchor="t" lIns="0" rIns="0" tIns="0" bIns="0">
            <a:spAutoFit/>
          </a:bodyPr>
          <a:lstStyle/>
          <a:p>
            <a:pPr algn="ctr"/>
            <a:r>
              <a:rPr sz="1700" b="0" i="1">
                <a:solidFill>
                  <a:srgbClr val="93C5FD"/>
                </a:solidFill>
                <a:latin typeface="Calibri"/>
              </a:rPr>
              <a:t>Zeroth Review</a:t>
            </a:r>
          </a:p>
        </p:txBody>
      </p:sp>
      <p:sp>
        <p:nvSpPr>
          <p:cNvPr id="6" name="TextBox 5"/>
          <p:cNvSpPr txBox="1"/>
          <p:nvPr/>
        </p:nvSpPr>
        <p:spPr>
          <a:xfrm>
            <a:off x="914400" y="3246120"/>
            <a:ext cx="10332720" cy="365760"/>
          </a:xfrm>
          <a:prstGeom prst="rect">
            <a:avLst/>
          </a:prstGeom>
          <a:noFill/>
        </p:spPr>
        <p:txBody>
          <a:bodyPr wrap="square" anchor="t" lIns="0" rIns="0" tIns="0" bIns="0">
            <a:spAutoFit/>
          </a:bodyPr>
          <a:lstStyle/>
          <a:p>
            <a:pPr algn="ctr"/>
            <a:r>
              <a:rPr sz="1500" b="1" i="0">
                <a:solidFill>
                  <a:srgbClr val="FFFFFF"/>
                </a:solidFill>
                <a:latin typeface="Calibri"/>
              </a:rPr>
              <a:t>Group: B9</a:t>
            </a:r>
          </a:p>
        </p:txBody>
      </p:sp>
      <p:sp>
        <p:nvSpPr>
          <p:cNvPr id="7" name="TextBox 6"/>
          <p:cNvSpPr txBox="1"/>
          <p:nvPr/>
        </p:nvSpPr>
        <p:spPr>
          <a:xfrm>
            <a:off x="914400" y="3977639"/>
            <a:ext cx="10332720" cy="365760"/>
          </a:xfrm>
          <a:prstGeom prst="rect">
            <a:avLst/>
          </a:prstGeom>
          <a:noFill/>
        </p:spPr>
        <p:txBody>
          <a:bodyPr wrap="square" anchor="t" lIns="0" rIns="0" tIns="0" bIns="0">
            <a:spAutoFit/>
          </a:bodyPr>
          <a:lstStyle/>
          <a:p>
            <a:pPr algn="ctr"/>
            <a:r>
              <a:rPr sz="1400" b="0" i="0">
                <a:solidFill>
                  <a:srgbClr val="FFFFFF"/>
                </a:solidFill>
                <a:latin typeface="Calibri"/>
              </a:rPr>
              <a:t>G Venugopalan   —   CB.AI.U4AID25115</a:t>
            </a:r>
          </a:p>
        </p:txBody>
      </p:sp>
      <p:sp>
        <p:nvSpPr>
          <p:cNvPr id="8" name="TextBox 7"/>
          <p:cNvSpPr txBox="1"/>
          <p:nvPr/>
        </p:nvSpPr>
        <p:spPr>
          <a:xfrm>
            <a:off x="914400" y="4361687"/>
            <a:ext cx="10332720" cy="365760"/>
          </a:xfrm>
          <a:prstGeom prst="rect">
            <a:avLst/>
          </a:prstGeom>
          <a:noFill/>
        </p:spPr>
        <p:txBody>
          <a:bodyPr wrap="square" anchor="t" lIns="0" rIns="0" tIns="0" bIns="0">
            <a:spAutoFit/>
          </a:bodyPr>
          <a:lstStyle/>
          <a:p>
            <a:pPr algn="ctr"/>
            <a:r>
              <a:rPr sz="1400" b="0" i="0">
                <a:solidFill>
                  <a:srgbClr val="FFFFFF"/>
                </a:solidFill>
                <a:latin typeface="Calibri"/>
              </a:rPr>
              <a:t>Vipin Sudhakar   —   CB.AI.U4AID25166</a:t>
            </a:r>
          </a:p>
        </p:txBody>
      </p:sp>
      <p:sp>
        <p:nvSpPr>
          <p:cNvPr id="9" name="TextBox 8"/>
          <p:cNvSpPr txBox="1"/>
          <p:nvPr/>
        </p:nvSpPr>
        <p:spPr>
          <a:xfrm>
            <a:off x="914400" y="4745735"/>
            <a:ext cx="10332720" cy="365760"/>
          </a:xfrm>
          <a:prstGeom prst="rect">
            <a:avLst/>
          </a:prstGeom>
          <a:noFill/>
        </p:spPr>
        <p:txBody>
          <a:bodyPr wrap="square" anchor="t" lIns="0" rIns="0" tIns="0" bIns="0">
            <a:spAutoFit/>
          </a:bodyPr>
          <a:lstStyle/>
          <a:p>
            <a:pPr algn="ctr"/>
            <a:r>
              <a:rPr sz="1400" b="0" i="0">
                <a:solidFill>
                  <a:srgbClr val="FFFFFF"/>
                </a:solidFill>
                <a:latin typeface="Calibri"/>
              </a:rPr>
              <a:t>Rithvik Arulprakash   —   CB.AI.U4AID25148</a:t>
            </a:r>
          </a:p>
        </p:txBody>
      </p:sp>
      <p:sp>
        <p:nvSpPr>
          <p:cNvPr id="10" name="TextBox 9"/>
          <p:cNvSpPr txBox="1"/>
          <p:nvPr/>
        </p:nvSpPr>
        <p:spPr>
          <a:xfrm>
            <a:off x="914400" y="5129783"/>
            <a:ext cx="10332720" cy="365760"/>
          </a:xfrm>
          <a:prstGeom prst="rect">
            <a:avLst/>
          </a:prstGeom>
          <a:noFill/>
        </p:spPr>
        <p:txBody>
          <a:bodyPr wrap="square" anchor="t" lIns="0" rIns="0" tIns="0" bIns="0">
            <a:spAutoFit/>
          </a:bodyPr>
          <a:lstStyle/>
          <a:p>
            <a:pPr algn="ctr"/>
            <a:r>
              <a:rPr sz="1400" b="0" i="0">
                <a:solidFill>
                  <a:srgbClr val="FFFFFF"/>
                </a:solidFill>
                <a:latin typeface="Calibri"/>
              </a:rPr>
              <a:t>Harshith Kv   —   CB.AI.U4AID25119</a:t>
            </a:r>
          </a:p>
        </p:txBody>
      </p:sp>
      <p:sp>
        <p:nvSpPr>
          <p:cNvPr id="11" name="TextBox 10"/>
          <p:cNvSpPr txBox="1"/>
          <p:nvPr/>
        </p:nvSpPr>
        <p:spPr>
          <a:xfrm>
            <a:off x="914400" y="5623560"/>
            <a:ext cx="10332720" cy="365760"/>
          </a:xfrm>
          <a:prstGeom prst="rect">
            <a:avLst/>
          </a:prstGeom>
          <a:noFill/>
        </p:spPr>
        <p:txBody>
          <a:bodyPr wrap="square" anchor="t" lIns="0" rIns="0" tIns="0" bIns="0">
            <a:spAutoFit/>
          </a:bodyPr>
          <a:lstStyle/>
          <a:p>
            <a:pPr algn="ctr"/>
            <a:r>
              <a:rPr sz="1300" b="0" i="0">
                <a:solidFill>
                  <a:srgbClr val="93C5FD"/>
                </a:solidFill>
                <a:latin typeface="Calibri"/>
              </a:rPr>
              <a:t>Course: 23AID201</a:t>
            </a:r>
          </a:p>
        </p:txBody>
      </p:sp>
      <p:sp>
        <p:nvSpPr>
          <p:cNvPr id="12" name="TextBox 11"/>
          <p:cNvSpPr txBox="1"/>
          <p:nvPr/>
        </p:nvSpPr>
        <p:spPr>
          <a:xfrm>
            <a:off x="11155680" y="6446520"/>
            <a:ext cx="822960" cy="320040"/>
          </a:xfrm>
          <a:prstGeom prst="rect">
            <a:avLst/>
          </a:prstGeom>
          <a:noFill/>
        </p:spPr>
        <p:txBody>
          <a:bodyPr wrap="square" anchor="t" lIns="0" rIns="0" tIns="0" bIns="0">
            <a:spAutoFit/>
          </a:bodyPr>
          <a:lstStyle/>
          <a:p>
            <a:pPr algn="r"/>
            <a:r>
              <a:rPr sz="1100" b="0" i="0">
                <a:solidFill>
                  <a:srgbClr val="93C5FD"/>
                </a:solidFill>
                <a:latin typeface="Calibri"/>
              </a:rPr>
              <a:t>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515600" cy="320040"/>
          </a:xfrm>
          <a:prstGeom prst="rect">
            <a:avLst/>
          </a:prstGeom>
          <a:noFill/>
        </p:spPr>
        <p:txBody>
          <a:bodyPr wrap="square" anchor="t" lIns="0" rIns="0" tIns="0" bIns="0">
            <a:spAutoFit/>
          </a:bodyPr>
          <a:lstStyle/>
          <a:p>
            <a:pPr algn="l"/>
            <a:r>
              <a:rPr sz="1300" b="1" i="0">
                <a:solidFill>
                  <a:srgbClr val="3B82F6"/>
                </a:solidFill>
                <a:latin typeface="Calibri"/>
              </a:rPr>
              <a:t>OUTLINE</a:t>
            </a:r>
          </a:p>
        </p:txBody>
      </p:sp>
      <p:sp>
        <p:nvSpPr>
          <p:cNvPr id="4" name="TextBox 3"/>
          <p:cNvSpPr txBox="1"/>
          <p:nvPr/>
        </p:nvSpPr>
        <p:spPr>
          <a:xfrm>
            <a:off x="548640" y="566928"/>
            <a:ext cx="10881360" cy="640080"/>
          </a:xfrm>
          <a:prstGeom prst="rect">
            <a:avLst/>
          </a:prstGeom>
          <a:noFill/>
        </p:spPr>
        <p:txBody>
          <a:bodyPr wrap="square" anchor="t" lIns="0" rIns="0" tIns="0" bIns="0">
            <a:spAutoFit/>
          </a:bodyPr>
          <a:lstStyle/>
          <a:p>
            <a:pPr algn="l"/>
            <a:r>
              <a:rPr sz="2800" b="1" i="0">
                <a:solidFill>
                  <a:srgbClr val="1B2238"/>
                </a:solidFill>
                <a:latin typeface="Calibri"/>
              </a:rPr>
              <a:t>Table of Contents</a:t>
            </a:r>
          </a:p>
        </p:txBody>
      </p:sp>
      <p:sp>
        <p:nvSpPr>
          <p:cNvPr id="5" name="Rectangle 4"/>
          <p:cNvSpPr/>
          <p:nvPr/>
        </p:nvSpPr>
        <p:spPr>
          <a:xfrm>
            <a:off x="548640" y="1170432"/>
            <a:ext cx="1005840" cy="3810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822960" cy="320040"/>
          </a:xfrm>
          <a:prstGeom prst="rect">
            <a:avLst/>
          </a:prstGeom>
          <a:noFill/>
        </p:spPr>
        <p:txBody>
          <a:bodyPr wrap="square" anchor="t" lIns="0" rIns="0" tIns="0" bIns="0">
            <a:spAutoFit/>
          </a:bodyPr>
          <a:lstStyle/>
          <a:p>
            <a:pPr algn="r"/>
            <a:r>
              <a:rPr sz="1100" b="0" i="0">
                <a:solidFill>
                  <a:srgbClr val="6B7280"/>
                </a:solidFill>
                <a:latin typeface="Calibri"/>
              </a:rPr>
              <a:t>2 / 12</a:t>
            </a:r>
          </a:p>
        </p:txBody>
      </p:sp>
      <p:sp>
        <p:nvSpPr>
          <p:cNvPr id="7" name="TextBox 6"/>
          <p:cNvSpPr txBox="1"/>
          <p:nvPr/>
        </p:nvSpPr>
        <p:spPr>
          <a:xfrm>
            <a:off x="822960" y="1600200"/>
            <a:ext cx="822960" cy="566928"/>
          </a:xfrm>
          <a:prstGeom prst="rect">
            <a:avLst/>
          </a:prstGeom>
          <a:noFill/>
        </p:spPr>
        <p:txBody>
          <a:bodyPr wrap="square" anchor="t" lIns="0" rIns="0" tIns="0" bIns="0">
            <a:spAutoFit/>
          </a:bodyPr>
          <a:lstStyle/>
          <a:p>
            <a:pPr algn="l"/>
            <a:r>
              <a:rPr sz="1800" b="1" i="0">
                <a:solidFill>
                  <a:srgbClr val="1E40AF"/>
                </a:solidFill>
                <a:latin typeface="Calibri"/>
              </a:rPr>
              <a:t>01</a:t>
            </a:r>
          </a:p>
        </p:txBody>
      </p:sp>
      <p:sp>
        <p:nvSpPr>
          <p:cNvPr id="8" name="TextBox 7"/>
          <p:cNvSpPr txBox="1"/>
          <p:nvPr/>
        </p:nvSpPr>
        <p:spPr>
          <a:xfrm>
            <a:off x="1828800" y="1600200"/>
            <a:ext cx="8686800" cy="566928"/>
          </a:xfrm>
          <a:prstGeom prst="rect">
            <a:avLst/>
          </a:prstGeom>
          <a:noFill/>
        </p:spPr>
        <p:txBody>
          <a:bodyPr wrap="square" anchor="ctr" lIns="0" rIns="0" tIns="0" bIns="0">
            <a:spAutoFit/>
          </a:bodyPr>
          <a:lstStyle/>
          <a:p>
            <a:pPr algn="l"/>
            <a:r>
              <a:rPr sz="1700" b="0" i="0">
                <a:solidFill>
                  <a:srgbClr val="1F2937"/>
                </a:solidFill>
                <a:latin typeface="Calibri"/>
              </a:rPr>
              <a:t>Abstract</a:t>
            </a:r>
          </a:p>
        </p:txBody>
      </p:sp>
      <p:sp>
        <p:nvSpPr>
          <p:cNvPr id="9" name="Rectangle 8"/>
          <p:cNvSpPr/>
          <p:nvPr/>
        </p:nvSpPr>
        <p:spPr>
          <a:xfrm>
            <a:off x="822960" y="2141728"/>
            <a:ext cx="10424160" cy="127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167128"/>
            <a:ext cx="822960" cy="566928"/>
          </a:xfrm>
          <a:prstGeom prst="rect">
            <a:avLst/>
          </a:prstGeom>
          <a:noFill/>
        </p:spPr>
        <p:txBody>
          <a:bodyPr wrap="square" anchor="t" lIns="0" rIns="0" tIns="0" bIns="0">
            <a:spAutoFit/>
          </a:bodyPr>
          <a:lstStyle/>
          <a:p>
            <a:pPr algn="l"/>
            <a:r>
              <a:rPr sz="1800" b="1" i="0">
                <a:solidFill>
                  <a:srgbClr val="1E40AF"/>
                </a:solidFill>
                <a:latin typeface="Calibri"/>
              </a:rPr>
              <a:t>02</a:t>
            </a:r>
          </a:p>
        </p:txBody>
      </p:sp>
      <p:sp>
        <p:nvSpPr>
          <p:cNvPr id="11" name="TextBox 10"/>
          <p:cNvSpPr txBox="1"/>
          <p:nvPr/>
        </p:nvSpPr>
        <p:spPr>
          <a:xfrm>
            <a:off x="1828800" y="2167128"/>
            <a:ext cx="8686800" cy="566928"/>
          </a:xfrm>
          <a:prstGeom prst="rect">
            <a:avLst/>
          </a:prstGeom>
          <a:noFill/>
        </p:spPr>
        <p:txBody>
          <a:bodyPr wrap="square" anchor="ctr" lIns="0" rIns="0" tIns="0" bIns="0">
            <a:spAutoFit/>
          </a:bodyPr>
          <a:lstStyle/>
          <a:p>
            <a:pPr algn="l"/>
            <a:r>
              <a:rPr sz="1700" b="0" i="0">
                <a:solidFill>
                  <a:srgbClr val="1F2937"/>
                </a:solidFill>
                <a:latin typeface="Calibri"/>
              </a:rPr>
              <a:t>Literature Review</a:t>
            </a:r>
          </a:p>
        </p:txBody>
      </p:sp>
      <p:sp>
        <p:nvSpPr>
          <p:cNvPr id="12" name="Rectangle 11"/>
          <p:cNvSpPr/>
          <p:nvPr/>
        </p:nvSpPr>
        <p:spPr>
          <a:xfrm>
            <a:off x="822960" y="2708656"/>
            <a:ext cx="10424160" cy="127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734056"/>
            <a:ext cx="822960" cy="566928"/>
          </a:xfrm>
          <a:prstGeom prst="rect">
            <a:avLst/>
          </a:prstGeom>
          <a:noFill/>
        </p:spPr>
        <p:txBody>
          <a:bodyPr wrap="square" anchor="t" lIns="0" rIns="0" tIns="0" bIns="0">
            <a:spAutoFit/>
          </a:bodyPr>
          <a:lstStyle/>
          <a:p>
            <a:pPr algn="l"/>
            <a:r>
              <a:rPr sz="1800" b="1" i="0">
                <a:solidFill>
                  <a:srgbClr val="1E40AF"/>
                </a:solidFill>
                <a:latin typeface="Calibri"/>
              </a:rPr>
              <a:t>03</a:t>
            </a:r>
          </a:p>
        </p:txBody>
      </p:sp>
      <p:sp>
        <p:nvSpPr>
          <p:cNvPr id="14" name="TextBox 13"/>
          <p:cNvSpPr txBox="1"/>
          <p:nvPr/>
        </p:nvSpPr>
        <p:spPr>
          <a:xfrm>
            <a:off x="1828800" y="2734056"/>
            <a:ext cx="8686800" cy="566928"/>
          </a:xfrm>
          <a:prstGeom prst="rect">
            <a:avLst/>
          </a:prstGeom>
          <a:noFill/>
        </p:spPr>
        <p:txBody>
          <a:bodyPr wrap="square" anchor="ctr" lIns="0" rIns="0" tIns="0" bIns="0">
            <a:spAutoFit/>
          </a:bodyPr>
          <a:lstStyle/>
          <a:p>
            <a:pPr algn="l"/>
            <a:r>
              <a:rPr sz="1700" b="0" i="0">
                <a:solidFill>
                  <a:srgbClr val="1F2937"/>
                </a:solidFill>
                <a:latin typeface="Calibri"/>
              </a:rPr>
              <a:t>Research Gap</a:t>
            </a:r>
          </a:p>
        </p:txBody>
      </p:sp>
      <p:sp>
        <p:nvSpPr>
          <p:cNvPr id="15" name="Rectangle 14"/>
          <p:cNvSpPr/>
          <p:nvPr/>
        </p:nvSpPr>
        <p:spPr>
          <a:xfrm>
            <a:off x="822960" y="3275584"/>
            <a:ext cx="10424160" cy="127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300984"/>
            <a:ext cx="822960" cy="566928"/>
          </a:xfrm>
          <a:prstGeom prst="rect">
            <a:avLst/>
          </a:prstGeom>
          <a:noFill/>
        </p:spPr>
        <p:txBody>
          <a:bodyPr wrap="square" anchor="t" lIns="0" rIns="0" tIns="0" bIns="0">
            <a:spAutoFit/>
          </a:bodyPr>
          <a:lstStyle/>
          <a:p>
            <a:pPr algn="l"/>
            <a:r>
              <a:rPr sz="1800" b="1" i="0">
                <a:solidFill>
                  <a:srgbClr val="1E40AF"/>
                </a:solidFill>
                <a:latin typeface="Calibri"/>
              </a:rPr>
              <a:t>04</a:t>
            </a:r>
          </a:p>
        </p:txBody>
      </p:sp>
      <p:sp>
        <p:nvSpPr>
          <p:cNvPr id="17" name="TextBox 16"/>
          <p:cNvSpPr txBox="1"/>
          <p:nvPr/>
        </p:nvSpPr>
        <p:spPr>
          <a:xfrm>
            <a:off x="1828800" y="3300984"/>
            <a:ext cx="8686800" cy="566928"/>
          </a:xfrm>
          <a:prstGeom prst="rect">
            <a:avLst/>
          </a:prstGeom>
          <a:noFill/>
        </p:spPr>
        <p:txBody>
          <a:bodyPr wrap="square" anchor="ctr" lIns="0" rIns="0" tIns="0" bIns="0">
            <a:spAutoFit/>
          </a:bodyPr>
          <a:lstStyle/>
          <a:p>
            <a:pPr algn="l"/>
            <a:r>
              <a:rPr sz="1700" b="0" i="0">
                <a:solidFill>
                  <a:srgbClr val="1F2937"/>
                </a:solidFill>
                <a:latin typeface="Calibri"/>
              </a:rPr>
              <a:t>Problem Statement</a:t>
            </a:r>
          </a:p>
        </p:txBody>
      </p:sp>
      <p:sp>
        <p:nvSpPr>
          <p:cNvPr id="18" name="Rectangle 17"/>
          <p:cNvSpPr/>
          <p:nvPr/>
        </p:nvSpPr>
        <p:spPr>
          <a:xfrm>
            <a:off x="822960" y="3842512"/>
            <a:ext cx="10424160" cy="127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867912"/>
            <a:ext cx="822960" cy="566928"/>
          </a:xfrm>
          <a:prstGeom prst="rect">
            <a:avLst/>
          </a:prstGeom>
          <a:noFill/>
        </p:spPr>
        <p:txBody>
          <a:bodyPr wrap="square" anchor="t" lIns="0" rIns="0" tIns="0" bIns="0">
            <a:spAutoFit/>
          </a:bodyPr>
          <a:lstStyle/>
          <a:p>
            <a:pPr algn="l"/>
            <a:r>
              <a:rPr sz="1800" b="1" i="0">
                <a:solidFill>
                  <a:srgbClr val="1E40AF"/>
                </a:solidFill>
                <a:latin typeface="Calibri"/>
              </a:rPr>
              <a:t>05</a:t>
            </a:r>
          </a:p>
        </p:txBody>
      </p:sp>
      <p:sp>
        <p:nvSpPr>
          <p:cNvPr id="20" name="TextBox 19"/>
          <p:cNvSpPr txBox="1"/>
          <p:nvPr/>
        </p:nvSpPr>
        <p:spPr>
          <a:xfrm>
            <a:off x="1828800" y="3867912"/>
            <a:ext cx="8686800" cy="566928"/>
          </a:xfrm>
          <a:prstGeom prst="rect">
            <a:avLst/>
          </a:prstGeom>
          <a:noFill/>
        </p:spPr>
        <p:txBody>
          <a:bodyPr wrap="square" anchor="ctr" lIns="0" rIns="0" tIns="0" bIns="0">
            <a:spAutoFit/>
          </a:bodyPr>
          <a:lstStyle/>
          <a:p>
            <a:pPr algn="l"/>
            <a:r>
              <a:rPr sz="1700" b="0" i="0">
                <a:solidFill>
                  <a:srgbClr val="1F2937"/>
                </a:solidFill>
                <a:latin typeface="Calibri"/>
              </a:rPr>
              <a:t>Methodology</a:t>
            </a:r>
          </a:p>
        </p:txBody>
      </p:sp>
      <p:sp>
        <p:nvSpPr>
          <p:cNvPr id="21" name="Rectangle 20"/>
          <p:cNvSpPr/>
          <p:nvPr/>
        </p:nvSpPr>
        <p:spPr>
          <a:xfrm>
            <a:off x="822960" y="4409440"/>
            <a:ext cx="10424160" cy="127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434840"/>
            <a:ext cx="822960" cy="566928"/>
          </a:xfrm>
          <a:prstGeom prst="rect">
            <a:avLst/>
          </a:prstGeom>
          <a:noFill/>
        </p:spPr>
        <p:txBody>
          <a:bodyPr wrap="square" anchor="t" lIns="0" rIns="0" tIns="0" bIns="0">
            <a:spAutoFit/>
          </a:bodyPr>
          <a:lstStyle/>
          <a:p>
            <a:pPr algn="l"/>
            <a:r>
              <a:rPr sz="1800" b="1" i="0">
                <a:solidFill>
                  <a:srgbClr val="1E40AF"/>
                </a:solidFill>
                <a:latin typeface="Calibri"/>
              </a:rPr>
              <a:t>06</a:t>
            </a:r>
          </a:p>
        </p:txBody>
      </p:sp>
      <p:sp>
        <p:nvSpPr>
          <p:cNvPr id="23" name="TextBox 22"/>
          <p:cNvSpPr txBox="1"/>
          <p:nvPr/>
        </p:nvSpPr>
        <p:spPr>
          <a:xfrm>
            <a:off x="1828800" y="4434840"/>
            <a:ext cx="8686800" cy="566928"/>
          </a:xfrm>
          <a:prstGeom prst="rect">
            <a:avLst/>
          </a:prstGeom>
          <a:noFill/>
        </p:spPr>
        <p:txBody>
          <a:bodyPr wrap="square" anchor="ctr" lIns="0" rIns="0" tIns="0" bIns="0">
            <a:spAutoFit/>
          </a:bodyPr>
          <a:lstStyle/>
          <a:p>
            <a:pPr algn="l"/>
            <a:r>
              <a:rPr sz="1700" b="0" i="0">
                <a:solidFill>
                  <a:srgbClr val="1F2937"/>
                </a:solidFill>
                <a:latin typeface="Calibri"/>
              </a:rPr>
              <a:t>Results</a:t>
            </a:r>
          </a:p>
        </p:txBody>
      </p:sp>
      <p:sp>
        <p:nvSpPr>
          <p:cNvPr id="24" name="Rectangle 23"/>
          <p:cNvSpPr/>
          <p:nvPr/>
        </p:nvSpPr>
        <p:spPr>
          <a:xfrm>
            <a:off x="822960" y="4976368"/>
            <a:ext cx="10424160" cy="127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5001768"/>
            <a:ext cx="822960" cy="566928"/>
          </a:xfrm>
          <a:prstGeom prst="rect">
            <a:avLst/>
          </a:prstGeom>
          <a:noFill/>
        </p:spPr>
        <p:txBody>
          <a:bodyPr wrap="square" anchor="t" lIns="0" rIns="0" tIns="0" bIns="0">
            <a:spAutoFit/>
          </a:bodyPr>
          <a:lstStyle/>
          <a:p>
            <a:pPr algn="l"/>
            <a:r>
              <a:rPr sz="1800" b="1" i="0">
                <a:solidFill>
                  <a:srgbClr val="1E40AF"/>
                </a:solidFill>
                <a:latin typeface="Calibri"/>
              </a:rPr>
              <a:t>07</a:t>
            </a:r>
          </a:p>
        </p:txBody>
      </p:sp>
      <p:sp>
        <p:nvSpPr>
          <p:cNvPr id="26" name="TextBox 25"/>
          <p:cNvSpPr txBox="1"/>
          <p:nvPr/>
        </p:nvSpPr>
        <p:spPr>
          <a:xfrm>
            <a:off x="1828800" y="5001768"/>
            <a:ext cx="8686800" cy="566928"/>
          </a:xfrm>
          <a:prstGeom prst="rect">
            <a:avLst/>
          </a:prstGeom>
          <a:noFill/>
        </p:spPr>
        <p:txBody>
          <a:bodyPr wrap="square" anchor="ctr" lIns="0" rIns="0" tIns="0" bIns="0">
            <a:spAutoFit/>
          </a:bodyPr>
          <a:lstStyle/>
          <a:p>
            <a:pPr algn="l"/>
            <a:r>
              <a:rPr sz="1700" b="0" i="0">
                <a:solidFill>
                  <a:srgbClr val="1F2937"/>
                </a:solidFill>
                <a:latin typeface="Calibri"/>
              </a:rPr>
              <a:t>Conclusion</a:t>
            </a:r>
          </a:p>
        </p:txBody>
      </p:sp>
      <p:sp>
        <p:nvSpPr>
          <p:cNvPr id="27" name="Rectangle 26"/>
          <p:cNvSpPr/>
          <p:nvPr/>
        </p:nvSpPr>
        <p:spPr>
          <a:xfrm>
            <a:off x="822960" y="5543296"/>
            <a:ext cx="10424160" cy="127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568696"/>
            <a:ext cx="822960" cy="566928"/>
          </a:xfrm>
          <a:prstGeom prst="rect">
            <a:avLst/>
          </a:prstGeom>
          <a:noFill/>
        </p:spPr>
        <p:txBody>
          <a:bodyPr wrap="square" anchor="t" lIns="0" rIns="0" tIns="0" bIns="0">
            <a:spAutoFit/>
          </a:bodyPr>
          <a:lstStyle/>
          <a:p>
            <a:pPr algn="l"/>
            <a:r>
              <a:rPr sz="1800" b="1" i="0">
                <a:solidFill>
                  <a:srgbClr val="1E40AF"/>
                </a:solidFill>
                <a:latin typeface="Calibri"/>
              </a:rPr>
              <a:t>08</a:t>
            </a:r>
          </a:p>
        </p:txBody>
      </p:sp>
      <p:sp>
        <p:nvSpPr>
          <p:cNvPr id="29" name="TextBox 28"/>
          <p:cNvSpPr txBox="1"/>
          <p:nvPr/>
        </p:nvSpPr>
        <p:spPr>
          <a:xfrm>
            <a:off x="1828800" y="5568696"/>
            <a:ext cx="8686800" cy="566928"/>
          </a:xfrm>
          <a:prstGeom prst="rect">
            <a:avLst/>
          </a:prstGeom>
          <a:noFill/>
        </p:spPr>
        <p:txBody>
          <a:bodyPr wrap="square" anchor="ctr" lIns="0" rIns="0" tIns="0" bIns="0">
            <a:spAutoFit/>
          </a:bodyPr>
          <a:lstStyle/>
          <a:p>
            <a:pPr algn="l"/>
            <a:r>
              <a:rPr sz="1700" b="0" i="0">
                <a:solidFill>
                  <a:srgbClr val="1F2937"/>
                </a:solidFill>
                <a:latin typeface="Calibri"/>
              </a:rPr>
              <a:t>References</a:t>
            </a:r>
          </a:p>
        </p:txBody>
      </p:sp>
      <p:sp>
        <p:nvSpPr>
          <p:cNvPr id="30" name="Rectangle 29"/>
          <p:cNvSpPr/>
          <p:nvPr/>
        </p:nvSpPr>
        <p:spPr>
          <a:xfrm>
            <a:off x="822960" y="6110224"/>
            <a:ext cx="10424160" cy="127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515600" cy="320040"/>
          </a:xfrm>
          <a:prstGeom prst="rect">
            <a:avLst/>
          </a:prstGeom>
          <a:noFill/>
        </p:spPr>
        <p:txBody>
          <a:bodyPr wrap="square" anchor="t" lIns="0" rIns="0" tIns="0" bIns="0">
            <a:spAutoFit/>
          </a:bodyPr>
          <a:lstStyle/>
          <a:p>
            <a:pPr algn="l"/>
            <a:r>
              <a:rPr sz="1300" b="1" i="0">
                <a:solidFill>
                  <a:srgbClr val="3B82F6"/>
                </a:solidFill>
                <a:latin typeface="Calibri"/>
              </a:rPr>
              <a:t>SUMMARY</a:t>
            </a:r>
          </a:p>
        </p:txBody>
      </p:sp>
      <p:sp>
        <p:nvSpPr>
          <p:cNvPr id="4" name="TextBox 3"/>
          <p:cNvSpPr txBox="1"/>
          <p:nvPr/>
        </p:nvSpPr>
        <p:spPr>
          <a:xfrm>
            <a:off x="548640" y="566928"/>
            <a:ext cx="10881360" cy="640080"/>
          </a:xfrm>
          <a:prstGeom prst="rect">
            <a:avLst/>
          </a:prstGeom>
          <a:noFill/>
        </p:spPr>
        <p:txBody>
          <a:bodyPr wrap="square" anchor="t" lIns="0" rIns="0" tIns="0" bIns="0">
            <a:spAutoFit/>
          </a:bodyPr>
          <a:lstStyle/>
          <a:p>
            <a:pPr algn="l"/>
            <a:r>
              <a:rPr sz="2800" b="1" i="0">
                <a:solidFill>
                  <a:srgbClr val="1B2238"/>
                </a:solidFill>
                <a:latin typeface="Calibri"/>
              </a:rPr>
              <a:t>Abstract</a:t>
            </a:r>
          </a:p>
        </p:txBody>
      </p:sp>
      <p:sp>
        <p:nvSpPr>
          <p:cNvPr id="5" name="Rectangle 4"/>
          <p:cNvSpPr/>
          <p:nvPr/>
        </p:nvSpPr>
        <p:spPr>
          <a:xfrm>
            <a:off x="548640" y="1170432"/>
            <a:ext cx="1005840" cy="3810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822960" cy="320040"/>
          </a:xfrm>
          <a:prstGeom prst="rect">
            <a:avLst/>
          </a:prstGeom>
          <a:noFill/>
        </p:spPr>
        <p:txBody>
          <a:bodyPr wrap="square" anchor="t" lIns="0" rIns="0" tIns="0" bIns="0">
            <a:spAutoFit/>
          </a:bodyPr>
          <a:lstStyle/>
          <a:p>
            <a:pPr algn="r"/>
            <a:r>
              <a:rPr sz="1100" b="0" i="0">
                <a:solidFill>
                  <a:srgbClr val="6B7280"/>
                </a:solidFill>
                <a:latin typeface="Calibri"/>
              </a:rPr>
              <a:t>3 / 12</a:t>
            </a:r>
          </a:p>
        </p:txBody>
      </p:sp>
      <p:sp>
        <p:nvSpPr>
          <p:cNvPr id="7" name="Rectangle 6"/>
          <p:cNvSpPr/>
          <p:nvPr/>
        </p:nvSpPr>
        <p:spPr>
          <a:xfrm>
            <a:off x="640080" y="1554480"/>
            <a:ext cx="10881360" cy="4389120"/>
          </a:xfrm>
          <a:prstGeom prst="rect">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10332720" cy="3840480"/>
          </a:xfrm>
          <a:prstGeom prst="rect">
            <a:avLst/>
          </a:prstGeom>
          <a:noFill/>
        </p:spPr>
        <p:txBody>
          <a:bodyPr wrap="square" anchor="t" lIns="0" rIns="0" tIns="0" bIns="0">
            <a:spAutoFit/>
          </a:bodyPr>
          <a:lstStyle/>
          <a:p>
            <a:pPr algn="l"/>
            <a:r>
              <a:rPr sz="1600" b="0" i="0">
                <a:solidFill>
                  <a:srgbClr val="1F2937"/>
                </a:solidFill>
                <a:latin typeface="Calibri"/>
              </a:rPr>
              <a:t>Surrogate models are increasingly used to approximate expensive simulations and guide decisions in stochastic service systems such as emergency room staffing. However, reliable uncertainty quantification (UQ) for these surrogates remains an open problem: Gaussian Processes are costly and rely on distributional assumptions, while Conformal Prediction (CP) offers a distribution-free, finite-sample coverage guarantee but has only been validated for surrogate models in physics domains (PDEs, magnetohydrodynamics, weather, fusion).</a:t>
            </a:r>
          </a:p>
          <a:p>
            <a:pPr algn="l"/>
            <a:r>
              <a:rPr sz="1600" b="0" i="0">
                <a:solidFill>
                  <a:srgbClr val="1F2937"/>
                </a:solidFill>
                <a:latin typeface="Calibri"/>
              </a:rPr>
              <a:t/>
            </a:r>
          </a:p>
          <a:p>
            <a:pPr algn="l"/>
            <a:r>
              <a:rPr sz="1600" b="0" i="0">
                <a:solidFill>
                  <a:srgbClr val="1F2937"/>
                </a:solidFill>
                <a:latin typeface="Calibri"/>
              </a:rPr>
              <a:t>This project builds a discrete-event simulation (DES) of an emergency room, calibrated on real hospital data, trains a surrogate model on it, and applies standard and Mondrian Conformal Prediction to quantify uncertainty in the surrogate's predictions. The goal is to test whether two limitations explicitly noted in prior work — marginal-only coverage and an untested exchangeability assumption — hold up in a discrete-event / queueing domain that has not been studied before in this context.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515600" cy="320040"/>
          </a:xfrm>
          <a:prstGeom prst="rect">
            <a:avLst/>
          </a:prstGeom>
          <a:noFill/>
        </p:spPr>
        <p:txBody>
          <a:bodyPr wrap="square" anchor="t" lIns="0" rIns="0" tIns="0" bIns="0">
            <a:spAutoFit/>
          </a:bodyPr>
          <a:lstStyle/>
          <a:p>
            <a:pPr algn="l"/>
            <a:r>
              <a:rPr sz="1300" b="1" i="0">
                <a:solidFill>
                  <a:srgbClr val="3B82F6"/>
                </a:solidFill>
                <a:latin typeface="Calibri"/>
              </a:rPr>
              <a:t>BACKGROUND</a:t>
            </a:r>
          </a:p>
        </p:txBody>
      </p:sp>
      <p:sp>
        <p:nvSpPr>
          <p:cNvPr id="4" name="TextBox 3"/>
          <p:cNvSpPr txBox="1"/>
          <p:nvPr/>
        </p:nvSpPr>
        <p:spPr>
          <a:xfrm>
            <a:off x="548640" y="566928"/>
            <a:ext cx="10881360" cy="640080"/>
          </a:xfrm>
          <a:prstGeom prst="rect">
            <a:avLst/>
          </a:prstGeom>
          <a:noFill/>
        </p:spPr>
        <p:txBody>
          <a:bodyPr wrap="square" anchor="t" lIns="0" rIns="0" tIns="0" bIns="0">
            <a:spAutoFit/>
          </a:bodyPr>
          <a:lstStyle/>
          <a:p>
            <a:pPr algn="l"/>
            <a:r>
              <a:rPr sz="2800" b="1" i="0">
                <a:solidFill>
                  <a:srgbClr val="1B2238"/>
                </a:solidFill>
                <a:latin typeface="Calibri"/>
              </a:rPr>
              <a:t>Literature Review</a:t>
            </a:r>
          </a:p>
        </p:txBody>
      </p:sp>
      <p:sp>
        <p:nvSpPr>
          <p:cNvPr id="5" name="Rectangle 4"/>
          <p:cNvSpPr/>
          <p:nvPr/>
        </p:nvSpPr>
        <p:spPr>
          <a:xfrm>
            <a:off x="548640" y="1170432"/>
            <a:ext cx="1005840" cy="3810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822960" cy="320040"/>
          </a:xfrm>
          <a:prstGeom prst="rect">
            <a:avLst/>
          </a:prstGeom>
          <a:noFill/>
        </p:spPr>
        <p:txBody>
          <a:bodyPr wrap="square" anchor="t" lIns="0" rIns="0" tIns="0" bIns="0">
            <a:spAutoFit/>
          </a:bodyPr>
          <a:lstStyle/>
          <a:p>
            <a:pPr algn="r"/>
            <a:r>
              <a:rPr sz="1100" b="0" i="0">
                <a:solidFill>
                  <a:srgbClr val="6B7280"/>
                </a:solidFill>
                <a:latin typeface="Calibri"/>
              </a:rPr>
              <a:t>4 / 12</a:t>
            </a:r>
          </a:p>
        </p:txBody>
      </p:sp>
      <p:graphicFrame>
        <p:nvGraphicFramePr>
          <p:cNvPr id="7" name="Table 6"/>
          <p:cNvGraphicFramePr>
            <a:graphicFrameLocks noGrp="1"/>
          </p:cNvGraphicFramePr>
          <p:nvPr/>
        </p:nvGraphicFramePr>
        <p:xfrm>
          <a:off x="548640" y="1508760"/>
          <a:ext cx="11064238" cy="3291840"/>
        </p:xfrm>
        <a:graphic>
          <a:graphicData uri="http://schemas.openxmlformats.org/drawingml/2006/table">
            <a:tbl>
              <a:tblPr firstRow="1" bandRow="1">
                <a:tableStyleId>{5C22544A-7EE6-4342-B048-85BDC9FD1C3A}</a:tableStyleId>
              </a:tblPr>
              <a:tblGrid>
                <a:gridCol w="822960"/>
                <a:gridCol w="2743200"/>
                <a:gridCol w="3749039"/>
                <a:gridCol w="3749039"/>
              </a:tblGrid>
              <a:tr h="658368">
                <a:tc>
                  <a:txBody>
                    <a:bodyPr/>
                    <a:lstStyle/>
                    <a:p>
                      <a:pPr algn="l"/>
                      <a:r>
                        <a:rPr sz="1200" b="1">
                          <a:solidFill>
                            <a:srgbClr val="FFFFFF"/>
                          </a:solidFill>
                        </a:rPr>
                        <a:t>S.No</a:t>
                      </a:r>
                    </a:p>
                  </a:txBody>
                  <a:tcPr anchor="ctr" marT="50800" marB="50800">
                    <a:solidFill>
                      <a:srgbClr val="1E40AF"/>
                    </a:solidFill>
                  </a:tcPr>
                </a:tc>
                <a:tc>
                  <a:txBody>
                    <a:bodyPr/>
                    <a:lstStyle/>
                    <a:p>
                      <a:pPr algn="ctr"/>
                      <a:r>
                        <a:rPr sz="1200" b="1">
                          <a:solidFill>
                            <a:srgbClr val="FFFFFF"/>
                          </a:solidFill>
                        </a:rPr>
                        <a:t>Focus Area</a:t>
                      </a:r>
                    </a:p>
                  </a:txBody>
                  <a:tcPr anchor="ctr" marT="50800" marB="50800">
                    <a:solidFill>
                      <a:srgbClr val="1E40AF"/>
                    </a:solidFill>
                  </a:tcPr>
                </a:tc>
                <a:tc>
                  <a:txBody>
                    <a:bodyPr/>
                    <a:lstStyle/>
                    <a:p>
                      <a:pPr algn="ctr"/>
                      <a:r>
                        <a:rPr sz="1200" b="1">
                          <a:solidFill>
                            <a:srgbClr val="FFFFFF"/>
                          </a:solidFill>
                        </a:rPr>
                        <a:t>Key Reference / Topic</a:t>
                      </a:r>
                    </a:p>
                  </a:txBody>
                  <a:tcPr anchor="ctr" marT="50800" marB="50800">
                    <a:solidFill>
                      <a:srgbClr val="1E40AF"/>
                    </a:solidFill>
                  </a:tcPr>
                </a:tc>
                <a:tc>
                  <a:txBody>
                    <a:bodyPr/>
                    <a:lstStyle/>
                    <a:p>
                      <a:pPr algn="ctr"/>
                      <a:r>
                        <a:rPr sz="1200" b="1">
                          <a:solidFill>
                            <a:srgbClr val="FFFFFF"/>
                          </a:solidFill>
                        </a:rPr>
                        <a:t>Relevance to Our Work</a:t>
                      </a:r>
                    </a:p>
                  </a:txBody>
                  <a:tcPr anchor="ctr" marT="50800" marB="50800">
                    <a:solidFill>
                      <a:srgbClr val="1E40AF"/>
                    </a:solidFill>
                  </a:tcPr>
                </a:tc>
              </a:tr>
              <a:tr h="658368">
                <a:tc>
                  <a:txBody>
                    <a:bodyPr/>
                    <a:lstStyle/>
                    <a:p>
                      <a:pPr algn="l"/>
                      <a:r>
                        <a:rPr sz="1200">
                          <a:solidFill>
                            <a:srgbClr val="1F2937"/>
                          </a:solidFill>
                        </a:rPr>
                        <a:t>1</a:t>
                      </a:r>
                    </a:p>
                  </a:txBody>
                  <a:tcPr anchor="ctr" marT="50800" marB="50800">
                    <a:solidFill>
                      <a:srgbClr val="F8FAFC"/>
                    </a:solidFill>
                  </a:tcPr>
                </a:tc>
                <a:tc>
                  <a:txBody>
                    <a:bodyPr/>
                    <a:lstStyle/>
                    <a:p>
                      <a:pPr algn="ctr"/>
                      <a:r>
                        <a:rPr sz="1200">
                          <a:solidFill>
                            <a:srgbClr val="1F2937"/>
                          </a:solidFill>
                        </a:rPr>
                        <a:t>Base Paper</a:t>
                      </a:r>
                    </a:p>
                  </a:txBody>
                  <a:tcPr anchor="ctr" marT="50800" marB="50800">
                    <a:solidFill>
                      <a:srgbClr val="F8FAFC"/>
                    </a:solidFill>
                  </a:tcPr>
                </a:tc>
                <a:tc>
                  <a:txBody>
                    <a:bodyPr/>
                    <a:lstStyle/>
                    <a:p>
                      <a:pPr algn="ctr"/>
                      <a:r>
                        <a:rPr sz="1200">
                          <a:solidFill>
                            <a:srgbClr val="1F2937"/>
                          </a:solidFill>
                        </a:rPr>
                        <a:t>Gopakumar et al. (2026) — CP for</a:t>
                      </a:r>
                    </a:p>
                    <a:p>
                      <a:pPr algn="ctr"/>
                      <a:r>
                        <a:rPr sz="1200">
                          <a:solidFill>
                            <a:srgbClr val="1F2937"/>
                          </a:solidFill>
                        </a:rPr>
                        <a:t>surrogate UQ in physics domains</a:t>
                      </a:r>
                    </a:p>
                  </a:txBody>
                  <a:tcPr anchor="ctr" marT="50800" marB="50800">
                    <a:solidFill>
                      <a:srgbClr val="F8FAFC"/>
                    </a:solidFill>
                  </a:tcPr>
                </a:tc>
                <a:tc>
                  <a:txBody>
                    <a:bodyPr/>
                    <a:lstStyle/>
                    <a:p>
                      <a:pPr algn="ctr"/>
                      <a:r>
                        <a:rPr sz="1200">
                          <a:solidFill>
                            <a:srgbClr val="1F2937"/>
                          </a:solidFill>
                        </a:rPr>
                        <a:t>States the two limitations (marginal</a:t>
                      </a:r>
                    </a:p>
                    <a:p>
                      <a:pPr algn="ctr"/>
                      <a:r>
                        <a:rPr sz="1200">
                          <a:solidFill>
                            <a:srgbClr val="1F2937"/>
                          </a:solidFill>
                        </a:rPr>
                        <a:t>coverage, exchangeability) this project tests</a:t>
                      </a:r>
                    </a:p>
                  </a:txBody>
                  <a:tcPr anchor="ctr" marT="50800" marB="50800">
                    <a:solidFill>
                      <a:srgbClr val="F8FAFC"/>
                    </a:solidFill>
                  </a:tcPr>
                </a:tc>
              </a:tr>
              <a:tr h="658368">
                <a:tc>
                  <a:txBody>
                    <a:bodyPr/>
                    <a:lstStyle/>
                    <a:p>
                      <a:pPr algn="l"/>
                      <a:r>
                        <a:rPr sz="1200">
                          <a:solidFill>
                            <a:srgbClr val="1F2937"/>
                          </a:solidFill>
                        </a:rPr>
                        <a:t>2</a:t>
                      </a:r>
                    </a:p>
                  </a:txBody>
                  <a:tcPr anchor="ctr" marT="50800" marB="50800">
                    <a:solidFill>
                      <a:srgbClr val="FFFFFF"/>
                    </a:solidFill>
                  </a:tcPr>
                </a:tc>
                <a:tc>
                  <a:txBody>
                    <a:bodyPr/>
                    <a:lstStyle/>
                    <a:p>
                      <a:pPr algn="ctr"/>
                      <a:r>
                        <a:rPr sz="1200">
                          <a:solidFill>
                            <a:srgbClr val="1F2937"/>
                          </a:solidFill>
                        </a:rPr>
                        <a:t>Conformal Prediction</a:t>
                      </a:r>
                    </a:p>
                    <a:p>
                      <a:pPr algn="ctr"/>
                      <a:r>
                        <a:rPr sz="1200">
                          <a:solidFill>
                            <a:srgbClr val="1F2937"/>
                          </a:solidFill>
                        </a:rPr>
                        <a:t>Foundations</a:t>
                      </a:r>
                    </a:p>
                  </a:txBody>
                  <a:tcPr anchor="ctr" marT="50800" marB="50800">
                    <a:solidFill>
                      <a:srgbClr val="FFFFFF"/>
                    </a:solidFill>
                  </a:tcPr>
                </a:tc>
                <a:tc>
                  <a:txBody>
                    <a:bodyPr/>
                    <a:lstStyle/>
                    <a:p>
                      <a:pPr algn="ctr"/>
                      <a:r>
                        <a:rPr sz="1200">
                          <a:solidFill>
                            <a:srgbClr val="1F2937"/>
                          </a:solidFill>
                        </a:rPr>
                        <a:t>Split conformal prediction;</a:t>
                      </a:r>
                    </a:p>
                    <a:p>
                      <a:pPr algn="ctr"/>
                      <a:r>
                        <a:rPr sz="1200">
                          <a:solidFill>
                            <a:srgbClr val="1F2937"/>
                          </a:solidFill>
                        </a:rPr>
                        <a:t>Mondrian (category-conditional) CP</a:t>
                      </a:r>
                    </a:p>
                  </a:txBody>
                  <a:tcPr anchor="ctr" marT="50800" marB="50800">
                    <a:solidFill>
                      <a:srgbClr val="FFFFFF"/>
                    </a:solidFill>
                  </a:tcPr>
                </a:tc>
                <a:tc>
                  <a:txBody>
                    <a:bodyPr/>
                    <a:lstStyle/>
                    <a:p>
                      <a:pPr algn="ctr"/>
                      <a:r>
                        <a:rPr sz="1200">
                          <a:solidFill>
                            <a:srgbClr val="1F2937"/>
                          </a:solidFill>
                        </a:rPr>
                        <a:t>Core UQ methodology used</a:t>
                      </a:r>
                    </a:p>
                    <a:p>
                      <a:pPr algn="ctr"/>
                      <a:r>
                        <a:rPr sz="1200">
                          <a:solidFill>
                            <a:srgbClr val="1F2937"/>
                          </a:solidFill>
                        </a:rPr>
                        <a:t>in this project</a:t>
                      </a:r>
                    </a:p>
                  </a:txBody>
                  <a:tcPr anchor="ctr" marT="50800" marB="50800">
                    <a:solidFill>
                      <a:srgbClr val="FFFFFF"/>
                    </a:solidFill>
                  </a:tcPr>
                </a:tc>
              </a:tr>
              <a:tr h="658368">
                <a:tc>
                  <a:txBody>
                    <a:bodyPr/>
                    <a:lstStyle/>
                    <a:p>
                      <a:pPr algn="l"/>
                      <a:r>
                        <a:rPr sz="1200">
                          <a:solidFill>
                            <a:srgbClr val="1F2937"/>
                          </a:solidFill>
                        </a:rPr>
                        <a:t>3</a:t>
                      </a:r>
                    </a:p>
                  </a:txBody>
                  <a:tcPr anchor="ctr" marT="50800" marB="50800">
                    <a:solidFill>
                      <a:srgbClr val="F8FAFC"/>
                    </a:solidFill>
                  </a:tcPr>
                </a:tc>
                <a:tc>
                  <a:txBody>
                    <a:bodyPr/>
                    <a:lstStyle/>
                    <a:p>
                      <a:pPr algn="ctr"/>
                      <a:r>
                        <a:rPr sz="1200">
                          <a:solidFill>
                            <a:srgbClr val="1F2937"/>
                          </a:solidFill>
                        </a:rPr>
                        <a:t>Surrogate Modeling</a:t>
                      </a:r>
                    </a:p>
                  </a:txBody>
                  <a:tcPr anchor="ctr" marT="50800" marB="50800">
                    <a:solidFill>
                      <a:srgbClr val="F8FAFC"/>
                    </a:solidFill>
                  </a:tcPr>
                </a:tc>
                <a:tc>
                  <a:txBody>
                    <a:bodyPr/>
                    <a:lstStyle/>
                    <a:p>
                      <a:pPr algn="ctr"/>
                      <a:r>
                        <a:rPr sz="1200">
                          <a:solidFill>
                            <a:srgbClr val="1F2937"/>
                          </a:solidFill>
                        </a:rPr>
                        <a:t>Gradient boosting / GP / neural-</a:t>
                      </a:r>
                    </a:p>
                    <a:p>
                      <a:pPr algn="ctr"/>
                      <a:r>
                        <a:rPr sz="1200">
                          <a:solidFill>
                            <a:srgbClr val="1F2937"/>
                          </a:solidFill>
                        </a:rPr>
                        <a:t>network surrogates for simulations</a:t>
                      </a:r>
                    </a:p>
                  </a:txBody>
                  <a:tcPr anchor="ctr" marT="50800" marB="50800">
                    <a:solidFill>
                      <a:srgbClr val="F8FAFC"/>
                    </a:solidFill>
                  </a:tcPr>
                </a:tc>
                <a:tc>
                  <a:txBody>
                    <a:bodyPr/>
                    <a:lstStyle/>
                    <a:p>
                      <a:pPr algn="ctr"/>
                      <a:r>
                        <a:rPr sz="1200">
                          <a:solidFill>
                            <a:srgbClr val="1F2937"/>
                          </a:solidFill>
                        </a:rPr>
                        <a:t>Basis for our DES</a:t>
                      </a:r>
                    </a:p>
                    <a:p>
                      <a:pPr algn="ctr"/>
                      <a:r>
                        <a:rPr sz="1200">
                          <a:solidFill>
                            <a:srgbClr val="1F2937"/>
                          </a:solidFill>
                        </a:rPr>
                        <a:t>surrogate model</a:t>
                      </a:r>
                    </a:p>
                  </a:txBody>
                  <a:tcPr anchor="ctr" marT="50800" marB="50800">
                    <a:solidFill>
                      <a:srgbClr val="F8FAFC"/>
                    </a:solidFill>
                  </a:tcPr>
                </a:tc>
              </a:tr>
              <a:tr h="658368">
                <a:tc>
                  <a:txBody>
                    <a:bodyPr/>
                    <a:lstStyle/>
                    <a:p>
                      <a:pPr algn="l"/>
                      <a:r>
                        <a:rPr sz="1200">
                          <a:solidFill>
                            <a:srgbClr val="1F2937"/>
                          </a:solidFill>
                        </a:rPr>
                        <a:t>4</a:t>
                      </a:r>
                    </a:p>
                  </a:txBody>
                  <a:tcPr anchor="ctr" marT="50800" marB="50800">
                    <a:solidFill>
                      <a:srgbClr val="FFFFFF"/>
                    </a:solidFill>
                  </a:tcPr>
                </a:tc>
                <a:tc>
                  <a:txBody>
                    <a:bodyPr/>
                    <a:lstStyle/>
                    <a:p>
                      <a:pPr algn="ctr"/>
                      <a:r>
                        <a:rPr sz="1200">
                          <a:solidFill>
                            <a:srgbClr val="1F2937"/>
                          </a:solidFill>
                        </a:rPr>
                        <a:t>Queueing Theory /</a:t>
                      </a:r>
                    </a:p>
                    <a:p>
                      <a:pPr algn="ctr"/>
                      <a:r>
                        <a:rPr sz="1200">
                          <a:solidFill>
                            <a:srgbClr val="1F2937"/>
                          </a:solidFill>
                        </a:rPr>
                        <a:t>Discrete-Event Simulation</a:t>
                      </a:r>
                    </a:p>
                  </a:txBody>
                  <a:tcPr anchor="ctr" marT="50800" marB="50800">
                    <a:solidFill>
                      <a:srgbClr val="FFFFFF"/>
                    </a:solidFill>
                  </a:tcPr>
                </a:tc>
                <a:tc>
                  <a:txBody>
                    <a:bodyPr/>
                    <a:lstStyle/>
                    <a:p>
                      <a:pPr algn="ctr"/>
                      <a:r>
                        <a:rPr sz="1200">
                          <a:solidFill>
                            <a:srgbClr val="1F2937"/>
                          </a:solidFill>
                        </a:rPr>
                        <a:t>Discrete-event simulation of</a:t>
                      </a:r>
                    </a:p>
                    <a:p>
                      <a:pPr algn="ctr"/>
                      <a:r>
                        <a:rPr sz="1200">
                          <a:solidFill>
                            <a:srgbClr val="1F2937"/>
                          </a:solidFill>
                        </a:rPr>
                        <a:t>ED / service systems</a:t>
                      </a:r>
                    </a:p>
                  </a:txBody>
                  <a:tcPr anchor="ctr" marT="50800" marB="50800">
                    <a:solidFill>
                      <a:srgbClr val="FFFFFF"/>
                    </a:solidFill>
                  </a:tcPr>
                </a:tc>
                <a:tc>
                  <a:txBody>
                    <a:bodyPr/>
                    <a:lstStyle/>
                    <a:p>
                      <a:pPr algn="ctr"/>
                      <a:r>
                        <a:rPr sz="1200">
                          <a:solidFill>
                            <a:srgbClr val="1F2937"/>
                          </a:solidFill>
                        </a:rPr>
                        <a:t>Basis for our ER</a:t>
                      </a:r>
                    </a:p>
                    <a:p>
                      <a:pPr algn="ctr"/>
                      <a:r>
                        <a:rPr sz="1200">
                          <a:solidFill>
                            <a:srgbClr val="1F2937"/>
                          </a:solidFill>
                        </a:rPr>
                        <a:t>simulation design</a:t>
                      </a:r>
                    </a:p>
                  </a:txBody>
                  <a:tcPr anchor="ctr" marT="50800" marB="50800">
                    <a:solidFill>
                      <a:srgbClr val="FFFFFF"/>
                    </a:solidFill>
                  </a:tcPr>
                </a:tc>
              </a:tr>
            </a:tbl>
          </a:graphicData>
        </a:graphic>
      </p:graphicFrame>
      <p:sp>
        <p:nvSpPr>
          <p:cNvPr id="8" name="TextBox 7"/>
          <p:cNvSpPr txBox="1"/>
          <p:nvPr/>
        </p:nvSpPr>
        <p:spPr>
          <a:xfrm>
            <a:off x="548640" y="5074920"/>
            <a:ext cx="11064240" cy="457200"/>
          </a:xfrm>
          <a:prstGeom prst="rect">
            <a:avLst/>
          </a:prstGeom>
          <a:noFill/>
        </p:spPr>
        <p:txBody>
          <a:bodyPr wrap="square" anchor="t" lIns="0" rIns="0" tIns="0" bIns="0">
            <a:spAutoFit/>
          </a:bodyPr>
          <a:lstStyle/>
          <a:p>
            <a:pPr algn="l"/>
            <a:r>
              <a:rPr sz="1300" b="0" i="1">
                <a:solidFill>
                  <a:srgbClr val="6B7280"/>
                </a:solidFill>
                <a:latin typeface="Calibri"/>
              </a:rPr>
              <a:t>Full review in progress — target 30 papers total, 3 core papers reviewed in depth.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515600" cy="320040"/>
          </a:xfrm>
          <a:prstGeom prst="rect">
            <a:avLst/>
          </a:prstGeom>
          <a:noFill/>
        </p:spPr>
        <p:txBody>
          <a:bodyPr wrap="square" anchor="t" lIns="0" rIns="0" tIns="0" bIns="0">
            <a:spAutoFit/>
          </a:bodyPr>
          <a:lstStyle/>
          <a:p>
            <a:pPr algn="l"/>
            <a:r>
              <a:rPr sz="1300" b="1" i="0">
                <a:solidFill>
                  <a:srgbClr val="3B82F6"/>
                </a:solidFill>
                <a:latin typeface="Calibri"/>
              </a:rPr>
              <a:t>GAPS IDENTIFIED</a:t>
            </a:r>
          </a:p>
        </p:txBody>
      </p:sp>
      <p:sp>
        <p:nvSpPr>
          <p:cNvPr id="4" name="TextBox 3"/>
          <p:cNvSpPr txBox="1"/>
          <p:nvPr/>
        </p:nvSpPr>
        <p:spPr>
          <a:xfrm>
            <a:off x="548640" y="566928"/>
            <a:ext cx="10881360" cy="640080"/>
          </a:xfrm>
          <a:prstGeom prst="rect">
            <a:avLst/>
          </a:prstGeom>
          <a:noFill/>
        </p:spPr>
        <p:txBody>
          <a:bodyPr wrap="square" anchor="t" lIns="0" rIns="0" tIns="0" bIns="0">
            <a:spAutoFit/>
          </a:bodyPr>
          <a:lstStyle/>
          <a:p>
            <a:pPr algn="l"/>
            <a:r>
              <a:rPr sz="2800" b="1" i="0">
                <a:solidFill>
                  <a:srgbClr val="1B2238"/>
                </a:solidFill>
                <a:latin typeface="Calibri"/>
              </a:rPr>
              <a:t>Research Gap</a:t>
            </a:r>
          </a:p>
        </p:txBody>
      </p:sp>
      <p:sp>
        <p:nvSpPr>
          <p:cNvPr id="5" name="Rectangle 4"/>
          <p:cNvSpPr/>
          <p:nvPr/>
        </p:nvSpPr>
        <p:spPr>
          <a:xfrm>
            <a:off x="548640" y="1170432"/>
            <a:ext cx="1005840" cy="3810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822960" cy="320040"/>
          </a:xfrm>
          <a:prstGeom prst="rect">
            <a:avLst/>
          </a:prstGeom>
          <a:noFill/>
        </p:spPr>
        <p:txBody>
          <a:bodyPr wrap="square" anchor="t" lIns="0" rIns="0" tIns="0" bIns="0">
            <a:spAutoFit/>
          </a:bodyPr>
          <a:lstStyle/>
          <a:p>
            <a:pPr algn="r"/>
            <a:r>
              <a:rPr sz="1100" b="0" i="0">
                <a:solidFill>
                  <a:srgbClr val="6B7280"/>
                </a:solidFill>
                <a:latin typeface="Calibri"/>
              </a:rPr>
              <a:t>5 / 12</a:t>
            </a:r>
          </a:p>
        </p:txBody>
      </p:sp>
      <p:sp>
        <p:nvSpPr>
          <p:cNvPr id="7" name="TextBox 6"/>
          <p:cNvSpPr txBox="1"/>
          <p:nvPr/>
        </p:nvSpPr>
        <p:spPr>
          <a:xfrm>
            <a:off x="640080" y="1508760"/>
            <a:ext cx="10881360" cy="457200"/>
          </a:xfrm>
          <a:prstGeom prst="rect">
            <a:avLst/>
          </a:prstGeom>
          <a:noFill/>
        </p:spPr>
        <p:txBody>
          <a:bodyPr wrap="square" anchor="t" lIns="0" rIns="0" tIns="0" bIns="0">
            <a:spAutoFit/>
          </a:bodyPr>
          <a:lstStyle/>
          <a:p>
            <a:pPr algn="l"/>
            <a:r>
              <a:rPr sz="1700" b="1" i="0">
                <a:solidFill>
                  <a:srgbClr val="1F2937"/>
                </a:solidFill>
                <a:latin typeface="Calibri"/>
              </a:rPr>
              <a:t>Gopakumar et al. (2026) validate Conformal Prediction for surrogate-model UQ —</a:t>
            </a:r>
          </a:p>
        </p:txBody>
      </p:sp>
      <p:sp>
        <p:nvSpPr>
          <p:cNvPr id="8" name="TextBox 7"/>
          <p:cNvSpPr txBox="1"/>
          <p:nvPr/>
        </p:nvSpPr>
        <p:spPr>
          <a:xfrm>
            <a:off x="640080" y="1901952"/>
            <a:ext cx="10881360" cy="457200"/>
          </a:xfrm>
          <a:prstGeom prst="rect">
            <a:avLst/>
          </a:prstGeom>
          <a:noFill/>
        </p:spPr>
        <p:txBody>
          <a:bodyPr wrap="square" anchor="t" lIns="0" rIns="0" tIns="0" bIns="0">
            <a:spAutoFit/>
          </a:bodyPr>
          <a:lstStyle/>
          <a:p>
            <a:pPr algn="l"/>
            <a:r>
              <a:rPr sz="1700" b="1" i="0">
                <a:solidFill>
                  <a:srgbClr val="1E40AF"/>
                </a:solidFill>
                <a:latin typeface="Calibri"/>
              </a:rPr>
              <a:t>but only in physics domains: PDEs, magnetohydrodynamics (MHD), weather, fusion.</a:t>
            </a:r>
          </a:p>
        </p:txBody>
      </p:sp>
      <p:sp>
        <p:nvSpPr>
          <p:cNvPr id="9" name="Rectangle 8"/>
          <p:cNvSpPr/>
          <p:nvPr/>
        </p:nvSpPr>
        <p:spPr>
          <a:xfrm>
            <a:off x="640080" y="2514600"/>
            <a:ext cx="10881360" cy="1143000"/>
          </a:xfrm>
          <a:prstGeom prst="rect">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624328"/>
            <a:ext cx="10332720" cy="365760"/>
          </a:xfrm>
          <a:prstGeom prst="rect">
            <a:avLst/>
          </a:prstGeom>
          <a:noFill/>
        </p:spPr>
        <p:txBody>
          <a:bodyPr wrap="square" anchor="t" lIns="0" rIns="0" tIns="0" bIns="0">
            <a:spAutoFit/>
          </a:bodyPr>
          <a:lstStyle/>
          <a:p>
            <a:pPr algn="l"/>
            <a:r>
              <a:rPr sz="1500" b="1" i="0">
                <a:solidFill>
                  <a:srgbClr val="1E40AF"/>
                </a:solidFill>
                <a:latin typeface="Calibri"/>
              </a:rPr>
              <a:t>Gap 1 — Marginal coverage only</a:t>
            </a:r>
          </a:p>
        </p:txBody>
      </p:sp>
      <p:sp>
        <p:nvSpPr>
          <p:cNvPr id="11" name="TextBox 10"/>
          <p:cNvSpPr txBox="1"/>
          <p:nvPr/>
        </p:nvSpPr>
        <p:spPr>
          <a:xfrm>
            <a:off x="914400" y="3017520"/>
            <a:ext cx="10332720" cy="548640"/>
          </a:xfrm>
          <a:prstGeom prst="rect">
            <a:avLst/>
          </a:prstGeom>
          <a:noFill/>
        </p:spPr>
        <p:txBody>
          <a:bodyPr wrap="square" anchor="t" lIns="0" rIns="0" tIns="0" bIns="0">
            <a:spAutoFit/>
          </a:bodyPr>
          <a:lstStyle/>
          <a:p>
            <a:pPr algn="l"/>
            <a:r>
              <a:rPr sz="1350" b="0" i="0">
                <a:solidFill>
                  <a:srgbClr val="1F2937"/>
                </a:solidFill>
                <a:latin typeface="Calibri"/>
              </a:rPr>
              <a:t>No guarantee of coverage within specific subgroups or conditions, only on average across everything.</a:t>
            </a:r>
          </a:p>
        </p:txBody>
      </p:sp>
      <p:sp>
        <p:nvSpPr>
          <p:cNvPr id="12" name="Rectangle 11"/>
          <p:cNvSpPr/>
          <p:nvPr/>
        </p:nvSpPr>
        <p:spPr>
          <a:xfrm>
            <a:off x="640080" y="3794760"/>
            <a:ext cx="10881360" cy="1143000"/>
          </a:xfrm>
          <a:prstGeom prst="rect">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904488"/>
            <a:ext cx="10332720" cy="365760"/>
          </a:xfrm>
          <a:prstGeom prst="rect">
            <a:avLst/>
          </a:prstGeom>
          <a:noFill/>
        </p:spPr>
        <p:txBody>
          <a:bodyPr wrap="square" anchor="t" lIns="0" rIns="0" tIns="0" bIns="0">
            <a:spAutoFit/>
          </a:bodyPr>
          <a:lstStyle/>
          <a:p>
            <a:pPr algn="l"/>
            <a:r>
              <a:rPr sz="1500" b="1" i="0">
                <a:solidFill>
                  <a:srgbClr val="1E40AF"/>
                </a:solidFill>
                <a:latin typeface="Calibri"/>
              </a:rPr>
              <a:t>Gap 2 — Untested exchangeability assumption</a:t>
            </a:r>
          </a:p>
        </p:txBody>
      </p:sp>
      <p:sp>
        <p:nvSpPr>
          <p:cNvPr id="14" name="TextBox 13"/>
          <p:cNvSpPr txBox="1"/>
          <p:nvPr/>
        </p:nvSpPr>
        <p:spPr>
          <a:xfrm>
            <a:off x="914400" y="4297680"/>
            <a:ext cx="10332720" cy="548640"/>
          </a:xfrm>
          <a:prstGeom prst="rect">
            <a:avLst/>
          </a:prstGeom>
          <a:noFill/>
        </p:spPr>
        <p:txBody>
          <a:bodyPr wrap="square" anchor="t" lIns="0" rIns="0" tIns="0" bIns="0">
            <a:spAutoFit/>
          </a:bodyPr>
          <a:lstStyle/>
          <a:p>
            <a:pPr algn="l"/>
            <a:r>
              <a:rPr sz="1350" b="0" i="0">
                <a:solidFill>
                  <a:srgbClr val="1F2937"/>
                </a:solidFill>
                <a:latin typeface="Calibri"/>
              </a:rPr>
              <a:t>Coverage relies on calibration and test data being exchangeable; this hasn't been tested under distribution shift.</a:t>
            </a:r>
          </a:p>
        </p:txBody>
      </p:sp>
      <p:sp>
        <p:nvSpPr>
          <p:cNvPr id="15" name="Rectangle 14"/>
          <p:cNvSpPr/>
          <p:nvPr/>
        </p:nvSpPr>
        <p:spPr>
          <a:xfrm>
            <a:off x="640080" y="5074920"/>
            <a:ext cx="10881360" cy="1143000"/>
          </a:xfrm>
          <a:prstGeom prst="rect">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184648"/>
            <a:ext cx="10332720" cy="365760"/>
          </a:xfrm>
          <a:prstGeom prst="rect">
            <a:avLst/>
          </a:prstGeom>
          <a:noFill/>
        </p:spPr>
        <p:txBody>
          <a:bodyPr wrap="square" anchor="t" lIns="0" rIns="0" tIns="0" bIns="0">
            <a:spAutoFit/>
          </a:bodyPr>
          <a:lstStyle/>
          <a:p>
            <a:pPr algn="l"/>
            <a:r>
              <a:rPr sz="1500" b="1" i="0">
                <a:solidFill>
                  <a:srgbClr val="1E40AF"/>
                </a:solidFill>
                <a:latin typeface="Calibri"/>
              </a:rPr>
              <a:t>Gap 3 — No discrete-event / queueing validation</a:t>
            </a:r>
          </a:p>
        </p:txBody>
      </p:sp>
      <p:sp>
        <p:nvSpPr>
          <p:cNvPr id="17" name="TextBox 16"/>
          <p:cNvSpPr txBox="1"/>
          <p:nvPr/>
        </p:nvSpPr>
        <p:spPr>
          <a:xfrm>
            <a:off x="914400" y="5577840"/>
            <a:ext cx="10332720" cy="548640"/>
          </a:xfrm>
          <a:prstGeom prst="rect">
            <a:avLst/>
          </a:prstGeom>
          <a:noFill/>
        </p:spPr>
        <p:txBody>
          <a:bodyPr wrap="square" anchor="t" lIns="0" rIns="0" tIns="0" bIns="0">
            <a:spAutoFit/>
          </a:bodyPr>
          <a:lstStyle/>
          <a:p>
            <a:pPr algn="l"/>
            <a:r>
              <a:rPr sz="1350" b="0" i="0">
                <a:solidFill>
                  <a:srgbClr val="1F2937"/>
                </a:solidFill>
                <a:latin typeface="Calibri"/>
              </a:rPr>
              <a:t>Neither limitation has been tested outside physics simulation — discrete-event / queueing systems are a fundamentally different domain.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515600" cy="320040"/>
          </a:xfrm>
          <a:prstGeom prst="rect">
            <a:avLst/>
          </a:prstGeom>
          <a:noFill/>
        </p:spPr>
        <p:txBody>
          <a:bodyPr wrap="square" anchor="t" lIns="0" rIns="0" tIns="0" bIns="0">
            <a:spAutoFit/>
          </a:bodyPr>
          <a:lstStyle/>
          <a:p>
            <a:pPr algn="l"/>
            <a:r>
              <a:rPr sz="1300" b="1" i="0">
                <a:solidFill>
                  <a:srgbClr val="3B82F6"/>
                </a:solidFill>
                <a:latin typeface="Calibri"/>
              </a:rPr>
              <a:t>MOTIVATION</a:t>
            </a:r>
          </a:p>
        </p:txBody>
      </p:sp>
      <p:sp>
        <p:nvSpPr>
          <p:cNvPr id="4" name="TextBox 3"/>
          <p:cNvSpPr txBox="1"/>
          <p:nvPr/>
        </p:nvSpPr>
        <p:spPr>
          <a:xfrm>
            <a:off x="548640" y="566928"/>
            <a:ext cx="10881360" cy="640080"/>
          </a:xfrm>
          <a:prstGeom prst="rect">
            <a:avLst/>
          </a:prstGeom>
          <a:noFill/>
        </p:spPr>
        <p:txBody>
          <a:bodyPr wrap="square" anchor="t" lIns="0" rIns="0" tIns="0" bIns="0">
            <a:spAutoFit/>
          </a:bodyPr>
          <a:lstStyle/>
          <a:p>
            <a:pPr algn="l"/>
            <a:r>
              <a:rPr sz="2800" b="1" i="0">
                <a:solidFill>
                  <a:srgbClr val="1B2238"/>
                </a:solidFill>
                <a:latin typeface="Calibri"/>
              </a:rPr>
              <a:t>Problem Statement</a:t>
            </a:r>
          </a:p>
        </p:txBody>
      </p:sp>
      <p:sp>
        <p:nvSpPr>
          <p:cNvPr id="5" name="Rectangle 4"/>
          <p:cNvSpPr/>
          <p:nvPr/>
        </p:nvSpPr>
        <p:spPr>
          <a:xfrm>
            <a:off x="548640" y="1170432"/>
            <a:ext cx="1005840" cy="3810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822960" cy="320040"/>
          </a:xfrm>
          <a:prstGeom prst="rect">
            <a:avLst/>
          </a:prstGeom>
          <a:noFill/>
        </p:spPr>
        <p:txBody>
          <a:bodyPr wrap="square" anchor="t" lIns="0" rIns="0" tIns="0" bIns="0">
            <a:spAutoFit/>
          </a:bodyPr>
          <a:lstStyle/>
          <a:p>
            <a:pPr algn="r"/>
            <a:r>
              <a:rPr sz="1100" b="0" i="0">
                <a:solidFill>
                  <a:srgbClr val="6B7280"/>
                </a:solidFill>
                <a:latin typeface="Calibri"/>
              </a:rPr>
              <a:t>6 / 12</a:t>
            </a:r>
          </a:p>
        </p:txBody>
      </p:sp>
      <p:sp>
        <p:nvSpPr>
          <p:cNvPr id="7" name="TextBox 6"/>
          <p:cNvSpPr txBox="1"/>
          <p:nvPr/>
        </p:nvSpPr>
        <p:spPr>
          <a:xfrm>
            <a:off x="640080" y="1600200"/>
            <a:ext cx="10881360" cy="4572000"/>
          </a:xfrm>
          <a:prstGeom prst="rect">
            <a:avLst/>
          </a:prstGeom>
          <a:noFill/>
        </p:spPr>
        <p:txBody>
          <a:bodyPr wrap="square">
            <a:spAutoFit/>
          </a:bodyPr>
          <a:lstStyle/>
          <a:p>
            <a:pPr>
              <a:spcAft>
                <a:spcPts val="1600"/>
              </a:spcAft>
            </a:pPr>
            <a:r>
              <a:rPr sz="1800">
                <a:solidFill>
                  <a:srgbClr val="1F2937"/>
                </a:solidFill>
                <a:latin typeface="Calibri"/>
              </a:rPr>
              <a:t>•  Surrogate models are fast, learned approximations of expensive simulations, increasingly used to guide decisions in stochastic service systems - ER staffing, queueing networks, etc.</a:t>
            </a:r>
          </a:p>
          <a:p>
            <a:pPr>
              <a:spcAft>
                <a:spcPts val="1600"/>
              </a:spcAft>
            </a:pPr>
            <a:r>
              <a:rPr sz="1800">
                <a:solidFill>
                  <a:srgbClr val="1F2937"/>
                </a:solidFill>
                <a:latin typeface="Calibri"/>
              </a:rPr>
              <a:t>•  A point prediction alone isn't enough for a decision like "will adding 2 more doctors bring wait time down enough?" - that needs a calibrated interval, not just a number.</a:t>
            </a:r>
          </a:p>
          <a:p>
            <a:pPr>
              <a:spcAft>
                <a:spcPts val="1600"/>
              </a:spcAft>
            </a:pPr>
            <a:r>
              <a:rPr sz="1800">
                <a:solidFill>
                  <a:srgbClr val="1F2937"/>
                </a:solidFill>
                <a:latin typeface="Calibri"/>
              </a:rPr>
              <a:t>•  Gaussian Processes are the established way to get one, but are expensive to train and rely on distributional assumptions rather than a finite-sample guarantee.</a:t>
            </a:r>
          </a:p>
          <a:p>
            <a:pPr>
              <a:spcAft>
                <a:spcPts val="1600"/>
              </a:spcAft>
            </a:pPr>
            <a:r>
              <a:rPr sz="1800">
                <a:solidFill>
                  <a:srgbClr val="1F2937"/>
                </a:solidFill>
                <a:latin typeface="Calibri"/>
              </a:rPr>
              <a:t>•  Conformal Prediction (CP) is distribution-free with a finite-sample coverage guarantee and is cheap to calibrate - but it's only been validated for surrogate models in a narrow set of domains so far.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515600" cy="320040"/>
          </a:xfrm>
          <a:prstGeom prst="rect">
            <a:avLst/>
          </a:prstGeom>
          <a:noFill/>
        </p:spPr>
        <p:txBody>
          <a:bodyPr wrap="square" anchor="t" lIns="0" rIns="0" tIns="0" bIns="0">
            <a:spAutoFit/>
          </a:bodyPr>
          <a:lstStyle/>
          <a:p>
            <a:pPr algn="l"/>
            <a:r>
              <a:rPr sz="1300" b="1" i="0">
                <a:solidFill>
                  <a:srgbClr val="3B82F6"/>
                </a:solidFill>
                <a:latin typeface="Calibri"/>
              </a:rPr>
              <a:t>APPROACH (1/2)</a:t>
            </a:r>
          </a:p>
        </p:txBody>
      </p:sp>
      <p:sp>
        <p:nvSpPr>
          <p:cNvPr id="4" name="TextBox 3"/>
          <p:cNvSpPr txBox="1"/>
          <p:nvPr/>
        </p:nvSpPr>
        <p:spPr>
          <a:xfrm>
            <a:off x="548640" y="566928"/>
            <a:ext cx="10881360" cy="640080"/>
          </a:xfrm>
          <a:prstGeom prst="rect">
            <a:avLst/>
          </a:prstGeom>
          <a:noFill/>
        </p:spPr>
        <p:txBody>
          <a:bodyPr wrap="square" anchor="t" lIns="0" rIns="0" tIns="0" bIns="0">
            <a:spAutoFit/>
          </a:bodyPr>
          <a:lstStyle/>
          <a:p>
            <a:pPr algn="l"/>
            <a:r>
              <a:rPr sz="2500" b="1" i="0">
                <a:solidFill>
                  <a:srgbClr val="1B2238"/>
                </a:solidFill>
                <a:latin typeface="Calibri"/>
              </a:rPr>
              <a:t>Methodology — Pipeline Overview</a:t>
            </a:r>
          </a:p>
        </p:txBody>
      </p:sp>
      <p:sp>
        <p:nvSpPr>
          <p:cNvPr id="5" name="Rectangle 4"/>
          <p:cNvSpPr/>
          <p:nvPr/>
        </p:nvSpPr>
        <p:spPr>
          <a:xfrm>
            <a:off x="548640" y="1170432"/>
            <a:ext cx="1005840" cy="3810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822960" cy="320040"/>
          </a:xfrm>
          <a:prstGeom prst="rect">
            <a:avLst/>
          </a:prstGeom>
          <a:noFill/>
        </p:spPr>
        <p:txBody>
          <a:bodyPr wrap="square" anchor="t" lIns="0" rIns="0" tIns="0" bIns="0">
            <a:spAutoFit/>
          </a:bodyPr>
          <a:lstStyle/>
          <a:p>
            <a:pPr algn="r"/>
            <a:r>
              <a:rPr sz="1100" b="0" i="0">
                <a:solidFill>
                  <a:srgbClr val="6B7280"/>
                </a:solidFill>
                <a:latin typeface="Calibri"/>
              </a:rPr>
              <a:t>7 / 12</a:t>
            </a:r>
          </a:p>
        </p:txBody>
      </p:sp>
      <p:sp>
        <p:nvSpPr>
          <p:cNvPr id="7" name="Rounded Rectangle 6"/>
          <p:cNvSpPr/>
          <p:nvPr/>
        </p:nvSpPr>
        <p:spPr>
          <a:xfrm>
            <a:off x="502920" y="1920240"/>
            <a:ext cx="3291840" cy="1188720"/>
          </a:xfrm>
          <a:prstGeom prst="roundRect">
            <a:avLst>
              <a:gd name="adj" fmla="val 8000"/>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Discrete-Event
Simulation</a:t>
            </a:r>
          </a:p>
          <a:p>
            <a:pPr algn="ctr"/>
            <a:r>
              <a:rPr sz="1150">
                <a:solidFill>
                  <a:srgbClr val="FFFFFF"/>
                </a:solidFill>
              </a:rPr>
              <a:t>SimPy, calibrated on
real ED data</a:t>
            </a:r>
          </a:p>
        </p:txBody>
      </p:sp>
      <p:sp>
        <p:nvSpPr>
          <p:cNvPr id="8" name="Rounded Rectangle 7"/>
          <p:cNvSpPr/>
          <p:nvPr/>
        </p:nvSpPr>
        <p:spPr>
          <a:xfrm>
            <a:off x="4206240" y="1920240"/>
            <a:ext cx="3291840" cy="1188720"/>
          </a:xfrm>
          <a:prstGeom prst="roundRect">
            <a:avLst>
              <a:gd name="adj" fmla="val 8000"/>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Surrogate Model</a:t>
            </a:r>
          </a:p>
          <a:p>
            <a:pPr algn="ctr"/>
            <a:r>
              <a:rPr sz="1150">
                <a:solidFill>
                  <a:srgbClr val="FFFFFF"/>
                </a:solidFill>
              </a:rPr>
              <a:t>Learned approximation of
the simulation</a:t>
            </a:r>
          </a:p>
        </p:txBody>
      </p:sp>
      <p:sp>
        <p:nvSpPr>
          <p:cNvPr id="9" name="Rounded Rectangle 8"/>
          <p:cNvSpPr/>
          <p:nvPr/>
        </p:nvSpPr>
        <p:spPr>
          <a:xfrm>
            <a:off x="7909560" y="1920240"/>
            <a:ext cx="3291840" cy="1188720"/>
          </a:xfrm>
          <a:prstGeom prst="roundRect">
            <a:avLst>
              <a:gd name="adj" fmla="val 8000"/>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Uncertainty
Quantification</a:t>
            </a:r>
          </a:p>
          <a:p>
            <a:pPr algn="ctr"/>
            <a:r>
              <a:rPr sz="1150">
                <a:solidFill>
                  <a:srgbClr val="FFFFFF"/>
                </a:solidFill>
              </a:rPr>
              <a:t>GP baseline vs. standard CP
vs. Mondrian CP</a:t>
            </a:r>
          </a:p>
        </p:txBody>
      </p:sp>
      <p:sp>
        <p:nvSpPr>
          <p:cNvPr id="10" name="Right Arrow 9"/>
          <p:cNvSpPr/>
          <p:nvPr/>
        </p:nvSpPr>
        <p:spPr>
          <a:xfrm>
            <a:off x="3794760" y="2331720"/>
            <a:ext cx="411480" cy="36576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ight Arrow 10"/>
          <p:cNvSpPr/>
          <p:nvPr/>
        </p:nvSpPr>
        <p:spPr>
          <a:xfrm>
            <a:off x="7498080" y="2331720"/>
            <a:ext cx="411480" cy="36576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3657600"/>
            <a:ext cx="11155680" cy="365760"/>
          </a:xfrm>
          <a:prstGeom prst="rect">
            <a:avLst/>
          </a:prstGeom>
          <a:noFill/>
        </p:spPr>
        <p:txBody>
          <a:bodyPr wrap="square" anchor="t" lIns="0" rIns="0" tIns="0" bIns="0">
            <a:spAutoFit/>
          </a:bodyPr>
          <a:lstStyle/>
          <a:p>
            <a:pPr algn="l"/>
            <a:r>
              <a:rPr sz="1400" b="0" i="1">
                <a:solidFill>
                  <a:srgbClr val="6B7280"/>
                </a:solidFill>
                <a:latin typeface="Calibri"/>
              </a:rPr>
              <a:t>Each stage validated against the previous before moving on:</a:t>
            </a:r>
          </a:p>
        </p:txBody>
      </p:sp>
      <p:sp>
        <p:nvSpPr>
          <p:cNvPr id="13" name="TextBox 12"/>
          <p:cNvSpPr txBox="1"/>
          <p:nvPr/>
        </p:nvSpPr>
        <p:spPr>
          <a:xfrm>
            <a:off x="640080" y="4069080"/>
            <a:ext cx="10698480" cy="2194560"/>
          </a:xfrm>
          <a:prstGeom prst="rect">
            <a:avLst/>
          </a:prstGeom>
          <a:noFill/>
        </p:spPr>
        <p:txBody>
          <a:bodyPr wrap="square">
            <a:spAutoFit/>
          </a:bodyPr>
          <a:lstStyle/>
          <a:p>
            <a:pPr>
              <a:spcAft>
                <a:spcPts val="1000"/>
              </a:spcAft>
            </a:pPr>
            <a:r>
              <a:rPr sz="1500">
                <a:solidFill>
                  <a:srgbClr val="1F2937"/>
                </a:solidFill>
                <a:latin typeface="Calibri"/>
              </a:rPr>
              <a:t>•  DES output validated against real aggregated ED statistics before being trusted as a data source.</a:t>
            </a:r>
          </a:p>
          <a:p>
            <a:pPr>
              <a:spcAft>
                <a:spcPts val="1000"/>
              </a:spcAft>
            </a:pPr>
            <a:r>
              <a:rPr sz="1500">
                <a:solidFill>
                  <a:srgbClr val="1F2937"/>
                </a:solidFill>
                <a:latin typeface="Calibri"/>
              </a:rPr>
              <a:t>•  Surrogate accuracy validated against DES outputs held out from training.</a:t>
            </a:r>
          </a:p>
          <a:p>
            <a:pPr>
              <a:spcAft>
                <a:spcPts val="1000"/>
              </a:spcAft>
            </a:pPr>
            <a:r>
              <a:rPr sz="1500">
                <a:solidFill>
                  <a:srgbClr val="1F2937"/>
                </a:solidFill>
                <a:latin typeface="Calibri"/>
              </a:rPr>
              <a:t>•  Every UQ method evaluated on the same test data and the same target coverage level, so results are directly comparable across methods.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515600" cy="320040"/>
          </a:xfrm>
          <a:prstGeom prst="rect">
            <a:avLst/>
          </a:prstGeom>
          <a:noFill/>
        </p:spPr>
        <p:txBody>
          <a:bodyPr wrap="square" anchor="t" lIns="0" rIns="0" tIns="0" bIns="0">
            <a:spAutoFit/>
          </a:bodyPr>
          <a:lstStyle/>
          <a:p>
            <a:pPr algn="l"/>
            <a:r>
              <a:rPr sz="1300" b="1" i="0">
                <a:solidFill>
                  <a:srgbClr val="3B82F6"/>
                </a:solidFill>
                <a:latin typeface="Calibri"/>
              </a:rPr>
              <a:t>APPROACH (2/2)</a:t>
            </a:r>
          </a:p>
        </p:txBody>
      </p:sp>
      <p:sp>
        <p:nvSpPr>
          <p:cNvPr id="4" name="TextBox 3"/>
          <p:cNvSpPr txBox="1"/>
          <p:nvPr/>
        </p:nvSpPr>
        <p:spPr>
          <a:xfrm>
            <a:off x="548640" y="566928"/>
            <a:ext cx="10881360" cy="640080"/>
          </a:xfrm>
          <a:prstGeom prst="rect">
            <a:avLst/>
          </a:prstGeom>
          <a:noFill/>
        </p:spPr>
        <p:txBody>
          <a:bodyPr wrap="square" anchor="t" lIns="0" rIns="0" tIns="0" bIns="0">
            <a:spAutoFit/>
          </a:bodyPr>
          <a:lstStyle/>
          <a:p>
            <a:pPr algn="l"/>
            <a:r>
              <a:rPr sz="2400" b="1" i="0">
                <a:solidFill>
                  <a:srgbClr val="1B2238"/>
                </a:solidFill>
                <a:latin typeface="Calibri"/>
              </a:rPr>
              <a:t>Methodology — UQ Methods Compared</a:t>
            </a:r>
          </a:p>
        </p:txBody>
      </p:sp>
      <p:sp>
        <p:nvSpPr>
          <p:cNvPr id="5" name="Rectangle 4"/>
          <p:cNvSpPr/>
          <p:nvPr/>
        </p:nvSpPr>
        <p:spPr>
          <a:xfrm>
            <a:off x="548640" y="1170432"/>
            <a:ext cx="1005840" cy="3810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822960" cy="320040"/>
          </a:xfrm>
          <a:prstGeom prst="rect">
            <a:avLst/>
          </a:prstGeom>
          <a:noFill/>
        </p:spPr>
        <p:txBody>
          <a:bodyPr wrap="square" anchor="t" lIns="0" rIns="0" tIns="0" bIns="0">
            <a:spAutoFit/>
          </a:bodyPr>
          <a:lstStyle/>
          <a:p>
            <a:pPr algn="r"/>
            <a:r>
              <a:rPr sz="1100" b="0" i="0">
                <a:solidFill>
                  <a:srgbClr val="6B7280"/>
                </a:solidFill>
                <a:latin typeface="Calibri"/>
              </a:rPr>
              <a:t>8 / 12</a:t>
            </a:r>
          </a:p>
        </p:txBody>
      </p:sp>
      <p:sp>
        <p:nvSpPr>
          <p:cNvPr id="7" name="Rectangle 6"/>
          <p:cNvSpPr/>
          <p:nvPr/>
        </p:nvSpPr>
        <p:spPr>
          <a:xfrm>
            <a:off x="548640" y="1600200"/>
            <a:ext cx="3520440" cy="420624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600200"/>
            <a:ext cx="3520440" cy="640080"/>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91640"/>
            <a:ext cx="3246120" cy="457200"/>
          </a:xfrm>
          <a:prstGeom prst="rect">
            <a:avLst/>
          </a:prstGeom>
          <a:noFill/>
        </p:spPr>
        <p:txBody>
          <a:bodyPr wrap="square" anchor="t" lIns="0" rIns="0" tIns="0" bIns="0">
            <a:spAutoFit/>
          </a:bodyPr>
          <a:lstStyle/>
          <a:p>
            <a:pPr algn="ctr"/>
            <a:r>
              <a:rPr sz="1600" b="1" i="0">
                <a:solidFill>
                  <a:srgbClr val="FFFFFF"/>
                </a:solidFill>
                <a:latin typeface="Calibri"/>
              </a:rPr>
              <a:t>GP Baseline</a:t>
            </a:r>
          </a:p>
        </p:txBody>
      </p:sp>
      <p:sp>
        <p:nvSpPr>
          <p:cNvPr id="10" name="TextBox 9"/>
          <p:cNvSpPr txBox="1"/>
          <p:nvPr/>
        </p:nvSpPr>
        <p:spPr>
          <a:xfrm>
            <a:off x="777240" y="2423160"/>
            <a:ext cx="3063240" cy="3200400"/>
          </a:xfrm>
          <a:prstGeom prst="rect">
            <a:avLst/>
          </a:prstGeom>
          <a:noFill/>
        </p:spPr>
        <p:txBody>
          <a:bodyPr wrap="square" anchor="t" lIns="0" rIns="0" tIns="0" bIns="0">
            <a:spAutoFit/>
          </a:bodyPr>
          <a:lstStyle/>
          <a:p>
            <a:pPr algn="l"/>
            <a:r>
              <a:rPr sz="1350" b="0" i="0">
                <a:solidFill>
                  <a:srgbClr val="1F2937"/>
                </a:solidFill>
                <a:latin typeface="Calibri"/>
              </a:rPr>
              <a:t>Gaussian Process regression gives a predictive mean and standard deviation; interval = mean ± z·std. Established, but costly to train and relies on distributional assumptions.</a:t>
            </a:r>
          </a:p>
        </p:txBody>
      </p:sp>
      <p:sp>
        <p:nvSpPr>
          <p:cNvPr id="11" name="Rectangle 10"/>
          <p:cNvSpPr/>
          <p:nvPr/>
        </p:nvSpPr>
        <p:spPr>
          <a:xfrm>
            <a:off x="4206240" y="1600200"/>
            <a:ext cx="3520440" cy="420624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06240" y="1600200"/>
            <a:ext cx="3520440" cy="640080"/>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43400" y="1691640"/>
            <a:ext cx="3246120" cy="457200"/>
          </a:xfrm>
          <a:prstGeom prst="rect">
            <a:avLst/>
          </a:prstGeom>
          <a:noFill/>
        </p:spPr>
        <p:txBody>
          <a:bodyPr wrap="square" anchor="t" lIns="0" rIns="0" tIns="0" bIns="0">
            <a:spAutoFit/>
          </a:bodyPr>
          <a:lstStyle/>
          <a:p>
            <a:pPr algn="ctr"/>
            <a:r>
              <a:rPr sz="1600" b="1" i="0">
                <a:solidFill>
                  <a:srgbClr val="FFFFFF"/>
                </a:solidFill>
                <a:latin typeface="Calibri"/>
              </a:rPr>
              <a:t>Standard CP</a:t>
            </a:r>
          </a:p>
        </p:txBody>
      </p:sp>
      <p:sp>
        <p:nvSpPr>
          <p:cNvPr id="14" name="TextBox 13"/>
          <p:cNvSpPr txBox="1"/>
          <p:nvPr/>
        </p:nvSpPr>
        <p:spPr>
          <a:xfrm>
            <a:off x="4434840" y="2423160"/>
            <a:ext cx="3063240" cy="3200400"/>
          </a:xfrm>
          <a:prstGeom prst="rect">
            <a:avLst/>
          </a:prstGeom>
          <a:noFill/>
        </p:spPr>
        <p:txBody>
          <a:bodyPr wrap="square" anchor="t" lIns="0" rIns="0" tIns="0" bIns="0">
            <a:spAutoFit/>
          </a:bodyPr>
          <a:lstStyle/>
          <a:p>
            <a:pPr algn="l"/>
            <a:r>
              <a:rPr sz="1350" b="0" i="0">
                <a:solidFill>
                  <a:srgbClr val="1F2937"/>
                </a:solidFill>
                <a:latin typeface="Calibri"/>
              </a:rPr>
              <a:t>Calibrates a single interval width from the surrogate's residuals on held-out calibration data. Distribution-free, finite-sample coverage guarantee — but only on average across all conditions.</a:t>
            </a:r>
          </a:p>
        </p:txBody>
      </p:sp>
      <p:sp>
        <p:nvSpPr>
          <p:cNvPr id="15" name="Rectangle 14"/>
          <p:cNvSpPr/>
          <p:nvPr/>
        </p:nvSpPr>
        <p:spPr>
          <a:xfrm>
            <a:off x="7863840" y="1600200"/>
            <a:ext cx="3520440" cy="420624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63840" y="1600200"/>
            <a:ext cx="3520440" cy="6400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01000" y="1691640"/>
            <a:ext cx="3246120" cy="457200"/>
          </a:xfrm>
          <a:prstGeom prst="rect">
            <a:avLst/>
          </a:prstGeom>
          <a:noFill/>
        </p:spPr>
        <p:txBody>
          <a:bodyPr wrap="square" anchor="t" lIns="0" rIns="0" tIns="0" bIns="0">
            <a:spAutoFit/>
          </a:bodyPr>
          <a:lstStyle/>
          <a:p>
            <a:pPr algn="ctr"/>
            <a:r>
              <a:rPr sz="1600" b="1" i="0">
                <a:solidFill>
                  <a:srgbClr val="FFFFFF"/>
                </a:solidFill>
                <a:latin typeface="Calibri"/>
              </a:rPr>
              <a:t>Mondrian CP</a:t>
            </a:r>
          </a:p>
        </p:txBody>
      </p:sp>
      <p:sp>
        <p:nvSpPr>
          <p:cNvPr id="18" name="TextBox 17"/>
          <p:cNvSpPr txBox="1"/>
          <p:nvPr/>
        </p:nvSpPr>
        <p:spPr>
          <a:xfrm>
            <a:off x="8092440" y="2423160"/>
            <a:ext cx="3063240" cy="3200400"/>
          </a:xfrm>
          <a:prstGeom prst="rect">
            <a:avLst/>
          </a:prstGeom>
          <a:noFill/>
        </p:spPr>
        <p:txBody>
          <a:bodyPr wrap="square" anchor="t" lIns="0" rIns="0" tIns="0" bIns="0">
            <a:spAutoFit/>
          </a:bodyPr>
          <a:lstStyle/>
          <a:p>
            <a:pPr algn="l"/>
            <a:r>
              <a:rPr sz="1350" b="0" i="0">
                <a:solidFill>
                  <a:srgbClr val="1F2937"/>
                </a:solidFill>
                <a:latin typeface="Calibri"/>
              </a:rPr>
              <a:t>Calibrates a separate interval width per category (e.g. staffing level x arrival-rate regime) instead of one pooled value — targets conditional coverage, addressing Gap 1 directly.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515600" cy="320040"/>
          </a:xfrm>
          <a:prstGeom prst="rect">
            <a:avLst/>
          </a:prstGeom>
          <a:noFill/>
        </p:spPr>
        <p:txBody>
          <a:bodyPr wrap="square" anchor="t" lIns="0" rIns="0" tIns="0" bIns="0">
            <a:spAutoFit/>
          </a:bodyPr>
          <a:lstStyle/>
          <a:p>
            <a:pPr algn="l"/>
            <a:r>
              <a:rPr sz="1300" b="1" i="0">
                <a:solidFill>
                  <a:srgbClr val="3B82F6"/>
                </a:solidFill>
                <a:latin typeface="Calibri"/>
              </a:rPr>
              <a:t>PRELIMINARY</a:t>
            </a:r>
          </a:p>
        </p:txBody>
      </p:sp>
      <p:sp>
        <p:nvSpPr>
          <p:cNvPr id="4" name="TextBox 3"/>
          <p:cNvSpPr txBox="1"/>
          <p:nvPr/>
        </p:nvSpPr>
        <p:spPr>
          <a:xfrm>
            <a:off x="548640" y="566928"/>
            <a:ext cx="10881360" cy="640080"/>
          </a:xfrm>
          <a:prstGeom prst="rect">
            <a:avLst/>
          </a:prstGeom>
          <a:noFill/>
        </p:spPr>
        <p:txBody>
          <a:bodyPr wrap="square" anchor="t" lIns="0" rIns="0" tIns="0" bIns="0">
            <a:spAutoFit/>
          </a:bodyPr>
          <a:lstStyle/>
          <a:p>
            <a:pPr algn="l"/>
            <a:r>
              <a:rPr sz="2800" b="1" i="0">
                <a:solidFill>
                  <a:srgbClr val="1B2238"/>
                </a:solidFill>
                <a:latin typeface="Calibri"/>
              </a:rPr>
              <a:t>Results</a:t>
            </a:r>
          </a:p>
        </p:txBody>
      </p:sp>
      <p:sp>
        <p:nvSpPr>
          <p:cNvPr id="5" name="Rectangle 4"/>
          <p:cNvSpPr/>
          <p:nvPr/>
        </p:nvSpPr>
        <p:spPr>
          <a:xfrm>
            <a:off x="548640" y="1170432"/>
            <a:ext cx="1005840" cy="3810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822960" cy="320040"/>
          </a:xfrm>
          <a:prstGeom prst="rect">
            <a:avLst/>
          </a:prstGeom>
          <a:noFill/>
        </p:spPr>
        <p:txBody>
          <a:bodyPr wrap="square" anchor="t" lIns="0" rIns="0" tIns="0" bIns="0">
            <a:spAutoFit/>
          </a:bodyPr>
          <a:lstStyle/>
          <a:p>
            <a:pPr algn="r"/>
            <a:r>
              <a:rPr sz="1100" b="0" i="0">
                <a:solidFill>
                  <a:srgbClr val="6B7280"/>
                </a:solidFill>
                <a:latin typeface="Calibri"/>
              </a:rPr>
              <a:t>9 / 12</a:t>
            </a:r>
          </a:p>
        </p:txBody>
      </p:sp>
      <p:graphicFrame>
        <p:nvGraphicFramePr>
          <p:cNvPr id="7" name="Table 6"/>
          <p:cNvGraphicFramePr>
            <a:graphicFrameLocks noGrp="1"/>
          </p:cNvGraphicFramePr>
          <p:nvPr/>
        </p:nvGraphicFramePr>
        <p:xfrm>
          <a:off x="640080" y="1554480"/>
          <a:ext cx="10881360" cy="1371600"/>
        </p:xfrm>
        <a:graphic>
          <a:graphicData uri="http://schemas.openxmlformats.org/drawingml/2006/table">
            <a:tbl>
              <a:tblPr firstRow="1" bandRow="1">
                <a:tableStyleId>{5C22544A-7EE6-4342-B048-85BDC9FD1C3A}</a:tableStyleId>
              </a:tblPr>
              <a:tblGrid>
                <a:gridCol w="7772400"/>
                <a:gridCol w="3108960"/>
              </a:tblGrid>
              <a:tr h="342900">
                <a:tc>
                  <a:txBody>
                    <a:bodyPr/>
                    <a:lstStyle/>
                    <a:p>
                      <a:pPr algn="l"/>
                      <a:r>
                        <a:rPr sz="1400" b="1">
                          <a:solidFill>
                            <a:srgbClr val="FFFFFF"/>
                          </a:solidFill>
                        </a:rPr>
                        <a:t>DES Validation (200 simulated days)</a:t>
                      </a:r>
                    </a:p>
                  </a:txBody>
                  <a:tcPr anchor="ctr" marT="50800" marB="50800">
                    <a:solidFill>
                      <a:srgbClr val="1E40AF"/>
                    </a:solidFill>
                  </a:tcPr>
                </a:tc>
                <a:tc>
                  <a:txBody>
                    <a:bodyPr/>
                    <a:lstStyle/>
                    <a:p>
                      <a:pPr algn="ctr"/>
                      <a:r>
                        <a:rPr sz="1400" b="1">
                          <a:solidFill>
                            <a:srgbClr val="FFFFFF"/>
                          </a:solidFill>
                        </a:rPr>
                        <a:t>Value</a:t>
                      </a:r>
                    </a:p>
                  </a:txBody>
                  <a:tcPr anchor="ctr" marT="50800" marB="50800">
                    <a:solidFill>
                      <a:srgbClr val="1E40AF"/>
                    </a:solidFill>
                  </a:tcPr>
                </a:tc>
              </a:tr>
              <a:tr h="342900">
                <a:tc>
                  <a:txBody>
                    <a:bodyPr/>
                    <a:lstStyle/>
                    <a:p>
                      <a:pPr algn="l"/>
                      <a:r>
                        <a:rPr sz="1400">
                          <a:solidFill>
                            <a:srgbClr val="1F2937"/>
                          </a:solidFill>
                        </a:rPr>
                        <a:t>Real visits/day (Dept. A)</a:t>
                      </a:r>
                    </a:p>
                  </a:txBody>
                  <a:tcPr anchor="ctr" marT="50800" marB="50800">
                    <a:solidFill>
                      <a:srgbClr val="F8FAFC"/>
                    </a:solidFill>
                  </a:tcPr>
                </a:tc>
                <a:tc>
                  <a:txBody>
                    <a:bodyPr/>
                    <a:lstStyle/>
                    <a:p>
                      <a:pPr algn="ctr"/>
                      <a:r>
                        <a:rPr sz="1400">
                          <a:solidFill>
                            <a:srgbClr val="1F2937"/>
                          </a:solidFill>
                        </a:rPr>
                        <a:t>258.2</a:t>
                      </a:r>
                    </a:p>
                  </a:txBody>
                  <a:tcPr anchor="ctr" marT="50800" marB="50800">
                    <a:solidFill>
                      <a:srgbClr val="F8FAFC"/>
                    </a:solidFill>
                  </a:tcPr>
                </a:tc>
              </a:tr>
              <a:tr h="342900">
                <a:tc>
                  <a:txBody>
                    <a:bodyPr/>
                    <a:lstStyle/>
                    <a:p>
                      <a:pPr algn="l"/>
                      <a:r>
                        <a:rPr sz="1400">
                          <a:solidFill>
                            <a:srgbClr val="1F2937"/>
                          </a:solidFill>
                        </a:rPr>
                        <a:t>Simulated mean visits/day</a:t>
                      </a:r>
                    </a:p>
                  </a:txBody>
                  <a:tcPr anchor="ctr" marT="50800" marB="50800">
                    <a:solidFill>
                      <a:srgbClr val="FFFFFF"/>
                    </a:solidFill>
                  </a:tcPr>
                </a:tc>
                <a:tc>
                  <a:txBody>
                    <a:bodyPr/>
                    <a:lstStyle/>
                    <a:p>
                      <a:pPr algn="ctr"/>
                      <a:r>
                        <a:rPr sz="1400">
                          <a:solidFill>
                            <a:srgbClr val="1F2937"/>
                          </a:solidFill>
                        </a:rPr>
                        <a:t>235.1</a:t>
                      </a:r>
                    </a:p>
                  </a:txBody>
                  <a:tcPr anchor="ctr" marT="50800" marB="50800">
                    <a:solidFill>
                      <a:srgbClr val="FFFFFF"/>
                    </a:solidFill>
                  </a:tcPr>
                </a:tc>
              </a:tr>
              <a:tr h="342900">
                <a:tc>
                  <a:txBody>
                    <a:bodyPr/>
                    <a:lstStyle/>
                    <a:p>
                      <a:pPr algn="l"/>
                      <a:r>
                        <a:rPr sz="1400">
                          <a:solidFill>
                            <a:srgbClr val="1F2937"/>
                          </a:solidFill>
                        </a:rPr>
                        <a:t>Match to real data</a:t>
                      </a:r>
                    </a:p>
                  </a:txBody>
                  <a:tcPr anchor="ctr" marT="50800" marB="50800">
                    <a:solidFill>
                      <a:srgbClr val="F8FAFC"/>
                    </a:solidFill>
                  </a:tcPr>
                </a:tc>
                <a:tc>
                  <a:txBody>
                    <a:bodyPr/>
                    <a:lstStyle/>
                    <a:p>
                      <a:pPr algn="ctr"/>
                      <a:r>
                        <a:rPr sz="1400">
                          <a:solidFill>
                            <a:srgbClr val="1F2937"/>
                          </a:solidFill>
                        </a:rPr>
                        <a:t>91.0%</a:t>
                      </a:r>
                    </a:p>
                  </a:txBody>
                  <a:tcPr anchor="ctr" marT="50800" marB="50800">
                    <a:solidFill>
                      <a:srgbClr val="F8FAFC"/>
                    </a:solidFill>
                  </a:tcPr>
                </a:tc>
              </a:tr>
            </a:tbl>
          </a:graphicData>
        </a:graphic>
      </p:graphicFrame>
      <p:graphicFrame>
        <p:nvGraphicFramePr>
          <p:cNvPr id="8" name="Table 7"/>
          <p:cNvGraphicFramePr>
            <a:graphicFrameLocks noGrp="1"/>
          </p:cNvGraphicFramePr>
          <p:nvPr/>
        </p:nvGraphicFramePr>
        <p:xfrm>
          <a:off x="640080" y="3246120"/>
          <a:ext cx="10881360" cy="1828800"/>
        </p:xfrm>
        <a:graphic>
          <a:graphicData uri="http://schemas.openxmlformats.org/drawingml/2006/table">
            <a:tbl>
              <a:tblPr firstRow="1" bandRow="1">
                <a:tableStyleId>{5C22544A-7EE6-4342-B048-85BDC9FD1C3A}</a:tableStyleId>
              </a:tblPr>
              <a:tblGrid>
                <a:gridCol w="3566160"/>
                <a:gridCol w="2468880"/>
                <a:gridCol w="2468880"/>
                <a:gridCol w="2377440"/>
              </a:tblGrid>
              <a:tr h="365760">
                <a:tc>
                  <a:txBody>
                    <a:bodyPr/>
                    <a:lstStyle/>
                    <a:p>
                      <a:pPr algn="l"/>
                      <a:r>
                        <a:rPr sz="1300" b="1">
                          <a:solidFill>
                            <a:srgbClr val="FFFFFF"/>
                          </a:solidFill>
                        </a:rPr>
                        <a:t>Surrogate Target</a:t>
                      </a:r>
                    </a:p>
                  </a:txBody>
                  <a:tcPr anchor="ctr" marT="50800" marB="50800">
                    <a:solidFill>
                      <a:srgbClr val="1E40AF"/>
                    </a:solidFill>
                  </a:tcPr>
                </a:tc>
                <a:tc>
                  <a:txBody>
                    <a:bodyPr/>
                    <a:lstStyle/>
                    <a:p>
                      <a:pPr algn="ctr"/>
                      <a:r>
                        <a:rPr sz="1300" b="1">
                          <a:solidFill>
                            <a:srgbClr val="FFFFFF"/>
                          </a:solidFill>
                        </a:rPr>
                        <a:t>MAE</a:t>
                      </a:r>
                    </a:p>
                  </a:txBody>
                  <a:tcPr anchor="ctr" marT="50800" marB="50800">
                    <a:solidFill>
                      <a:srgbClr val="1E40AF"/>
                    </a:solidFill>
                  </a:tcPr>
                </a:tc>
                <a:tc>
                  <a:txBody>
                    <a:bodyPr/>
                    <a:lstStyle/>
                    <a:p>
                      <a:pPr algn="ctr"/>
                      <a:r>
                        <a:rPr sz="1300" b="1">
                          <a:solidFill>
                            <a:srgbClr val="FFFFFF"/>
                          </a:solidFill>
                        </a:rPr>
                        <a:t>RMSE</a:t>
                      </a:r>
                    </a:p>
                  </a:txBody>
                  <a:tcPr anchor="ctr" marT="50800" marB="50800">
                    <a:solidFill>
                      <a:srgbClr val="1E40AF"/>
                    </a:solidFill>
                  </a:tcPr>
                </a:tc>
                <a:tc>
                  <a:txBody>
                    <a:bodyPr/>
                    <a:lstStyle/>
                    <a:p>
                      <a:pPr algn="ctr"/>
                      <a:r>
                        <a:rPr sz="1300" b="1">
                          <a:solidFill>
                            <a:srgbClr val="FFFFFF"/>
                          </a:solidFill>
                        </a:rPr>
                        <a:t>R²</a:t>
                      </a:r>
                    </a:p>
                  </a:txBody>
                  <a:tcPr anchor="ctr" marT="50800" marB="50800">
                    <a:solidFill>
                      <a:srgbClr val="1E40AF"/>
                    </a:solidFill>
                  </a:tcPr>
                </a:tc>
              </a:tr>
              <a:tr h="365760">
                <a:tc>
                  <a:txBody>
                    <a:bodyPr/>
                    <a:lstStyle/>
                    <a:p>
                      <a:pPr algn="l"/>
                      <a:r>
                        <a:rPr sz="1300">
                          <a:solidFill>
                            <a:srgbClr val="1F2937"/>
                          </a:solidFill>
                        </a:rPr>
                        <a:t>n_patients</a:t>
                      </a:r>
                    </a:p>
                  </a:txBody>
                  <a:tcPr anchor="ctr" marT="50800" marB="50800">
                    <a:solidFill>
                      <a:srgbClr val="F8FAFC"/>
                    </a:solidFill>
                  </a:tcPr>
                </a:tc>
                <a:tc>
                  <a:txBody>
                    <a:bodyPr/>
                    <a:lstStyle/>
                    <a:p>
                      <a:pPr algn="ctr"/>
                      <a:r>
                        <a:rPr sz="1300">
                          <a:solidFill>
                            <a:srgbClr val="1F2937"/>
                          </a:solidFill>
                        </a:rPr>
                        <a:t>9.90</a:t>
                      </a:r>
                    </a:p>
                  </a:txBody>
                  <a:tcPr anchor="ctr" marT="50800" marB="50800">
                    <a:solidFill>
                      <a:srgbClr val="F8FAFC"/>
                    </a:solidFill>
                  </a:tcPr>
                </a:tc>
                <a:tc>
                  <a:txBody>
                    <a:bodyPr/>
                    <a:lstStyle/>
                    <a:p>
                      <a:pPr algn="ctr"/>
                      <a:r>
                        <a:rPr sz="1300">
                          <a:solidFill>
                            <a:srgbClr val="1F2937"/>
                          </a:solidFill>
                        </a:rPr>
                        <a:t>12.59</a:t>
                      </a:r>
                    </a:p>
                  </a:txBody>
                  <a:tcPr anchor="ctr" marT="50800" marB="50800">
                    <a:solidFill>
                      <a:srgbClr val="F8FAFC"/>
                    </a:solidFill>
                  </a:tcPr>
                </a:tc>
                <a:tc>
                  <a:txBody>
                    <a:bodyPr/>
                    <a:lstStyle/>
                    <a:p>
                      <a:pPr algn="ctr"/>
                      <a:r>
                        <a:rPr sz="1300">
                          <a:solidFill>
                            <a:srgbClr val="1F2937"/>
                          </a:solidFill>
                        </a:rPr>
                        <a:t>0.929</a:t>
                      </a:r>
                    </a:p>
                  </a:txBody>
                  <a:tcPr anchor="ctr" marT="50800" marB="50800">
                    <a:solidFill>
                      <a:srgbClr val="F8FAFC"/>
                    </a:solidFill>
                  </a:tcPr>
                </a:tc>
              </a:tr>
              <a:tr h="365760">
                <a:tc>
                  <a:txBody>
                    <a:bodyPr/>
                    <a:lstStyle/>
                    <a:p>
                      <a:pPr algn="l"/>
                      <a:r>
                        <a:rPr sz="1300">
                          <a:solidFill>
                            <a:srgbClr val="1F2937"/>
                          </a:solidFill>
                        </a:rPr>
                        <a:t>mean_wait_minutes</a:t>
                      </a:r>
                    </a:p>
                  </a:txBody>
                  <a:tcPr anchor="ctr" marT="50800" marB="50800">
                    <a:solidFill>
                      <a:srgbClr val="FFFFFF"/>
                    </a:solidFill>
                  </a:tcPr>
                </a:tc>
                <a:tc>
                  <a:txBody>
                    <a:bodyPr/>
                    <a:lstStyle/>
                    <a:p>
                      <a:pPr algn="ctr"/>
                      <a:r>
                        <a:rPr sz="1300">
                          <a:solidFill>
                            <a:srgbClr val="1F2937"/>
                          </a:solidFill>
                        </a:rPr>
                        <a:t>8.86</a:t>
                      </a:r>
                    </a:p>
                  </a:txBody>
                  <a:tcPr anchor="ctr" marT="50800" marB="50800">
                    <a:solidFill>
                      <a:srgbClr val="FFFFFF"/>
                    </a:solidFill>
                  </a:tcPr>
                </a:tc>
                <a:tc>
                  <a:txBody>
                    <a:bodyPr/>
                    <a:lstStyle/>
                    <a:p>
                      <a:pPr algn="ctr"/>
                      <a:r>
                        <a:rPr sz="1300">
                          <a:solidFill>
                            <a:srgbClr val="1F2937"/>
                          </a:solidFill>
                        </a:rPr>
                        <a:t>13.23</a:t>
                      </a:r>
                    </a:p>
                  </a:txBody>
                  <a:tcPr anchor="ctr" marT="50800" marB="50800">
                    <a:solidFill>
                      <a:srgbClr val="FFFFFF"/>
                    </a:solidFill>
                  </a:tcPr>
                </a:tc>
                <a:tc>
                  <a:txBody>
                    <a:bodyPr/>
                    <a:lstStyle/>
                    <a:p>
                      <a:pPr algn="ctr"/>
                      <a:r>
                        <a:rPr sz="1300">
                          <a:solidFill>
                            <a:srgbClr val="1F2937"/>
                          </a:solidFill>
                        </a:rPr>
                        <a:t>0.787</a:t>
                      </a:r>
                    </a:p>
                  </a:txBody>
                  <a:tcPr anchor="ctr" marT="50800" marB="50800">
                    <a:solidFill>
                      <a:srgbClr val="FFFFFF"/>
                    </a:solidFill>
                  </a:tcPr>
                </a:tc>
              </a:tr>
              <a:tr h="365760">
                <a:tc>
                  <a:txBody>
                    <a:bodyPr/>
                    <a:lstStyle/>
                    <a:p>
                      <a:pPr algn="l"/>
                      <a:r>
                        <a:rPr sz="1300">
                          <a:solidFill>
                            <a:srgbClr val="1F2937"/>
                          </a:solidFill>
                        </a:rPr>
                        <a:t>mean_total_minutes</a:t>
                      </a:r>
                    </a:p>
                  </a:txBody>
                  <a:tcPr anchor="ctr" marT="50800" marB="50800">
                    <a:solidFill>
                      <a:srgbClr val="F8FAFC"/>
                    </a:solidFill>
                  </a:tcPr>
                </a:tc>
                <a:tc>
                  <a:txBody>
                    <a:bodyPr/>
                    <a:lstStyle/>
                    <a:p>
                      <a:pPr algn="ctr"/>
                      <a:r>
                        <a:rPr sz="1300">
                          <a:solidFill>
                            <a:srgbClr val="1F2937"/>
                          </a:solidFill>
                        </a:rPr>
                        <a:t>9.88</a:t>
                      </a:r>
                    </a:p>
                  </a:txBody>
                  <a:tcPr anchor="ctr" marT="50800" marB="50800">
                    <a:solidFill>
                      <a:srgbClr val="F8FAFC"/>
                    </a:solidFill>
                  </a:tcPr>
                </a:tc>
                <a:tc>
                  <a:txBody>
                    <a:bodyPr/>
                    <a:lstStyle/>
                    <a:p>
                      <a:pPr algn="ctr"/>
                      <a:r>
                        <a:rPr sz="1300">
                          <a:solidFill>
                            <a:srgbClr val="1F2937"/>
                          </a:solidFill>
                        </a:rPr>
                        <a:t>13.61</a:t>
                      </a:r>
                    </a:p>
                  </a:txBody>
                  <a:tcPr anchor="ctr" marT="50800" marB="50800">
                    <a:solidFill>
                      <a:srgbClr val="F8FAFC"/>
                    </a:solidFill>
                  </a:tcPr>
                </a:tc>
                <a:tc>
                  <a:txBody>
                    <a:bodyPr/>
                    <a:lstStyle/>
                    <a:p>
                      <a:pPr algn="ctr"/>
                      <a:r>
                        <a:rPr sz="1300">
                          <a:solidFill>
                            <a:srgbClr val="1F2937"/>
                          </a:solidFill>
                        </a:rPr>
                        <a:t>0.762</a:t>
                      </a:r>
                    </a:p>
                  </a:txBody>
                  <a:tcPr anchor="ctr" marT="50800" marB="50800">
                    <a:solidFill>
                      <a:srgbClr val="F8FAFC"/>
                    </a:solidFill>
                  </a:tcPr>
                </a:tc>
              </a:tr>
              <a:tr h="365760">
                <a:tc>
                  <a:txBody>
                    <a:bodyPr/>
                    <a:lstStyle/>
                    <a:p>
                      <a:pPr algn="l"/>
                      <a:r>
                        <a:rPr sz="1300">
                          <a:solidFill>
                            <a:srgbClr val="1F2937"/>
                          </a:solidFill>
                        </a:rPr>
                        <a:t>p95_wait_minutes</a:t>
                      </a:r>
                    </a:p>
                  </a:txBody>
                  <a:tcPr anchor="ctr" marT="50800" marB="50800">
                    <a:solidFill>
                      <a:srgbClr val="FFFFFF"/>
                    </a:solidFill>
                  </a:tcPr>
                </a:tc>
                <a:tc>
                  <a:txBody>
                    <a:bodyPr/>
                    <a:lstStyle/>
                    <a:p>
                      <a:pPr algn="ctr"/>
                      <a:r>
                        <a:rPr sz="1300">
                          <a:solidFill>
                            <a:srgbClr val="1F2937"/>
                          </a:solidFill>
                        </a:rPr>
                        <a:t>66.94</a:t>
                      </a:r>
                    </a:p>
                  </a:txBody>
                  <a:tcPr anchor="ctr" marT="50800" marB="50800">
                    <a:solidFill>
                      <a:srgbClr val="FFFFFF"/>
                    </a:solidFill>
                  </a:tcPr>
                </a:tc>
                <a:tc>
                  <a:txBody>
                    <a:bodyPr/>
                    <a:lstStyle/>
                    <a:p>
                      <a:pPr algn="ctr"/>
                      <a:r>
                        <a:rPr sz="1300">
                          <a:solidFill>
                            <a:srgbClr val="1F2937"/>
                          </a:solidFill>
                        </a:rPr>
                        <a:t>102.47</a:t>
                      </a:r>
                    </a:p>
                  </a:txBody>
                  <a:tcPr anchor="ctr" marT="50800" marB="50800">
                    <a:solidFill>
                      <a:srgbClr val="FFFFFF"/>
                    </a:solidFill>
                  </a:tcPr>
                </a:tc>
                <a:tc>
                  <a:txBody>
                    <a:bodyPr/>
                    <a:lstStyle/>
                    <a:p>
                      <a:pPr algn="ctr"/>
                      <a:r>
                        <a:rPr sz="1300">
                          <a:solidFill>
                            <a:srgbClr val="1F2937"/>
                          </a:solidFill>
                        </a:rPr>
                        <a:t>0.647</a:t>
                      </a:r>
                    </a:p>
                  </a:txBody>
                  <a:tcPr anchor="ctr" marT="50800" marB="50800">
                    <a:solidFill>
                      <a:srgbClr val="FFFFFF"/>
                    </a:solidFill>
                  </a:tcPr>
                </a:tc>
              </a:tr>
            </a:tbl>
          </a:graphicData>
        </a:graphic>
      </p:graphicFrame>
      <p:sp>
        <p:nvSpPr>
          <p:cNvPr id="9" name="TextBox 8"/>
          <p:cNvSpPr txBox="1"/>
          <p:nvPr/>
        </p:nvSpPr>
        <p:spPr>
          <a:xfrm>
            <a:off x="640080" y="5349240"/>
            <a:ext cx="10881360" cy="822960"/>
          </a:xfrm>
          <a:prstGeom prst="rect">
            <a:avLst/>
          </a:prstGeom>
          <a:noFill/>
        </p:spPr>
        <p:txBody>
          <a:bodyPr wrap="square" anchor="t" lIns="0" rIns="0" tIns="0" bIns="0">
            <a:spAutoFit/>
          </a:bodyPr>
          <a:lstStyle/>
          <a:p>
            <a:pPr algn="l"/>
            <a:r>
              <a:rPr sz="1400" b="0" i="1">
                <a:solidFill>
                  <a:srgbClr val="6B7280"/>
                </a:solidFill>
                <a:latin typeface="Calibri"/>
              </a:rPr>
              <a:t>The simulation is validated against real hospital data and the surrogate model fits well on 3 of 4 targets. Full evaluation of GP baseline, standard CP, and Mondrian CP coverage is in progress.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515600" cy="320040"/>
          </a:xfrm>
          <a:prstGeom prst="rect">
            <a:avLst/>
          </a:prstGeom>
          <a:noFill/>
        </p:spPr>
        <p:txBody>
          <a:bodyPr wrap="square" anchor="t" lIns="0" rIns="0" tIns="0" bIns="0">
            <a:spAutoFit/>
          </a:bodyPr>
          <a:lstStyle/>
          <a:p>
            <a:pPr algn="l"/>
            <a:r>
              <a:rPr sz="1300" b="1" i="0">
                <a:solidFill>
                  <a:srgbClr val="3B82F6"/>
                </a:solidFill>
                <a:latin typeface="Calibri"/>
              </a:rPr>
              <a:t>SUMMARY</a:t>
            </a:r>
          </a:p>
        </p:txBody>
      </p:sp>
      <p:sp>
        <p:nvSpPr>
          <p:cNvPr id="4" name="TextBox 3"/>
          <p:cNvSpPr txBox="1"/>
          <p:nvPr/>
        </p:nvSpPr>
        <p:spPr>
          <a:xfrm>
            <a:off x="548640" y="566928"/>
            <a:ext cx="10881360" cy="640080"/>
          </a:xfrm>
          <a:prstGeom prst="rect">
            <a:avLst/>
          </a:prstGeom>
          <a:noFill/>
        </p:spPr>
        <p:txBody>
          <a:bodyPr wrap="square" anchor="t" lIns="0" rIns="0" tIns="0" bIns="0">
            <a:spAutoFit/>
          </a:bodyPr>
          <a:lstStyle/>
          <a:p>
            <a:pPr algn="l"/>
            <a:r>
              <a:rPr sz="2800" b="1" i="0">
                <a:solidFill>
                  <a:srgbClr val="1B2238"/>
                </a:solidFill>
                <a:latin typeface="Calibri"/>
              </a:rPr>
              <a:t>Conclusion</a:t>
            </a:r>
          </a:p>
        </p:txBody>
      </p:sp>
      <p:sp>
        <p:nvSpPr>
          <p:cNvPr id="5" name="Rectangle 4"/>
          <p:cNvSpPr/>
          <p:nvPr/>
        </p:nvSpPr>
        <p:spPr>
          <a:xfrm>
            <a:off x="548640" y="1170432"/>
            <a:ext cx="1005840" cy="3810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822960" cy="320040"/>
          </a:xfrm>
          <a:prstGeom prst="rect">
            <a:avLst/>
          </a:prstGeom>
          <a:noFill/>
        </p:spPr>
        <p:txBody>
          <a:bodyPr wrap="square" anchor="t" lIns="0" rIns="0" tIns="0" bIns="0">
            <a:spAutoFit/>
          </a:bodyPr>
          <a:lstStyle/>
          <a:p>
            <a:pPr algn="r"/>
            <a:r>
              <a:rPr sz="1100" b="0" i="0">
                <a:solidFill>
                  <a:srgbClr val="6B7280"/>
                </a:solidFill>
                <a:latin typeface="Calibri"/>
              </a:rPr>
              <a:t>10 / 12</a:t>
            </a:r>
          </a:p>
        </p:txBody>
      </p:sp>
      <p:sp>
        <p:nvSpPr>
          <p:cNvPr id="7" name="TextBox 6"/>
          <p:cNvSpPr txBox="1"/>
          <p:nvPr/>
        </p:nvSpPr>
        <p:spPr>
          <a:xfrm>
            <a:off x="640080" y="1600200"/>
            <a:ext cx="10881360" cy="3657600"/>
          </a:xfrm>
          <a:prstGeom prst="rect">
            <a:avLst/>
          </a:prstGeom>
          <a:noFill/>
        </p:spPr>
        <p:txBody>
          <a:bodyPr wrap="square">
            <a:spAutoFit/>
          </a:bodyPr>
          <a:lstStyle/>
          <a:p>
            <a:pPr>
              <a:spcAft>
                <a:spcPts val="1600"/>
              </a:spcAft>
            </a:pPr>
            <a:r>
              <a:rPr sz="1700">
                <a:solidFill>
                  <a:srgbClr val="1F2937"/>
                </a:solidFill>
                <a:latin typeface="Calibri"/>
              </a:rPr>
              <a:t>•  This project tests two limitations explicitly flagged by Gopakumar et al. (2026) — marginal coverage and the exchangeability assumption — in a discrete-event / queueing domain that has not been studied before in this context.</a:t>
            </a:r>
          </a:p>
          <a:p>
            <a:pPr>
              <a:spcAft>
                <a:spcPts val="1600"/>
              </a:spcAft>
            </a:pPr>
            <a:r>
              <a:rPr sz="1700">
                <a:solidFill>
                  <a:srgbClr val="1F2937"/>
                </a:solidFill>
                <a:latin typeface="Calibri"/>
              </a:rPr>
              <a:t>•  The core contribution is applying Mondrian Conformal Prediction to close the marginal-vs-conditional coverage gap, and stress-testing exchangeability with an out-of-distribution scenario, using a real hospital-calibrated ER simulation as the testbed.</a:t>
            </a:r>
          </a:p>
          <a:p>
            <a:pPr>
              <a:spcAft>
                <a:spcPts val="1600"/>
              </a:spcAft>
            </a:pPr>
            <a:r>
              <a:rPr sz="1700">
                <a:solidFill>
                  <a:srgbClr val="1F2937"/>
                </a:solidFill>
                <a:latin typeface="Calibri"/>
              </a:rPr>
              <a:t>•  Simulation and surrogate model are built and validated; uncertainty quantification methods (GP baseline, standard CP, Mondrian CP) are the focus of the next phase.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515600" cy="320040"/>
          </a:xfrm>
          <a:prstGeom prst="rect">
            <a:avLst/>
          </a:prstGeom>
          <a:noFill/>
        </p:spPr>
        <p:txBody>
          <a:bodyPr wrap="square" anchor="t" lIns="0" rIns="0" tIns="0" bIns="0">
            <a:spAutoFit/>
          </a:bodyPr>
          <a:lstStyle/>
          <a:p>
            <a:pPr algn="l"/>
            <a:r>
              <a:rPr sz="1300" b="1" i="0">
                <a:solidFill>
                  <a:srgbClr val="3B82F6"/>
                </a:solidFill>
                <a:latin typeface="Calibri"/>
              </a:rPr>
              <a:t>SOURCES</a:t>
            </a:r>
          </a:p>
        </p:txBody>
      </p:sp>
      <p:sp>
        <p:nvSpPr>
          <p:cNvPr id="4" name="TextBox 3"/>
          <p:cNvSpPr txBox="1"/>
          <p:nvPr/>
        </p:nvSpPr>
        <p:spPr>
          <a:xfrm>
            <a:off x="548640" y="566928"/>
            <a:ext cx="10881360" cy="640080"/>
          </a:xfrm>
          <a:prstGeom prst="rect">
            <a:avLst/>
          </a:prstGeom>
          <a:noFill/>
        </p:spPr>
        <p:txBody>
          <a:bodyPr wrap="square" anchor="t" lIns="0" rIns="0" tIns="0" bIns="0">
            <a:spAutoFit/>
          </a:bodyPr>
          <a:lstStyle/>
          <a:p>
            <a:pPr algn="l"/>
            <a:r>
              <a:rPr sz="2800" b="1" i="0">
                <a:solidFill>
                  <a:srgbClr val="1B2238"/>
                </a:solidFill>
                <a:latin typeface="Calibri"/>
              </a:rPr>
              <a:t>References</a:t>
            </a:r>
          </a:p>
        </p:txBody>
      </p:sp>
      <p:sp>
        <p:nvSpPr>
          <p:cNvPr id="5" name="Rectangle 4"/>
          <p:cNvSpPr/>
          <p:nvPr/>
        </p:nvSpPr>
        <p:spPr>
          <a:xfrm>
            <a:off x="548640" y="1170432"/>
            <a:ext cx="1005840" cy="3810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822960" cy="320040"/>
          </a:xfrm>
          <a:prstGeom prst="rect">
            <a:avLst/>
          </a:prstGeom>
          <a:noFill/>
        </p:spPr>
        <p:txBody>
          <a:bodyPr wrap="square" anchor="t" lIns="0" rIns="0" tIns="0" bIns="0">
            <a:spAutoFit/>
          </a:bodyPr>
          <a:lstStyle/>
          <a:p>
            <a:pPr algn="r"/>
            <a:r>
              <a:rPr sz="1100" b="0" i="0">
                <a:solidFill>
                  <a:srgbClr val="6B7280"/>
                </a:solidFill>
                <a:latin typeface="Calibri"/>
              </a:rPr>
              <a:t>11 / 12</a:t>
            </a:r>
          </a:p>
        </p:txBody>
      </p:sp>
      <p:sp>
        <p:nvSpPr>
          <p:cNvPr id="7" name="TextBox 6"/>
          <p:cNvSpPr txBox="1"/>
          <p:nvPr/>
        </p:nvSpPr>
        <p:spPr>
          <a:xfrm>
            <a:off x="640080" y="1645920"/>
            <a:ext cx="10881360" cy="2743200"/>
          </a:xfrm>
          <a:prstGeom prst="rect">
            <a:avLst/>
          </a:prstGeom>
          <a:noFill/>
        </p:spPr>
        <p:txBody>
          <a:bodyPr wrap="square">
            <a:spAutoFit/>
          </a:bodyPr>
          <a:lstStyle/>
          <a:p>
            <a:pPr>
              <a:spcAft>
                <a:spcPts val="1600"/>
              </a:spcAft>
            </a:pPr>
            <a:r>
              <a:rPr sz="1600">
                <a:solidFill>
                  <a:srgbClr val="1F2937"/>
                </a:solidFill>
                <a:latin typeface="Calibri"/>
              </a:rPr>
              <a:t>•  Gopakumar, et al. (2026). Conformal Prediction for surrogate-model uncertainty quantification in physics simulation domains (PDEs, MHD, weather, fusion). [Base paper]</a:t>
            </a:r>
          </a:p>
          <a:p>
            <a:pPr>
              <a:spcAft>
                <a:spcPts val="1600"/>
              </a:spcAft>
            </a:pPr>
            <a:r>
              <a:rPr sz="1600">
                <a:solidFill>
                  <a:srgbClr val="1F2937"/>
                </a:solidFill>
                <a:latin typeface="Calibri"/>
              </a:rPr>
              <a:t>•  Hospital Triage and Patient History Data. Kaggle (maalona) — Yale New Haven Health System, retrospective study, March 2014 – July 2017. [Real-world calibration data]</a:t>
            </a:r>
          </a:p>
        </p:txBody>
      </p:sp>
      <p:sp>
        <p:nvSpPr>
          <p:cNvPr id="8" name="Rectangle 7"/>
          <p:cNvSpPr/>
          <p:nvPr/>
        </p:nvSpPr>
        <p:spPr>
          <a:xfrm>
            <a:off x="640080" y="3657600"/>
            <a:ext cx="10881360" cy="731520"/>
          </a:xfrm>
          <a:prstGeom prst="rect">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840480"/>
            <a:ext cx="10332720" cy="365760"/>
          </a:xfrm>
          <a:prstGeom prst="rect">
            <a:avLst/>
          </a:prstGeom>
          <a:noFill/>
        </p:spPr>
        <p:txBody>
          <a:bodyPr wrap="square" anchor="t" lIns="0" rIns="0" tIns="0" bIns="0">
            <a:spAutoFit/>
          </a:bodyPr>
          <a:lstStyle/>
          <a:p>
            <a:pPr algn="l"/>
            <a:r>
              <a:rPr sz="1300" b="0" i="1">
                <a:solidFill>
                  <a:srgbClr val="D97706"/>
                </a:solidFill>
                <a:latin typeface="Calibri"/>
              </a:rPr>
              <a:t>Full reference list (30 papers target) pending completion of the literature review.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9320"/>
            <a:ext cx="12191695" cy="109728"/>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743200"/>
            <a:ext cx="10332720" cy="914400"/>
          </a:xfrm>
          <a:prstGeom prst="rect">
            <a:avLst/>
          </a:prstGeom>
          <a:noFill/>
        </p:spPr>
        <p:txBody>
          <a:bodyPr wrap="square" anchor="t" lIns="0" rIns="0" tIns="0" bIns="0">
            <a:spAutoFit/>
          </a:bodyPr>
          <a:lstStyle/>
          <a:p>
            <a:pPr algn="ctr"/>
            <a:r>
              <a:rPr sz="4400" b="1" i="0">
                <a:solidFill>
                  <a:srgbClr val="FFFFFF"/>
                </a:solidFill>
                <a:latin typeface="Calibri"/>
              </a:rPr>
              <a:t>Thank You</a:t>
            </a:r>
          </a:p>
        </p:txBody>
      </p:sp>
      <p:sp>
        <p:nvSpPr>
          <p:cNvPr id="5" name="TextBox 4"/>
          <p:cNvSpPr txBox="1"/>
          <p:nvPr/>
        </p:nvSpPr>
        <p:spPr>
          <a:xfrm>
            <a:off x="914400" y="3657600"/>
            <a:ext cx="10332720" cy="457200"/>
          </a:xfrm>
          <a:prstGeom prst="rect">
            <a:avLst/>
          </a:prstGeom>
          <a:noFill/>
        </p:spPr>
        <p:txBody>
          <a:bodyPr wrap="square" anchor="t" lIns="0" rIns="0" tIns="0" bIns="0">
            <a:spAutoFit/>
          </a:bodyPr>
          <a:lstStyle/>
          <a:p>
            <a:pPr algn="ctr"/>
            <a:r>
              <a:rPr sz="1800" b="0" i="1">
                <a:solidFill>
                  <a:srgbClr val="93C5FD"/>
                </a:solidFill>
                <a:latin typeface="Calibri"/>
              </a:rPr>
              <a:t>Questions?</a:t>
            </a:r>
          </a:p>
        </p:txBody>
      </p:sp>
      <p:sp>
        <p:nvSpPr>
          <p:cNvPr id="6" name="TextBox 5"/>
          <p:cNvSpPr txBox="1"/>
          <p:nvPr/>
        </p:nvSpPr>
        <p:spPr>
          <a:xfrm>
            <a:off x="11155680" y="6446520"/>
            <a:ext cx="822960" cy="320040"/>
          </a:xfrm>
          <a:prstGeom prst="rect">
            <a:avLst/>
          </a:prstGeom>
          <a:noFill/>
        </p:spPr>
        <p:txBody>
          <a:bodyPr wrap="square" anchor="t" lIns="0" rIns="0" tIns="0" bIns="0">
            <a:spAutoFit/>
          </a:bodyPr>
          <a:lstStyle/>
          <a:p>
            <a:pPr algn="r"/>
            <a:r>
              <a:rPr sz="1100" b="0" i="0">
                <a:solidFill>
                  <a:srgbClr val="93C5FD"/>
                </a:solidFill>
                <a:latin typeface="Calibri"/>
              </a:rP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